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3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451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4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Under 18</c:v>
                  </c:pt>
                  <c:pt idx="1">
                    <c:v>18–25</c:v>
                  </c:pt>
                  <c:pt idx="2">
                    <c:v>26–35</c:v>
                  </c:pt>
                  <c:pt idx="3">
                    <c:v>Above 35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46</c:v>
                </c:pt>
                <c:pt idx="2">
                  <c:v>28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24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C4E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C5C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451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4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Phone Case</c:v>
                  </c:pt>
                  <c:pt idx="1">
                    <c:v>Charger</c:v>
                  </c:pt>
                  <c:pt idx="2">
                    <c:v>Earbuds</c:v>
                  </c:pt>
                  <c:pt idx="3">
                    <c:v>Screen Protector</c:v>
                  </c:pt>
                  <c:pt idx="4">
                    <c:v>Power Bank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22</c:v>
                </c:pt>
                <c:pt idx="2">
                  <c:v>18</c:v>
                </c:pt>
                <c:pt idx="3">
                  <c:v>17</c:v>
                </c:pt>
                <c:pt idx="4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24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C4E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C5C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451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7246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Facebook Ads</c:v>
                  </c:pt>
                  <c:pt idx="1">
                    <c:v>Instagram Ads</c:v>
                  </c:pt>
                  <c:pt idx="2">
                    <c:v>Flyers</c:v>
                  </c:pt>
                  <c:pt idx="3">
                    <c:v>Store Banner</c:v>
                  </c:pt>
                  <c:pt idx="4">
                    <c:v>Promotions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20000</c:v>
                </c:pt>
                <c:pt idx="1">
                  <c:v>15000</c:v>
                </c:pt>
                <c:pt idx="2">
                  <c:v>8000</c:v>
                </c:pt>
                <c:pt idx="3">
                  <c:v>12000</c:v>
                </c:pt>
                <c:pt idx="4">
                  <c:v>25000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7246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9C4EE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C5CA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1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Slide-13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Slide-22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965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STARTUP PROJECT · PUFP LEVEL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212848"/>
            <a:ext cx="1082009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D&amp;A Gadgets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685800" y="34564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business plan for a mobile accessories store in Karachi, Pakistan.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4251960"/>
            <a:ext cx="10820095" cy="0"/>
          </a:xfrm>
          <a:prstGeom prst="line">
            <a:avLst/>
          </a:prstGeom>
          <a:noFill/>
          <a:ln w="12700">
            <a:solidFill>
              <a:srgbClr val="D7DE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34840"/>
            <a:ext cx="252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68172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Salahuddin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90824" y="4434840"/>
            <a:ext cx="252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SUBMITTED BY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90824" y="468172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 · Afnan · Danial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5848" y="4434840"/>
            <a:ext cx="252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95848" y="468172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Startup · Economics · Statistics · Business Mathematics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800871" y="4434840"/>
            <a:ext cx="2522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/ DATE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00871" y="4681728"/>
            <a:ext cx="2522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PUFP Level 5 — 15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17759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26334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26517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&amp; Opportunity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9260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idea, the market, the mission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3–9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3200400"/>
            <a:ext cx="10820095" cy="0"/>
          </a:xfrm>
          <a:prstGeom prst="line">
            <a:avLst/>
          </a:prstGeom>
          <a:noFill/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2552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63040" y="32735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Market Analysis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54787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PESTLE, survey data, demand &amp; supply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75320" y="3364992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10–17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" y="3822192"/>
            <a:ext cx="10820095" cy="0"/>
          </a:xfrm>
          <a:prstGeom prst="line">
            <a:avLst/>
          </a:prstGeom>
          <a:noFill/>
          <a:ln w="12700">
            <a:solidFill>
              <a:srgbClr val="D7D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7705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463040" y="389534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Marketing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169664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Line-up, persona, mix, budget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75320" y="3986784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18–22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" y="4443984"/>
            <a:ext cx="10820095" cy="0"/>
          </a:xfrm>
          <a:prstGeom prst="line">
            <a:avLst/>
          </a:prstGeom>
          <a:noFill/>
          <a:ln w="12700">
            <a:solidFill>
              <a:srgbClr val="D7DE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988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1463040" y="451713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463040" y="4791456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chain, team, feasibility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275320" y="4608576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23–25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" y="5065776"/>
            <a:ext cx="10820095" cy="0"/>
          </a:xfrm>
          <a:prstGeom prst="line">
            <a:avLst/>
          </a:prstGeom>
          <a:noFill/>
          <a:ln w="12700">
            <a:solidFill>
              <a:srgbClr val="D7DE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51206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9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1463040" y="51389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 &amp; Outlook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63040" y="54132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Costs, break-even, financing, verdict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75320" y="5230368"/>
            <a:ext cx="3230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Slides 26–30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90865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CH.01 · EXECUTIVE 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Genuine accessories, honest prices, one store.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25420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 Gadgets is a retail store for smartphone accessories in Karachi — cases, chargers, earbuds, power banks and more — for every major brand, under one roof.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410712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for Samsung, Apple, Xiaomi, Oppo, Vivo, Realme, Infinix, Tecno &amp; Google Pixel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genuine stock, fair pricing and real customer service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Pakistan's steady growth in smartphone ownership and accessory turnover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63972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CH.01 · TARGET 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We're Building For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16–45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smartphone-owning years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9554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2434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42434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42434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to small businesses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33309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6189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Mid–Upper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16189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tier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16189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&amp; upper-middle class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096512"/>
            <a:ext cx="98389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096512"/>
            <a:ext cx="983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779422" y="4096512"/>
            <a:ext cx="1433779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79422" y="4096512"/>
            <a:ext cx="1433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Office Workers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22930" y="4096512"/>
            <a:ext cx="203362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2930" y="4096512"/>
            <a:ext cx="2033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Professionals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66283" y="4096512"/>
            <a:ext cx="833933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66283" y="4096512"/>
            <a:ext cx="8339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Gamers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9944" y="4096512"/>
            <a:ext cx="98389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9944" y="4096512"/>
            <a:ext cx="983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Families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503566" y="4096512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3566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Online Shoppers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122054" y="4096512"/>
            <a:ext cx="1583741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22054" y="4096512"/>
            <a:ext cx="15837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Small Businesses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7079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CH.02 · BUSINESS OVERVIEW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&amp; Mission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816352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017520"/>
            <a:ext cx="471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1832" y="3383280"/>
            <a:ext cx="471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become one of the most trusted, customer-friendly mobile accessories stores in Karachi.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8728" y="2816352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4760" y="3017520"/>
            <a:ext cx="471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4760" y="3383280"/>
            <a:ext cx="4715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affordable, genuine accessories with reliable products, fair prices and a pleasant shopping experience.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10186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CH.02 · OBJECTIVES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We're Headed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679192"/>
            <a:ext cx="5227168" cy="2423160"/>
          </a:xfrm>
          <a:prstGeom prst="roundRect">
            <a:avLst>
              <a:gd name="adj" fmla="val 226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2880360"/>
            <a:ext cx="471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SHORT-TERM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1832" y="3227832"/>
            <a:ext cx="4715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first store in Karachi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brand awareness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PKR 2M monthly sales in Year 1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 strong social media presence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high customer satisfaction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2679192"/>
            <a:ext cx="5227168" cy="2423160"/>
          </a:xfrm>
          <a:prstGeom prst="roundRect">
            <a:avLst>
              <a:gd name="adj" fmla="val 226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4760" y="2880360"/>
            <a:ext cx="471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LONG-TERM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4760" y="3227832"/>
            <a:ext cx="4715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branches in major cities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an online store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loyalty program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recognised national brand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wholesale distribution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3292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CH.02–03 · THE PROBLEM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Karachi's accessory market has a trust gap.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254203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are now essential — but genuine accessories at fair prices are surprisingly hard to find.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410712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stores sell low-quality accessories that fail fast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 charge high prices for the same generic stock</a:t>
            </a:r>
            <a:endParaRPr lang="en-US" sz="13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—"/>
            </a:pPr>
            <a:r>
              <a:rPr lang="en-US" sz="13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complaints: poor quality, high prices, limited variety, no warranty, poor service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56399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CH.03 · IDEA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Landed on This Idea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BRAINSTORMING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6968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 coffee shop, clothing brand, cosmetics store and tuition academy against mobile accessories — accessories won on demand vs. investment.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41116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2284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 MAPPING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42284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products, customers, suppliers, pricing and operations to scope the business.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6432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7600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97600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visits to Karachi's mobile markets confirmed steady demand and quality-conscious shoppers.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51747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2915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 POINTS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52915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quality, high prices, limited variety, no warranty, poor service — the gaps we're built to close.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29506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CH.03 · VALUE PROPOSITION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and Service, Under One Roof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254203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sell cheap. We sell genuine — at a competitive price, backed by real service.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3108960"/>
            <a:ext cx="1583741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108960"/>
            <a:ext cx="15837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 products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79269" y="3108960"/>
            <a:ext cx="173370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9269" y="310896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prices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22699" y="3108960"/>
            <a:ext cx="188366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2699" y="310896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Wide accessory range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6091" y="3108960"/>
            <a:ext cx="1808683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6091" y="3108960"/>
            <a:ext cx="18086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Knowledgeable staff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4502" y="3108960"/>
            <a:ext cx="210860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4502" y="3108960"/>
            <a:ext cx="21086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Attractive store layout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3566160"/>
            <a:ext cx="2033626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566160"/>
            <a:ext cx="2033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Strong social presence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29154" y="3566160"/>
            <a:ext cx="2333549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29154" y="3566160"/>
            <a:ext cx="23335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Warranty on selected items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2613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CH.04 · ENVIRONMENTAL SCAN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PESTLE Analysis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3472586" cy="1645920"/>
          </a:xfrm>
          <a:prstGeom prst="roundRect">
            <a:avLst>
              <a:gd name="adj" fmla="val 333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2688336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POLITICAL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6968" y="2999232"/>
            <a:ext cx="30702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support for SMEs and digital payments; import-policy shifts remain a watch-item.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59554" y="2542032"/>
            <a:ext cx="3472586" cy="1645920"/>
          </a:xfrm>
          <a:prstGeom prst="roundRect">
            <a:avLst>
              <a:gd name="adj" fmla="val 333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60722" y="2688336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ECONOMIC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60722" y="2999232"/>
            <a:ext cx="30702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stock is exposed to exchange-rate swings — but accessories stay a near-essential purchase.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33309" y="2542032"/>
            <a:ext cx="3472586" cy="1645920"/>
          </a:xfrm>
          <a:prstGeom prst="roundRect">
            <a:avLst>
              <a:gd name="adj" fmla="val 333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34477" y="2688336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34477" y="2999232"/>
            <a:ext cx="30702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now run education, work and social life — accessory demand follows closely.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5800" y="4389120"/>
            <a:ext cx="3472586" cy="1645920"/>
          </a:xfrm>
          <a:prstGeom prst="roundRect">
            <a:avLst>
              <a:gd name="adj" fmla="val 333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6968" y="4535424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TECHNOLOGICAL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" y="4846320"/>
            <a:ext cx="30702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phones every year force constant refreshes of cases, cables and chargers.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59554" y="4389120"/>
            <a:ext cx="3472586" cy="1645920"/>
          </a:xfrm>
          <a:prstGeom prst="roundRect">
            <a:avLst>
              <a:gd name="adj" fmla="val 333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60722" y="4535424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LEGAL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60722" y="4846320"/>
            <a:ext cx="30702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tax, consumer-protection and warranty compliance build customer trust.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33309" y="4389120"/>
            <a:ext cx="3472586" cy="1645920"/>
          </a:xfrm>
          <a:prstGeom prst="roundRect">
            <a:avLst>
              <a:gd name="adj" fmla="val 333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34477" y="4535424"/>
            <a:ext cx="30702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ENVIRONMENTAL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34477" y="4846320"/>
            <a:ext cx="30702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plastic packaging, reusable bags, and recycling damaged accessories where possible.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75719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CH.05 · MARKET RESEARCH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Gathered the Evidence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Karachi, ages 16–45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9554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2434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42434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42434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survey + secondary reports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33309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6189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Convenience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16189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method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16189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in-market approach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" y="589788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data: structured questionnaire, 100 respondents. Secondary data: Pakistan Bureau of Statistics and industry reports.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48826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CH.06 · SURVEY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Answered the Survey</a:t>
            </a:r>
            <a:endParaRPr lang="en-US" sz="3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85800" y="2542032"/>
          <a:ext cx="1082009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5"/>
          <p:cNvSpPr/>
          <p:nvPr/>
        </p:nvSpPr>
        <p:spPr>
          <a:xfrm>
            <a:off x="685800" y="5971032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split: 61% male, 39% female — of 100 respondents.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1933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CH.06 · SURVEY RESULTS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They Buy Most</a:t>
            </a:r>
            <a:endParaRPr lang="en-US" sz="3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85800" y="2542032"/>
          <a:ext cx="1082009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Text 15"/>
          <p:cNvSpPr/>
          <p:nvPr/>
        </p:nvSpPr>
        <p:spPr>
          <a:xfrm>
            <a:off x="685800" y="5971032"/>
            <a:ext cx="108200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frequency: 40% monthly, 33% every 3 months, 19% every 6 months, 8% once a year.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95040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CH.06 · STATISTICAL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Say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≈ 14.4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deviation, age groups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spread across 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41116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3996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+0.78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3996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× frequency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23996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6432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312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79312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P(buys a phone case)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79312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most-purchased category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51747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4627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34627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P(monthly purchaser)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134627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repeat-purchase rate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68146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CH.07 · MARKET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Demand, Supply &amp; Equilibrium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42032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3606698"/>
                <a:gridCol w="360669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PRICE (PKR)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QTY DEMANDED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QTY SUPPLIED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310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1,400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260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F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1,600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F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F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1,800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180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270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2,000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330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85800" y="555955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Equilibrium: PKR 1,600 at 220 units — where demand meets supply.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1253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CH.08 · INDUSTRY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Crowded, Competitive Market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2542032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 Gadgets competes under monopolistic competition — many sellers, similar products, differentiated on brand, price and service.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3319272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3502152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3544" y="3886200"/>
            <a:ext cx="188366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388620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Mobile Markets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916936" y="3886200"/>
            <a:ext cx="75895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16936" y="3886200"/>
            <a:ext cx="75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Daraz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85616" y="3886200"/>
            <a:ext cx="98389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3886200"/>
            <a:ext cx="983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PriceOye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3544" y="4343400"/>
            <a:ext cx="135879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434340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 Outlets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92070" y="4343400"/>
            <a:ext cx="165872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92070" y="4343400"/>
            <a:ext cx="1658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 Shops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278728" y="3319272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6472" y="3502152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EDGE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516472" y="3886200"/>
            <a:ext cx="1583741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6472" y="3886200"/>
            <a:ext cx="15837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Genuine Products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209940" y="3886200"/>
            <a:ext cx="173370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09940" y="3886200"/>
            <a:ext cx="17337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Prices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16472" y="4343400"/>
            <a:ext cx="135879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6472" y="434340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Modern Design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984998" y="4343400"/>
            <a:ext cx="1583741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84998" y="4343400"/>
            <a:ext cx="158374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Friendly Service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78467" y="4343400"/>
            <a:ext cx="98389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78467" y="4343400"/>
            <a:ext cx="983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Warranty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516472" y="4800600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6472" y="48006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Social Presence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MARKET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14360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CH.08 · ECONOMIC FOOTPRINT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Beyond the Storefront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created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launch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9554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2434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42434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under inflation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42434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stay near-essential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33309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6189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16189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tax contribution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16189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Karachi's retail economy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MARKETING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87466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CH.09 · PRODUCT LINE-UP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a Smartphone Needs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 &amp; PROTECTION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6968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cases, tempered &amp; privacy glass, camera lens protectors.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41116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2284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&amp; CHARGING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42284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Fast/wireless chargers, USB-C, Lightning &amp; Micro-USB cables, power banks.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6432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7600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97600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earphones, wireless earbuds, gaming earbuds, Bluetooth speakers.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51747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2915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WEARABLES &amp; EXTRAS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52915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watches, mobile holders, car chargers, memory cards, selfie sticks.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MARKETING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573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CH.10 · CUSTOMER PERSONA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Ahmed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679192"/>
            <a:ext cx="10820095" cy="2468880"/>
          </a:xfrm>
          <a:prstGeom prst="roundRect">
            <a:avLst>
              <a:gd name="adj" fmla="val 296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044952"/>
            <a:ext cx="914400" cy="914400"/>
          </a:xfrm>
          <a:prstGeom prst="ellipse">
            <a:avLst/>
          </a:prstGeom>
          <a:solidFill>
            <a:srgbClr val="121F86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0449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331720" y="3026664"/>
            <a:ext cx="8808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Ahmed Khan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331720" y="3547872"/>
            <a:ext cx="8808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yrs     University Student     PKR 45,000 / 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3941064"/>
            <a:ext cx="8808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500"/>
              </a:spcAft>
              <a:buSzPct val="100000"/>
              <a:buChar char="—"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products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—"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quality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—"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charging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Char char="—"/>
            </a:pPr>
            <a:r>
              <a:rPr lang="en-US" sz="12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Trendy phone cases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31720" y="4645152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products online, then buys in-store.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MARKETING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33680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CH.10 · MARKETING MIX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4 Ps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6968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mobile accessories from trusted suppliers.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41116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42284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42284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pricing with occasional promotional offers.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6432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7600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97600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retail store in Karachi, plus social-media sales.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51747" y="2542032"/>
            <a:ext cx="2554148" cy="1783080"/>
          </a:xfrm>
          <a:prstGeom prst="roundRect">
            <a:avLst>
              <a:gd name="adj" fmla="val 3077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2915" y="2688336"/>
            <a:ext cx="21518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52915" y="2999232"/>
            <a:ext cx="21518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TikTok, WhatsApp, flyers, banners, launch event.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MARKETING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6787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CH.10 · GO-TO-MARKET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Loud, Stay Visible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2542032"/>
            <a:ext cx="10820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Grand-opening week: 20% discount, free screen protector with select cases, and a lucky draw for spends over PKR 5,000.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5800" y="3319272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" y="3502152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3544" y="3886200"/>
            <a:ext cx="98389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544" y="3886200"/>
            <a:ext cx="9838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Facebook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7166" y="3886200"/>
            <a:ext cx="1058875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7166" y="3886200"/>
            <a:ext cx="1058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Instagram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85770" y="3886200"/>
            <a:ext cx="833933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5770" y="3886200"/>
            <a:ext cx="8339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TikTok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23544" y="4343400"/>
            <a:ext cx="165872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" y="4343400"/>
            <a:ext cx="1658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 Business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78728" y="3319272"/>
            <a:ext cx="5227168" cy="1691640"/>
          </a:xfrm>
          <a:prstGeom prst="roundRect">
            <a:avLst>
              <a:gd name="adj" fmla="val 3243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16472" y="3502152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RUNNING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16472" y="3886200"/>
            <a:ext cx="833933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6472" y="3886200"/>
            <a:ext cx="83393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Flyers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60132" y="3886200"/>
            <a:ext cx="135879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60132" y="3886200"/>
            <a:ext cx="1358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Banners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928659" y="3886200"/>
            <a:ext cx="165872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28659" y="3886200"/>
            <a:ext cx="1658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Discounts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516472" y="4343400"/>
            <a:ext cx="128381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6472" y="4343400"/>
            <a:ext cx="12838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 Event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&amp; MARKETING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79893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CH.10 · MARKETING BUDGET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80,000 Per Month</a:t>
            </a:r>
            <a:endParaRPr lang="en-US" sz="3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85800" y="2542032"/>
          <a:ext cx="10820095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53000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CH.11 · OPERATIONS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Supplier to Sale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322783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256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302620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688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Suppliers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28768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655132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6200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Inventory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1280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07644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8712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&amp; Inspect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33792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60156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1224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Stock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086304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12668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13736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38815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065179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66247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791327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07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417691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18759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0143839" y="28437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08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770203" y="3168396"/>
            <a:ext cx="118872" cy="1188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45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71271" y="3374136"/>
            <a:ext cx="13167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After-Sales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26107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CH.12 ·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8-Person Team at Launch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5181448" y="263347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AF0FE"/>
          </a:solidFill>
          <a:ln w="15875">
            <a:solidFill>
              <a:srgbClr val="2451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81448" y="2633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/ CEO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81448" y="3410712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81448" y="34107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95848" y="3867912"/>
            <a:ext cx="0" cy="36576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50112" y="423367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95832" y="42336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Executive ×2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88640" y="423367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4360" y="42336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Officer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27168" y="423367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2888" y="42336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65696" y="423367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1416" y="42336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 Rep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04224" y="4233672"/>
            <a:ext cx="1737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9944" y="42336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" y="5056632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salary expense: PKR 320,000.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99214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CH.13 · FEASIBILITY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Feasible on Every Front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42032"/>
          <a:ext cx="65836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29184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AREA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Market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Highly Feasible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Technical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Feasible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Feasible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Financial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Highly Feasible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635240" y="2542032"/>
            <a:ext cx="3870655" cy="1005840"/>
          </a:xfrm>
          <a:prstGeom prst="roundRect">
            <a:avLst>
              <a:gd name="adj" fmla="val 5455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2670048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818120" y="31089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every 6 months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35240" y="3712464"/>
            <a:ext cx="3870655" cy="1005840"/>
          </a:xfrm>
          <a:prstGeom prst="roundRect">
            <a:avLst>
              <a:gd name="adj" fmla="val 5455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18120" y="3840480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818120" y="4279392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quality over price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635240" y="4882896"/>
            <a:ext cx="3870655" cy="1005840"/>
          </a:xfrm>
          <a:prstGeom prst="roundRect">
            <a:avLst>
              <a:gd name="adj" fmla="val 5455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818120" y="5010912"/>
            <a:ext cx="3504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≈122.5%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818120" y="5449824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ROI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&amp; OUTLOOK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72320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CH.14 · COST ANALYSIS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4.8M to Launch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4.8M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investment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fit-out, inventory &amp; reserve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359554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2434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590K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42434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costs / month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42434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rent, salaries, utilities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33309" y="2542032"/>
            <a:ext cx="3472586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6189" y="2688336"/>
            <a:ext cx="31068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670K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16189" y="3163824"/>
            <a:ext cx="3106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costs / month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16189" y="3438144"/>
            <a:ext cx="3106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packaging, delivery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" y="4096512"/>
            <a:ext cx="1433779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096512"/>
            <a:ext cx="1433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2.3M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29307" y="4096512"/>
            <a:ext cx="1658722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29307" y="4096512"/>
            <a:ext cx="16587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Shop Deposit 900K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997757" y="4096512"/>
            <a:ext cx="150876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97757" y="40965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Renovation 500K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16245" y="4096512"/>
            <a:ext cx="1433779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16245" y="4096512"/>
            <a:ext cx="1433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Furniture 350K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59752" y="4096512"/>
            <a:ext cx="1433779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9752" y="4096512"/>
            <a:ext cx="14337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Marketing 200K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&amp; OUTLOOK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45427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CH.15 · BREAK-EVEN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490 Customers to Break Even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1,205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/ customer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68680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61.8% margin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41116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3996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3996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customers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23996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96432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79312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956K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79312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sales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79312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51747" y="2542032"/>
            <a:ext cx="2554148" cy="1234440"/>
          </a:xfrm>
          <a:prstGeom prst="roundRect">
            <a:avLst>
              <a:gd name="adj" fmla="val 444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34627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134627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customers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134627" y="3438144"/>
            <a:ext cx="2188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— well above break-even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&amp; OUTLOOK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18534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CH.16 · FINANCING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60/40 — Owner Capital &amp; Bank Loan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42032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2705024"/>
                <a:gridCol w="2705024"/>
                <a:gridCol w="2705024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BANK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TENURE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A93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TOTAL REPAYMENT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F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Bank A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F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F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yrs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21F8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PKR 2,600,000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Bank B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yrs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PKR 2,720,000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Bank 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14%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 yrs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46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PKR 2,840,000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64592" marR="164592" marT="54864" marB="54864" anchor="ctr">
                    <a:lnL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685800" y="4645152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split: 60% owner investment + 40% bank financing — minimizes debt, keeps ownership intact.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&amp; OUTLOOK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91640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CH.19 · FINDINGS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Learned, What We'll Do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679192"/>
            <a:ext cx="5227168" cy="2423160"/>
          </a:xfrm>
          <a:prstGeom prst="roundRect">
            <a:avLst>
              <a:gd name="adj" fmla="val 226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2880360"/>
            <a:ext cx="471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FINDINGS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41832" y="3227832"/>
            <a:ext cx="4715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of respondents buy accessories regularly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rate quality above low prices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Chargers, earbuds &amp; power banks lead demand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 year-olds are the core customer group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2679192"/>
            <a:ext cx="5227168" cy="2423160"/>
          </a:xfrm>
          <a:prstGeom prst="roundRect">
            <a:avLst>
              <a:gd name="adj" fmla="val 2264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4760" y="2880360"/>
            <a:ext cx="471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RECOMMENDATIONS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4760" y="3227832"/>
            <a:ext cx="47151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only genuine, trusted-supplier stock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into gaming &amp; smart-home accessories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digital marketing spend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loyalty &amp; rewards program</a:t>
            </a:r>
            <a:endParaRPr lang="en-US" sz="1150" dirty="0"/>
          </a:p>
          <a:p>
            <a:pPr marL="228600" indent="-228600">
              <a:lnSpc>
                <a:spcPct val="120000"/>
              </a:lnSpc>
              <a:spcAft>
                <a:spcPts val="800"/>
              </a:spcAft>
              <a:buSzPct val="100000"/>
              <a:buChar char="—"/>
            </a:pPr>
            <a:r>
              <a:rPr lang="en-US" sz="1150" dirty="0">
                <a:solidFill>
                  <a:srgbClr val="4C5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new phone launches to update stock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121F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D&amp;A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60120" y="384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A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D&amp;A GADGETS  —  BUSINESS PLAN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275320" y="365760"/>
            <a:ext cx="23317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245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75320" y="36576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 &amp; OUTLOOK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744200" y="365760"/>
            <a:ext cx="82296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44200" y="36576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30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6565392"/>
            <a:ext cx="10820095" cy="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829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7187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2053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02546" y="6519672"/>
            <a:ext cx="0" cy="91440"/>
          </a:xfrm>
          <a:prstGeom prst="line">
            <a:avLst/>
          </a:prstGeom>
          <a:noFill/>
          <a:ln w="12700">
            <a:solidFill>
              <a:srgbClr val="B9C4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64747" y="6524244"/>
            <a:ext cx="82296" cy="82296"/>
          </a:xfrm>
          <a:prstGeom prst="ellipse">
            <a:avLst/>
          </a:prstGeom>
          <a:solidFill>
            <a:srgbClr val="245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117043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2451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CH.20 · CONCLUSION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" y="1426464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this startup is built to succeed.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85800" y="2542032"/>
            <a:ext cx="2554148" cy="1005840"/>
          </a:xfrm>
          <a:prstGeom prst="roundRect">
            <a:avLst>
              <a:gd name="adj" fmla="val 5455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4.8M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68680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41116" y="2542032"/>
            <a:ext cx="2554148" cy="1005840"/>
          </a:xfrm>
          <a:prstGeom prst="roundRect">
            <a:avLst>
              <a:gd name="adj" fmla="val 5455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23996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 490K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623996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96432" y="2542032"/>
            <a:ext cx="2554148" cy="1005840"/>
          </a:xfrm>
          <a:prstGeom prst="roundRect">
            <a:avLst>
              <a:gd name="adj" fmla="val 5455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9312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79312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recover investment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51747" y="2542032"/>
            <a:ext cx="2554148" cy="1005840"/>
          </a:xfrm>
          <a:prstGeom prst="roundRect">
            <a:avLst>
              <a:gd name="adj" fmla="val 5455"/>
            </a:avLst>
          </a:prstGeom>
          <a:solidFill>
            <a:srgbClr val="F6F8FE"/>
          </a:solidFill>
          <a:ln w="12700">
            <a:solidFill>
              <a:srgbClr val="D7DE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4627" y="2688336"/>
            <a:ext cx="21883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≈122.5%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34627" y="3163824"/>
            <a:ext cx="218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5800" y="3803904"/>
            <a:ext cx="6949440" cy="402336"/>
          </a:xfrm>
          <a:prstGeom prst="roundRect">
            <a:avLst>
              <a:gd name="adj" fmla="val 11364"/>
            </a:avLst>
          </a:prstGeom>
          <a:solidFill>
            <a:srgbClr val="EA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" y="3803904"/>
            <a:ext cx="6620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1F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Feasible across market, technical, operational &amp; financial tests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" y="4480560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724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“Quality Accessories. Smart Prices. Trusted Service.”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85800" y="5102352"/>
            <a:ext cx="10820095" cy="0"/>
          </a:xfrm>
          <a:prstGeom prst="line">
            <a:avLst/>
          </a:prstGeom>
          <a:noFill/>
          <a:ln w="12700">
            <a:solidFill>
              <a:srgbClr val="D7DE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5285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48840" y="5285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Afnan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11880" y="5285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5C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Danial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p159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D&amp;A Gadgets — Business Plan</dc:title>
  <dc:subject>PptxGenJS Presentation</dc:subject>
  <dc:creator>Ayan, Afnan, Danial</dc:creator>
  <cp:lastModifiedBy>Ayan, Afnan, Danial</cp:lastModifiedBy>
  <cp:revision>1</cp:revision>
  <dcterms:created xsi:type="dcterms:W3CDTF">2026-08-28T15:16:42Z</dcterms:created>
  <dcterms:modified xsi:type="dcterms:W3CDTF">2026-08-28T15:16:42Z</dcterms:modified>
</cp:coreProperties>
</file>