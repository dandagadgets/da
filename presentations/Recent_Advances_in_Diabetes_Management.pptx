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ba28b6-4c9d-484e-c2d5-5827b5b270ec}">
          <p14:sldIdLst>
            <p14:sldId id="256"/>
            <p14:sldId id="257"/>
            <p14:sldId id="258"/>
          </p14:sldIdLst>
        </p14:section>
        <p14:section name="Pharmacotherapy" id="{8ed9f9b8-734e-1188-bc92-2d69748b567d}">
          <p14:sldIdLst>
            <p14:sldId id="259"/>
            <p14:sldId id="260"/>
            <p14:sldId id="261"/>
            <p14:sldId id="262"/>
            <p14:sldId id="263"/>
            <p14:sldId id="264"/>
            <p14:sldId id="265"/>
          </p14:sldIdLst>
        </p14:section>
        <p14:section name="Technology" id="{913fbea2-6588-b841-7237-26f4d25c980f}">
          <p14:sldIdLst>
            <p14:sldId id="266"/>
            <p14:sldId id="267"/>
            <p14:sldId id="268"/>
            <p14:sldId id="269"/>
          </p14:sldIdLst>
        </p14:section>
        <p14:section name="Beyond drugs" id="{2e4f5dcd-8228-2846-78aa-5a8c94a6cbf8}">
          <p14:sldIdLst>
            <p14:sldId id="270"/>
            <p14:sldId id="271"/>
            <p14:sldId id="272"/>
            <p14:sldId id="273"/>
            <p14:sldId id="274"/>
          </p14:sldIdLst>
        </p14:section>
        <p14:section name="Summary" id="{444313a8-e1c7-311c-7fd9-3236d2eca813}">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Relative risk reduction in primary endpoint</a:t>
            </a:r>
          </a:p>
        </c:rich>
      </c:tx>
      <c:layout/>
      <c:overlay val="0"/>
    </c:title>
    <c:autoTitleDeleted val="0"/>
    <c:plotArea>
      <c:layout/>
      <c:barChart>
        <c:barDir val="bar"/>
        <c:grouping val="clustered"/>
        <c:varyColors val="0"/>
        <c:ser>
          <c:idx val="0"/>
          <c:order val="0"/>
          <c:tx>
            <c:strRef>
              <c:f>Sheet1!$B$1</c:f>
              <c:strCache>
                <c:ptCount val="1"/>
                <c:pt idx="0">
                  <c:v>RRR</c:v>
                </c:pt>
              </c:strCache>
            </c:strRef>
          </c:tx>
          <c:spPr>
            <a:solidFill>
              <a:srgbClr val="E4572E"/>
            </a:solidFill>
            <a:effectLst/>
          </c:spPr>
          <c:invertIfNegative val="0"/>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E4572E"/>
              </a:solidFill>
              <a:effectLst/>
            </c:spPr>
          </c:dPt>
          <c:dPt>
            <c:idx val="2"/>
            <c:invertIfNegative val="0"/>
            <c:bubble3D val="0"/>
            <c:spPr>
              <a:solidFill>
                <a:srgbClr val="E4572E"/>
              </a:solidFill>
              <a:effectLst/>
            </c:spPr>
          </c:dPt>
          <c:dPt>
            <c:idx val="3"/>
            <c:invertIfNegative val="0"/>
            <c:bubble3D val="0"/>
            <c:spPr>
              <a:solidFill>
                <a:srgbClr val="1F78B4"/>
              </a:solidFill>
              <a:effectLst/>
            </c:spPr>
          </c:dPt>
          <c:dPt>
            <c:idx val="4"/>
            <c:invertIfNegative val="0"/>
            <c:bubble3D val="0"/>
            <c:spPr>
              <a:solidFill>
                <a:srgbClr val="1F78B4"/>
              </a:solidFill>
              <a:effectLst/>
            </c:spPr>
          </c:dPt>
          <c:dPt>
            <c:idx val="5"/>
            <c:invertIfNegative val="0"/>
            <c:bubble3D val="0"/>
            <c:spPr>
              <a:solidFill>
                <a:srgbClr val="1F78B4"/>
              </a:solidFill>
              <a:effectLst/>
            </c:spPr>
          </c:dPt>
          <c:cat>
            <c:multiLvlStrRef>
              <c:f>Sheet1!$A$2:$A$7</c:f>
              <c:multiLvlStrCache>
                <c:ptCount val="6"/>
                <c:lvl>
                  <c:pt idx="0">
                    <c:v>EMPA-REG: 3-point MACE</c:v>
                  </c:pt>
                  <c:pt idx="1">
                    <c:v>DAPA-HF: worsening HF / CV death</c:v>
                  </c:pt>
                  <c:pt idx="2">
                    <c:v>EMPEROR-Preserved: HF (HFpEF)</c:v>
                  </c:pt>
                  <c:pt idx="3">
                    <c:v>CREDENCE: kidney composite</c:v>
                  </c:pt>
                  <c:pt idx="4">
                    <c:v>DAPA-CKD: kidney composite</c:v>
                  </c:pt>
                  <c:pt idx="5">
                    <c:v>EMPA-KIDNEY: kidney progression</c:v>
                  </c:pt>
                </c:lvl>
              </c:multiLvlStrCache>
            </c:multiLvlStrRef>
          </c:cat>
          <c:val>
            <c:numRef>
              <c:f>Sheet1!$B$2:$B$7</c:f>
              <c:numCache>
                <c:formatCode>General</c:formatCode>
                <c:ptCount val="6"/>
                <c:pt idx="0">
                  <c:v>14</c:v>
                </c:pt>
                <c:pt idx="1">
                  <c:v>26</c:v>
                </c:pt>
                <c:pt idx="2">
                  <c:v>21</c:v>
                </c:pt>
                <c:pt idx="3">
                  <c:v>30</c:v>
                </c:pt>
                <c:pt idx="4">
                  <c:v>39</c:v>
                </c:pt>
                <c:pt idx="5">
                  <c:v>28</c:v>
                </c:pt>
              </c:numCache>
            </c:numRef>
          </c:val>
        </c:ser>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Relative risk reduction in primary endpoint</a:t>
            </a:r>
          </a:p>
        </c:rich>
      </c:tx>
      <c:layout/>
      <c:overlay val="0"/>
    </c:title>
    <c:autoTitleDeleted val="0"/>
    <c:plotArea>
      <c:layout/>
      <c:barChart>
        <c:barDir val="bar"/>
        <c:grouping val="clustered"/>
        <c:varyColors val="0"/>
        <c:ser>
          <c:idx val="0"/>
          <c:order val="0"/>
          <c:tx>
            <c:strRef>
              <c:f>Sheet1!$B$1</c:f>
              <c:strCache>
                <c:ptCount val="1"/>
                <c:pt idx="0">
                  <c:v>RRR</c:v>
                </c:pt>
              </c:strCache>
            </c:strRef>
          </c:tx>
          <c:spPr>
            <a:solidFill>
              <a:srgbClr val="17A398"/>
            </a:solidFill>
            <a:effectLst/>
          </c:spPr>
          <c:invertIfNegative val="0"/>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7A398"/>
              </a:solidFill>
              <a:effectLst/>
            </c:spPr>
          </c:dPt>
          <c:dPt>
            <c:idx val="1"/>
            <c:invertIfNegative val="0"/>
            <c:bubble3D val="0"/>
            <c:spPr>
              <a:solidFill>
                <a:srgbClr val="17A398"/>
              </a:solidFill>
              <a:effectLst/>
            </c:spPr>
          </c:dPt>
          <c:dPt>
            <c:idx val="2"/>
            <c:invertIfNegative val="0"/>
            <c:bubble3D val="0"/>
            <c:spPr>
              <a:solidFill>
                <a:srgbClr val="17A398"/>
              </a:solidFill>
              <a:effectLst/>
            </c:spPr>
          </c:dPt>
          <c:dPt>
            <c:idx val="3"/>
            <c:invertIfNegative val="0"/>
            <c:bubble3D val="0"/>
            <c:spPr>
              <a:solidFill>
                <a:srgbClr val="17A398"/>
              </a:solidFill>
              <a:effectLst/>
            </c:spPr>
          </c:dPt>
          <c:dPt>
            <c:idx val="4"/>
            <c:invertIfNegative val="0"/>
            <c:bubble3D val="0"/>
            <c:spPr>
              <a:solidFill>
                <a:srgbClr val="1F78B4"/>
              </a:solidFill>
              <a:effectLst/>
            </c:spPr>
          </c:dPt>
          <c:dPt>
            <c:idx val="5"/>
            <c:invertIfNegative val="0"/>
            <c:bubble3D val="0"/>
            <c:spPr>
              <a:solidFill>
                <a:srgbClr val="17A398"/>
              </a:solidFill>
              <a:effectLst/>
            </c:spPr>
          </c:dPt>
          <c:cat>
            <c:multiLvlStrRef>
              <c:f>Sheet1!$A$2:$A$7</c:f>
              <c:multiLvlStrCache>
                <c:ptCount val="6"/>
                <c:lvl>
                  <c:pt idx="0">
                    <c:v>LEADER: liraglutide, MACE</c:v>
                  </c:pt>
                  <c:pt idx="1">
                    <c:v>SUSTAIN-6: semaglutide, MACE</c:v>
                  </c:pt>
                  <c:pt idx="2">
                    <c:v>REWIND: dulaglutide, MACE</c:v>
                  </c:pt>
                  <c:pt idx="3">
                    <c:v>SOUL: oral semaglutide, MACE</c:v>
                  </c:pt>
                  <c:pt idx="4">
                    <c:v>FLOW: semaglutide, kidney</c:v>
                  </c:pt>
                  <c:pt idx="5">
                    <c:v>SELECT: semaglutide, MACE (no diabetes)</c:v>
                  </c:pt>
                </c:lvl>
              </c:multiLvlStrCache>
            </c:multiLvlStrRef>
          </c:cat>
          <c:val>
            <c:numRef>
              <c:f>Sheet1!$B$2:$B$7</c:f>
              <c:numCache>
                <c:formatCode>General</c:formatCode>
                <c:ptCount val="6"/>
                <c:pt idx="0">
                  <c:v>13</c:v>
                </c:pt>
                <c:pt idx="1">
                  <c:v>26</c:v>
                </c:pt>
                <c:pt idx="2">
                  <c:v>12</c:v>
                </c:pt>
                <c:pt idx="3">
                  <c:v>14</c:v>
                </c:pt>
                <c:pt idx="4">
                  <c:v>24</c:v>
                </c:pt>
                <c:pt idx="5">
                  <c:v>20</c:v>
                </c:pt>
              </c:numCache>
            </c:numRef>
          </c:val>
        </c:ser>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The last decade has changed diabetes care more than the previous fifty years. In 25 minutes I will cover four areas: the new treatment paradigm, new medicines, diabetes technology, and advances beyond drugs such as remission and comorbidity care. Throughout, I will relate these to the ADA Standards of Care, the ADA/EASD consensus, IDF and WHO, and to the foundations taught in Davidson's and Kumar &amp; Clark's. Timing guide: about 1 to 1.5 minutes per slide, with 3 to 4 minutes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shift. We used to treat a number: HbA1c, escalating drugs only after failure and accepting weight gain and hypoglycaemia. Today, following the 2022 ADA/EASD consensus and the annual ADA Standards, we choose drugs to protect the heart and kidneys regardless of HbA1c, treat weight as a primary target, combine therapies early, measure glucose continuously, and for some people aim for remission. Davidson and Kumar &amp; Clark describe the classic stepwise approach; the newer guidance builds on that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2022 ADA/EASD consensus, reflected in the ADA Standards, organises treatment around four goals. First, person-centred care and education. Second, cardiorenal protection: if a patient has atherosclerotic disease, heart failure or CKD, add an SGLT2 inhibitor or GLP-1 receptor agonist with proven benefit, whatever the HbA1c and whether or not they take metformin. Third, weight management, with targets of 5 to 15 percent or more. Fourth, glycaemic control with individualised targets. Metformin is no longer obligatory first line when a cardiorenal indication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new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SGLT2 inhibitors began as glucose-lowering drugs and became cardiorenal drugs. EMPA-REG OUTCOME showed a 14 percent MACE reduction and a 38 percent fall in cardiovascular death. Heart failure trials such as DAPA-HF and EMPEROR-Preserved reduced HF events across the ejection-fraction spectrum, even without diabetes. The kidney trials, CREDENCE, DAPA-CKD and EMPA-KIDNEY, cut kidney progression by around 30 to 40 percent. ADA and KDIGO recommend starting at eGFR 20 or above and continuing until dialysis. In 2023 WHO added SGLT2 inhibitors to its Essential Medicines List, an important step for access in our region. Counsel on genital mycotic infection and euglycaemic ketoacidosis, with sick-day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GLP-1 receptor agonists have consistent cardiovascular benefit: LEADER, SUSTAIN-6 and REWIND showed 12 to 26 percent reductions in major adverse cardiovascular events, and SOUL in 2025 confirmed benefit for oral semaglutide. FLOW was the first dedicated kidney-outcome trial of a GLP-1 RA, with a 24 percent reduction in major kidney events. SELECT showed a 20 percent MACE reduction in people with obesity and CVD but without diabetes, showing that weight-related benefit extends beyond glucose. In 2025 WHO added GLP-1 receptor agonists to its Essential Medicines List. Main issues: GI side effects, cost and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Tirzepatide, a dual GIP and GLP-1 agonist, outperformed semaglutide 1 mg in SURPASS-2: HbA1c down 2.3 percent and weight down 11 kg at the top dose. SURPASS-CVOT in 2025 showed non-inferiority to dulaglutide for MACE, with 16 percent lower all-cause mortality. The pipeline is moving fast: retatrutide, a triple agonist, produced about 24 percent weight loss in phase 2; CagriSema combines amylin and GLP-1 agonism; and orforglipron is a small-molecule oral GLP-1 agonist that could transform access because it needs no injection or cold chain. Check local approval status before presenting, as this changes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diabetic kidney disease, care now rests on four pillars, endorsed by KDIGO and ADA. One, RAS blockade. Two, an SGLT2 inhibitor. Three, finerenone, a non-steroidal mineralocorticoid receptor antagonist, for persistent albuminuria: the pooled FIDELITY analysis showed 23 percent fewer kidney and 14 percent fewer cardiovascular events. Four, a GLP-1 receptor agonist, supported by FLOW. The 2025 CONFIDENCE trial showed that starting finerenone and empagliflozin together lowered albuminuria by about half, more than either alone. Watch potassium with finerenone. Kumar &amp; Clark and Davidson stress annual UACR and eGFR screening, which identifies who needs these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Insulin is a century old but still evolving. Once-weekly basal insulins, icodec in the ONWARDS programme and efsitora in QWINT, gave glucose control comparable to or better than daily basal insulin in type 2 diabetes with just 52 injections a year, which could help insulin acceptance; in type 1 diabetes hypoglycaemia was higher, so caution there. Ultra-rapid insulins better match meals. Fixed-ratio combinations with GLP-1 RAs limit weight gain. Davidson and Kumar &amp; Clark remind us that insulin technique, injection-site rotation and hypoglycaemia education remain essential whatever the molecule.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1 diabetes is moving from insulin replacement towards disease modification. Teplizumab, an anti-CD3 antibody, delays clinical onset by about two to three years in people with stage 2 disease. Baricitinib, a JAK inhibitor, and verapamil preserved residual insulin secretion in new-onset disease. And islet replacement is advancing: donor islets were approved in the US in 2023, and in 2025 stem-cell-derived islets made 10 of 12 recipients insulin-independent at one year, although immunosuppression is still needed. These are early but genuinely new directions, beyond what our textbooks currently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diabetes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glucose monitoring has given us new targets. The international consensus on time in range, endorsed by ADA and EASD, recommends more than 70 percent of readings between 3.9 and 10 mmol/L, less than 4 percent below 3.9 and less than 1 percent below 3.0, with less stringent targets for older or high-risk people and tighter ones in pregnancy. Each 10 percent increase in time in range corresponds to roughly a 0.8 percent fall in HbA1c. ADA now recommends CGM for anyone on insulin and suggests it in type 2 diabetes on other therapies. The standardised AGP report makes clinic review faster and more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insulin delivery links a CGM sensor and an insulin pump through an algorithm that adjusts insulin every few minutes. Trials consistently add 10 to 15 percentage points of time in range, roughly two and a half to three and a half extra hours a day in target, with less hypoglycaemia and better sleep. ADA recommends offering AID to everyone with type 1 diabetes who can use it, and NICE approved hybrid closed loop in 2023. The AiDAPT trial showed benefit in pregnancy, and in 2024 the first system was cleared in the US for insulin-treated type 2 diabetes. These are hybrid systems: users still announce meals.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tools extend specialist care. Autonomous AI retinal screening, FDA-cleared since 2018, can detect referable retinopathy in primary care, which matters where ophthalmologists are scarce. Telemedicine and remote CGM review became mainstream after COVID. Connected insulin pens record dose and timing, addressing missed doses. Decision-support algorithms can titrate insulin and prioritise high-risk patients, but they must be validated and equitable. WHO's digital health strategy supports these tools for low-resource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advances beyond drugs.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Remission is one of the most hopeful messages of recent years, and Davidson's covers it. The 2021 ADA/EASD consensus defines remission as HbA1c below 6.5 percent at least three months after stopping glucose-lowering drugs. In DiRECT, a primary-care diet-replacement programme, 46 percent were in remission at one year and 36 percent at two; among those who lost 15 kg or more, 86 percent achieved remission. Weight loss clears fat from liver and pancreas and lets beta cells recover. Success is most likely early in the disease. Stress that remission is not cure: screening for complications must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Metabolic surgery is now a recognised diabetes treatment, not only an obesity operation. ADA, the Diabetes Surgery Summit and the 2022 ASMBS/IFSO statement recommend surgery at BMI 35 or above and consider it from BMI 30 when glucose is uncontrolled, with thresholds 2.5 units lower for Asians. In STAMPEDE, 29 percent of bypass patients had HbA1c of 6 percent or less at five years versus 5 percent on medical therapy. The new incretin drugs now offer an alternative for some, but the two approaches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diabetes care manages the comorbidities that drive outcomes. For fatty liver disease, now called MASLD, ADA recommends FIB-4 screening and favours GLP-1 RAs, tirzepatide or pioglitazone for MASH; resmetirom and semaglutide are now approved in the US for fibrosing MASH. For heart failure, screen with natriuretic peptides and use SGLT2 inhibitors; finerenone also helps in HFpEF. Obesity is treated as a chronic disease, and the 2025 Lancet Commission introduced the idea of clinical obesity. And do not forget depression, diabetes distress, sleep apnoea and frailty: in older adults the advance is often deprescribing.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tools do not replace the fundamentals. Targets are individualised: under 7 percent for most adults, tighter if safe, looser for older and frail people; NICE uses 48 mmol/mol for lifestyle or a single drug without hypoglycaemia risk and 53 otherwise. Hypoglycaemia must be avoided. Davidson and Kumar &amp; Clark emphasise structured education such as DAFNE and DESMOND, annual review of eyes, feet and kidneys, sick-day rules, and multifactorial risk control. Steno-2 showed that treating glucose, blood pressure and lipids together halves cardiovascular events. The best advance is still applying what we already know,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and IDF bring the global lens. WHO added SGLT2 inhibitors to its Essential Medicines List in 2023 and GLP-1 receptor agonists and tirzepatide in 2025. In 2025 IDF formally recognised type 5 diabetes, the malnutrition-related form seen in lean young people in low-income settings. The Global Diabetes Compact sets 2030 targets. But the access gap is real: most people with diabetes cannot afford the newest drugs or devices, and WHO's 2018 guidance still recommends sulfonylureas and human insulin where newer drugs are unavailable. Patent expiries, generics and biosimilars may change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guidelines for reference. All agree on choosing drugs for cardiorenal benefit and on weight as a target. WHO, writing for low-resource settings, is more conservative on drugs but is catching up through the Essential Medicines List. UK practice, reflected in Davidson and Kumar &amp; Clark through NICE, remains metformin-first with early SGLT2 inhibitors for cardiovascular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messages to take away. Treat the person, not just the HbA1c. Use SGLT2 inhibitors and GLP-1 receptor agonists early in people with cardiovascular, heart-failure or kidney disease. Incretin therapies make major weight loss and even remission realistic. CGM and automated insulin delivery are now standard care. And none of this works without the fundamentals and fair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Please check the latest ADA Standards and local drug approvals before presenting, as this field changes every few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2" type="title" hasCustomPrompt="1"/>
          </p:nvPr>
        </p:nvSpPr>
        <p:spPr>
          <a:xfrm>
            <a:off x="731520" y="1737360"/>
            <a:ext cx="73152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3" type="body" hasCustomPrompt="1"/>
          </p:nvPr>
        </p:nvSpPr>
        <p:spPr>
          <a:xfrm>
            <a:off x="731520" y="3703320"/>
            <a:ext cx="69494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4" type="body" hasCustomPrompt="1"/>
          </p:nvPr>
        </p:nvSpPr>
        <p:spPr>
          <a:xfrm>
            <a:off x="731520" y="5120640"/>
            <a:ext cx="6949440" cy="8229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lstStyle>
            <a:lvl1pPr algn="l" indent="0" marL="0">
              <a:buNone/>
              <a:defRPr lang="en-US" sz="1800" b="1" dirty="0">
                <a:solidFill>
                  <a:schemeClr val="accent3"/>
                </a:solidFill>
              </a:defRPr>
            </a:lvl1pPr>
          </a:lstStyle>
          <a:p>
            <a:pPr algn="l" indent="0" marL="0">
              <a:buNone/>
            </a:pP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749808" y="6391656"/>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Recent Advances in Diabetes Management</a:t>
            </a:r>
            <a:endParaRPr lang="en-US" sz="1000" dirty="0"/>
          </a:p>
        </p:txBody>
      </p:sp>
      <p:sp>
        <p:nvSpPr>
          <p:cNvPr id="3" name="Text 1"/>
          <p:cNvSpPr/>
          <p:nvPr>
            <p:ph idx="102" type="title" hasCustomPrompt="1"/>
          </p:nvPr>
        </p:nvSpPr>
        <p:spPr>
          <a:xfrm>
            <a:off x="548640" y="27432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731520" y="1737360"/>
            <a:ext cx="7315200" cy="1828800"/>
          </a:xfrm>
          <a:prstGeom prst="rect">
            <a:avLst/>
          </a:prstGeom>
          <a:noFill/>
          <a:ln/>
        </p:spPr>
        <p:txBody>
          <a:bodyPr wrap="square" rtlCol="0" anchor="b"/>
          <a:lstStyle/>
          <a:p>
            <a:pPr algn="l" indent="0" marL="0">
              <a:buNone/>
            </a:pPr>
            <a:r>
              <a:rPr lang="en-US" sz="4400" b="1" dirty="0">
                <a:solidFill>
                  <a:schemeClr val="bg1"/>
                </a:solidFill>
              </a:rPr>
              <a:t>Recent Advances in the Management of Diabetes</a:t>
            </a:r>
            <a:endParaRPr lang="en-US" sz="4400" dirty="0"/>
          </a:p>
        </p:txBody>
      </p:sp>
      <p:sp>
        <p:nvSpPr>
          <p:cNvPr id="3" name="Text 0"/>
          <p:cNvSpPr/>
          <p:nvPr>
            <p:ph idx="103" type="body" hasCustomPrompt="1"/>
          </p:nvPr>
        </p:nvSpPr>
        <p:spPr>
          <a:xfrm>
            <a:off x="731520" y="3703320"/>
            <a:ext cx="6949440" cy="914400"/>
          </a:xfrm>
          <a:prstGeom prst="rect">
            <a:avLst/>
          </a:prstGeom>
          <a:noFill/>
          <a:ln/>
        </p:spPr>
        <p:txBody>
          <a:bodyPr wrap="square" rtlCol="0" anchor="t"/>
          <a:lstStyle/>
          <a:p>
            <a:pPr algn="l" indent="0" marL="0">
              <a:buNone/>
            </a:pPr>
            <a:r>
              <a:rPr lang="en-US" sz="2000" dirty="0">
                <a:solidFill>
                  <a:schemeClr val="bg2"/>
                </a:solidFill>
              </a:rPr>
              <a:t>From glucose control to organ protection: ADA, EASD, IDF and WHO, with Davidson's and Kumar &amp; Clark's perspectives</a:t>
            </a:r>
            <a:endParaRPr lang="en-US" sz="2000" dirty="0"/>
          </a:p>
        </p:txBody>
      </p:sp>
      <p:sp>
        <p:nvSpPr>
          <p:cNvPr id="4" name="Text 0"/>
          <p:cNvSpPr/>
          <p:nvPr>
            <p:ph idx="104" type="body" hasCustomPrompt="1"/>
          </p:nvPr>
        </p:nvSpPr>
        <p:spPr>
          <a:xfrm>
            <a:off x="731520" y="5120640"/>
            <a:ext cx="6949440" cy="822960"/>
          </a:xfrm>
          <a:prstGeom prst="rect">
            <a:avLst/>
          </a:prstGeom>
          <a:noFill/>
          <a:ln/>
        </p:spPr>
        <p:txBody>
          <a:bodyPr wrap="square" rtlCol="0" anchor="t"/>
          <a:lstStyle/>
          <a:p>
            <a:pPr algn="l" indent="0" marL="0">
              <a:buNone/>
            </a:pPr>
            <a:r>
              <a:rPr lang="en-US" sz="1400" dirty="0">
                <a:solidFill>
                  <a:schemeClr val="bg2"/>
                </a:solidFill>
              </a:rPr>
              <a:t>Symposium presentation  ·  25 minutes</a:t>
            </a:r>
            <a:endParaRPr lang="en-US" sz="1400" dirty="0"/>
          </a:p>
          <a:p>
            <a:pPr algn="l" indent="0" marL="0">
              <a:buNone/>
            </a:pPr>
            <a:r>
              <a:rPr lang="en-US" sz="1400" dirty="0">
                <a:solidFill>
                  <a:schemeClr val="bg2"/>
                </a:solidFill>
              </a:rPr>
              <a:t>[Presenter name, designation, institution]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paradigm has shifted</a:t>
            </a:r>
            <a:endParaRPr lang="en-US" sz="3400" dirty="0"/>
          </a:p>
        </p:txBody>
      </p:sp>
      <p:sp>
        <p:nvSpPr>
          <p:cNvPr id="3" name="card-1"/>
          <p:cNvSpPr/>
          <p:nvPr/>
        </p:nvSpPr>
        <p:spPr>
          <a:xfrm>
            <a:off x="548640" y="1371600"/>
            <a:ext cx="5090008" cy="4572000"/>
          </a:xfrm>
          <a:prstGeom prst="roundRect">
            <a:avLst>
              <a:gd name="adj" fmla="val 2400"/>
            </a:avLst>
          </a:prstGeom>
          <a:solidFill>
            <a:schemeClr val="bg2"/>
          </a:solidFill>
          <a:ln/>
        </p:spPr>
      </p:sp>
      <p:sp>
        <p:nvSpPr>
          <p:cNvPr id="4" name="text-2"/>
          <p:cNvSpPr txBox="1"/>
          <p:nvPr/>
        </p:nvSpPr>
        <p:spPr>
          <a:xfrm>
            <a:off x="868680" y="1554480"/>
            <a:ext cx="4449928" cy="457200"/>
          </a:xfrm>
          <a:prstGeom prst="rect">
            <a:avLst/>
          </a:prstGeom>
          <a:noFill/>
          <a:ln/>
        </p:spPr>
        <p:txBody>
          <a:bodyPr wrap="square" lIns="0" tIns="0" rIns="0" bIns="0" rtlCol="0" anchor="t"/>
          <a:lstStyle/>
          <a:p>
            <a:pPr indent="0" marL="0">
              <a:buNone/>
            </a:pPr>
            <a:r>
              <a:rPr lang="en-US" sz="2000" b="1" dirty="0">
                <a:solidFill>
                  <a:schemeClr val="accent5"/>
                </a:solidFill>
              </a:rPr>
              <a:t>Then: glucocentric</a:t>
            </a:r>
            <a:endParaRPr lang="en-US" sz="2000" dirty="0"/>
          </a:p>
        </p:txBody>
      </p:sp>
      <p:sp>
        <p:nvSpPr>
          <p:cNvPr id="5" name="text-3"/>
          <p:cNvSpPr txBox="1"/>
          <p:nvPr/>
        </p:nvSpPr>
        <p:spPr>
          <a:xfrm>
            <a:off x="868680" y="2148840"/>
            <a:ext cx="4449928" cy="365760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tx1"/>
                </a:solidFill>
              </a:rPr>
              <a:t>Lower HbA1c, mainly with metformin, sulfonylureas and insulin</a:t>
            </a:r>
            <a:endParaRPr lang="en-US" sz="1400" dirty="0"/>
          </a:p>
          <a:p>
            <a:pPr marL="177800" indent="-177800">
              <a:spcAft>
                <a:spcPts val="1000"/>
              </a:spcAft>
              <a:buSzPct val="100000"/>
              <a:buChar char="•"/>
            </a:pPr>
            <a:r>
              <a:rPr lang="en-US" sz="1600" dirty="0">
                <a:solidFill>
                  <a:schemeClr val="tx1"/>
                </a:solidFill>
              </a:rPr>
              <a:t>Stepwise escalation after treatment failure</a:t>
            </a:r>
            <a:endParaRPr lang="en-US" sz="1400" dirty="0"/>
          </a:p>
          <a:p>
            <a:pPr marL="177800" indent="-177800">
              <a:spcAft>
                <a:spcPts val="1000"/>
              </a:spcAft>
              <a:buSzPct val="100000"/>
              <a:buChar char="•"/>
            </a:pPr>
            <a:r>
              <a:rPr lang="en-US" sz="1600" dirty="0">
                <a:solidFill>
                  <a:schemeClr val="tx1"/>
                </a:solidFill>
              </a:rPr>
              <a:t>Weight gain and hypoglycaemia accepted as side effects</a:t>
            </a:r>
            <a:endParaRPr lang="en-US" sz="1400" dirty="0"/>
          </a:p>
          <a:p>
            <a:pPr marL="177800" indent="-177800">
              <a:spcAft>
                <a:spcPts val="1000"/>
              </a:spcAft>
              <a:buSzPct val="100000"/>
              <a:buChar char="•"/>
            </a:pPr>
            <a:r>
              <a:rPr lang="en-US" sz="1600" dirty="0">
                <a:solidFill>
                  <a:schemeClr val="tx1"/>
                </a:solidFill>
              </a:rPr>
              <a:t>Finger-prick glucose and clinic HbA1c</a:t>
            </a:r>
            <a:endParaRPr lang="en-US" sz="1400" dirty="0"/>
          </a:p>
          <a:p>
            <a:pPr marL="177800" indent="-177800">
              <a:spcAft>
                <a:spcPts val="1000"/>
              </a:spcAft>
              <a:buSzPct val="100000"/>
              <a:buChar char="•"/>
            </a:pPr>
            <a:r>
              <a:rPr lang="en-US" sz="1600" dirty="0">
                <a:solidFill>
                  <a:schemeClr val="tx1"/>
                </a:solidFill>
              </a:rPr>
              <a:t>Diabetes viewed as progressive and lifelong</a:t>
            </a:r>
            <a:endParaRPr lang="en-US" sz="1400" dirty="0"/>
          </a:p>
        </p:txBody>
      </p:sp>
      <p:sp>
        <p:nvSpPr>
          <p:cNvPr id="6" name="arrow-4"/>
          <p:cNvSpPr/>
          <p:nvPr/>
        </p:nvSpPr>
        <p:spPr>
          <a:xfrm>
            <a:off x="5821528" y="3429000"/>
            <a:ext cx="548640" cy="548640"/>
          </a:xfrm>
          <a:prstGeom prst="rightArrow">
            <a:avLst/>
          </a:prstGeom>
          <a:solidFill>
            <a:schemeClr val="accent1"/>
          </a:solidFill>
          <a:ln/>
        </p:spPr>
      </p:sp>
      <p:sp>
        <p:nvSpPr>
          <p:cNvPr id="7" name="card-5"/>
          <p:cNvSpPr/>
          <p:nvPr/>
        </p:nvSpPr>
        <p:spPr>
          <a:xfrm>
            <a:off x="6553048" y="1371600"/>
            <a:ext cx="5090008" cy="4572000"/>
          </a:xfrm>
          <a:prstGeom prst="roundRect">
            <a:avLst>
              <a:gd name="adj" fmla="val 2400"/>
            </a:avLst>
          </a:prstGeom>
          <a:solidFill>
            <a:schemeClr val="tx1"/>
          </a:solidFill>
          <a:ln/>
        </p:spPr>
      </p:sp>
      <p:sp>
        <p:nvSpPr>
          <p:cNvPr id="8" name="text-6"/>
          <p:cNvSpPr txBox="1"/>
          <p:nvPr/>
        </p:nvSpPr>
        <p:spPr>
          <a:xfrm>
            <a:off x="6873088" y="1554480"/>
            <a:ext cx="4449928" cy="457200"/>
          </a:xfrm>
          <a:prstGeom prst="rect">
            <a:avLst/>
          </a:prstGeom>
          <a:noFill/>
          <a:ln/>
        </p:spPr>
        <p:txBody>
          <a:bodyPr wrap="square" lIns="0" tIns="0" rIns="0" bIns="0" rtlCol="0" anchor="t"/>
          <a:lstStyle/>
          <a:p>
            <a:pPr indent="0" marL="0">
              <a:buNone/>
            </a:pPr>
            <a:r>
              <a:rPr lang="en-US" sz="2000" b="1" dirty="0">
                <a:solidFill>
                  <a:schemeClr val="accent3"/>
                </a:solidFill>
              </a:rPr>
              <a:t>Now: person- and organ-centred</a:t>
            </a:r>
            <a:endParaRPr lang="en-US" sz="2000" dirty="0"/>
          </a:p>
        </p:txBody>
      </p:sp>
      <p:sp>
        <p:nvSpPr>
          <p:cNvPr id="9" name="text-7"/>
          <p:cNvSpPr txBox="1"/>
          <p:nvPr/>
        </p:nvSpPr>
        <p:spPr>
          <a:xfrm>
            <a:off x="6873088" y="2148840"/>
            <a:ext cx="4449928" cy="365760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bg1"/>
                </a:solidFill>
              </a:rPr>
              <a:t>Protect heart and kidneys with SGLT2i / GLP-1 RA, independent of HbA1c</a:t>
            </a:r>
            <a:endParaRPr lang="en-US" sz="1400" dirty="0"/>
          </a:p>
          <a:p>
            <a:pPr marL="177800" indent="-177800">
              <a:spcAft>
                <a:spcPts val="1000"/>
              </a:spcAft>
              <a:buSzPct val="100000"/>
              <a:buChar char="•"/>
            </a:pPr>
            <a:r>
              <a:rPr lang="en-US" sz="1600" dirty="0">
                <a:solidFill>
                  <a:schemeClr val="bg1"/>
                </a:solidFill>
              </a:rPr>
              <a:t>Weight management as a primary treatment target</a:t>
            </a:r>
            <a:endParaRPr lang="en-US" sz="1400" dirty="0"/>
          </a:p>
          <a:p>
            <a:pPr marL="177800" indent="-177800">
              <a:spcAft>
                <a:spcPts val="1000"/>
              </a:spcAft>
              <a:buSzPct val="100000"/>
              <a:buChar char="•"/>
            </a:pPr>
            <a:r>
              <a:rPr lang="en-US" sz="1600" dirty="0">
                <a:solidFill>
                  <a:schemeClr val="bg1"/>
                </a:solidFill>
              </a:rPr>
              <a:t>Early combination therapy; avoid hypoglycaemia</a:t>
            </a:r>
            <a:endParaRPr lang="en-US" sz="1400" dirty="0"/>
          </a:p>
          <a:p>
            <a:pPr marL="177800" indent="-177800">
              <a:spcAft>
                <a:spcPts val="1000"/>
              </a:spcAft>
              <a:buSzPct val="100000"/>
              <a:buChar char="•"/>
            </a:pPr>
            <a:r>
              <a:rPr lang="en-US" sz="1600" dirty="0">
                <a:solidFill>
                  <a:schemeClr val="bg1"/>
                </a:solidFill>
              </a:rPr>
              <a:t>CGM, time in range and automated insulin delivery</a:t>
            </a:r>
            <a:endParaRPr lang="en-US" sz="1400" dirty="0"/>
          </a:p>
          <a:p>
            <a:pPr marL="177800" indent="-177800">
              <a:spcAft>
                <a:spcPts val="1000"/>
              </a:spcAft>
              <a:buSzPct val="100000"/>
              <a:buChar char="•"/>
            </a:pPr>
            <a:r>
              <a:rPr lang="en-US" sz="1600" dirty="0">
                <a:solidFill>
                  <a:schemeClr val="bg1"/>
                </a:solidFill>
              </a:rPr>
              <a:t>Remission is achievable for some people</a:t>
            </a:r>
            <a:endParaRPr lang="en-US" sz="1400" dirty="0"/>
          </a:p>
        </p:txBody>
      </p:sp>
      <p:sp>
        <p:nvSpPr>
          <p:cNvPr id="10" name="text-8"/>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ADA/EASD Consensus Report on management of hyperglycaemia in T2D (2022); ADA Standards of Care in Diabetes (2025–2026), Section 9.</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ADA / EASD framework: four goals of care</a:t>
            </a:r>
            <a:endParaRPr lang="en-US" sz="3400" dirty="0"/>
          </a:p>
        </p:txBody>
      </p:sp>
      <p:sp>
        <p:nvSpPr>
          <p:cNvPr id="3" name="card-9"/>
          <p:cNvSpPr/>
          <p:nvPr/>
        </p:nvSpPr>
        <p:spPr>
          <a:xfrm>
            <a:off x="548640" y="1371600"/>
            <a:ext cx="2567864" cy="3657600"/>
          </a:xfrm>
          <a:prstGeom prst="roundRect">
            <a:avLst>
              <a:gd name="adj" fmla="val 4273"/>
            </a:avLst>
          </a:prstGeom>
          <a:solidFill>
            <a:schemeClr val="bg2"/>
          </a:solidFill>
          <a:ln/>
        </p:spPr>
      </p:sp>
      <p:sp>
        <p:nvSpPr>
          <p:cNvPr id="4" name="icon-circle-10"/>
          <p:cNvSpPr/>
          <p:nvPr/>
        </p:nvSpPr>
        <p:spPr>
          <a:xfrm>
            <a:off x="822960" y="1645920"/>
            <a:ext cx="777240" cy="777240"/>
          </a:xfrm>
          <a:prstGeom prst="ellipse">
            <a:avLst/>
          </a:prstGeom>
          <a:solidFill>
            <a:schemeClr val="accent6"/>
          </a:solidFill>
          <a:ln/>
        </p:spPr>
      </p:sp>
      <p:pic>
        <p:nvPicPr>
          <p:cNvPr id="5" name="icon-11"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text-12"/>
          <p:cNvSpPr txBox="1"/>
          <p:nvPr/>
        </p:nvSpPr>
        <p:spPr>
          <a:xfrm>
            <a:off x="822960" y="2606040"/>
            <a:ext cx="2019224" cy="685800"/>
          </a:xfrm>
          <a:prstGeom prst="rect">
            <a:avLst/>
          </a:prstGeom>
          <a:noFill/>
          <a:ln/>
        </p:spPr>
        <p:txBody>
          <a:bodyPr wrap="square" lIns="0" tIns="0" rIns="0" bIns="0" rtlCol="0" anchor="ctr"/>
          <a:lstStyle/>
          <a:p>
            <a:pPr indent="0" marL="0">
              <a:buNone/>
            </a:pPr>
            <a:r>
              <a:rPr lang="en-US" sz="1800" b="1" dirty="0">
                <a:solidFill>
                  <a:schemeClr val="tx1"/>
                </a:solidFill>
              </a:rPr>
              <a:t>Person-centred care</a:t>
            </a:r>
            <a:endParaRPr lang="en-US" sz="1800" dirty="0"/>
          </a:p>
        </p:txBody>
      </p:sp>
      <p:sp>
        <p:nvSpPr>
          <p:cNvPr id="7" name="text-13"/>
          <p:cNvSpPr txBox="1"/>
          <p:nvPr/>
        </p:nvSpPr>
        <p:spPr>
          <a:xfrm>
            <a:off x="822960" y="3337560"/>
            <a:ext cx="2019224" cy="1600200"/>
          </a:xfrm>
          <a:prstGeom prst="rect">
            <a:avLst/>
          </a:prstGeom>
          <a:noFill/>
          <a:ln/>
        </p:spPr>
        <p:txBody>
          <a:bodyPr wrap="square" lIns="0" tIns="0" rIns="0" bIns="0" rtlCol="0" anchor="t"/>
          <a:lstStyle/>
          <a:p>
            <a:pPr indent="0" marL="0">
              <a:buNone/>
            </a:pPr>
            <a:r>
              <a:rPr lang="en-US" sz="1400" dirty="0">
                <a:solidFill>
                  <a:schemeClr val="tx1"/>
                </a:solidFill>
              </a:rPr>
              <a:t>Shared decisions; education and self-management support (DSMES); address cost, access and social needs.</a:t>
            </a:r>
            <a:endParaRPr lang="en-US" sz="1400" dirty="0"/>
          </a:p>
        </p:txBody>
      </p:sp>
      <p:sp>
        <p:nvSpPr>
          <p:cNvPr id="8" name="card-14"/>
          <p:cNvSpPr/>
          <p:nvPr/>
        </p:nvSpPr>
        <p:spPr>
          <a:xfrm>
            <a:off x="3390824" y="1371600"/>
            <a:ext cx="2567864" cy="3657600"/>
          </a:xfrm>
          <a:prstGeom prst="roundRect">
            <a:avLst>
              <a:gd name="adj" fmla="val 4273"/>
            </a:avLst>
          </a:prstGeom>
          <a:solidFill>
            <a:schemeClr val="bg2"/>
          </a:solidFill>
          <a:ln/>
        </p:spPr>
      </p:sp>
      <p:sp>
        <p:nvSpPr>
          <p:cNvPr id="9" name="icon-circle-15"/>
          <p:cNvSpPr/>
          <p:nvPr/>
        </p:nvSpPr>
        <p:spPr>
          <a:xfrm>
            <a:off x="3665144" y="1645920"/>
            <a:ext cx="777240" cy="777240"/>
          </a:xfrm>
          <a:prstGeom prst="ellipse">
            <a:avLst/>
          </a:prstGeom>
          <a:solidFill>
            <a:schemeClr val="accent2"/>
          </a:solidFill>
          <a:ln/>
        </p:spPr>
      </p:sp>
      <p:pic>
        <p:nvPicPr>
          <p:cNvPr id="10" name="icon-16" descr="preencoded.png">    </p:cNvPr>
          <p:cNvPicPr>
            <a:picLocks noChangeAspect="1"/>
          </p:cNvPicPr>
          <p:nvPr/>
        </p:nvPicPr>
        <p:blipFill>
          <a:blip r:embed="rId2"/>
          <a:stretch>
            <a:fillRect/>
          </a:stretch>
        </p:blipFill>
        <p:spPr>
          <a:xfrm>
            <a:off x="3859454" y="1840230"/>
            <a:ext cx="388620" cy="388620"/>
          </a:xfrm>
          <a:prstGeom prst="rect">
            <a:avLst/>
          </a:prstGeom>
        </p:spPr>
      </p:pic>
      <p:sp>
        <p:nvSpPr>
          <p:cNvPr id="11" name="text-17"/>
          <p:cNvSpPr txBox="1"/>
          <p:nvPr/>
        </p:nvSpPr>
        <p:spPr>
          <a:xfrm>
            <a:off x="3665144" y="2606040"/>
            <a:ext cx="2019224" cy="685800"/>
          </a:xfrm>
          <a:prstGeom prst="rect">
            <a:avLst/>
          </a:prstGeom>
          <a:noFill/>
          <a:ln/>
        </p:spPr>
        <p:txBody>
          <a:bodyPr wrap="square" lIns="0" tIns="0" rIns="0" bIns="0" rtlCol="0" anchor="ctr"/>
          <a:lstStyle/>
          <a:p>
            <a:pPr indent="0" marL="0">
              <a:buNone/>
            </a:pPr>
            <a:r>
              <a:rPr lang="en-US" sz="1800" b="1" dirty="0">
                <a:solidFill>
                  <a:schemeClr val="tx1"/>
                </a:solidFill>
              </a:rPr>
              <a:t>Cardiorenal protection</a:t>
            </a:r>
            <a:endParaRPr lang="en-US" sz="1800" dirty="0"/>
          </a:p>
        </p:txBody>
      </p:sp>
      <p:sp>
        <p:nvSpPr>
          <p:cNvPr id="12" name="text-18"/>
          <p:cNvSpPr txBox="1"/>
          <p:nvPr/>
        </p:nvSpPr>
        <p:spPr>
          <a:xfrm>
            <a:off x="3665144" y="3337560"/>
            <a:ext cx="2019224" cy="1600200"/>
          </a:xfrm>
          <a:prstGeom prst="rect">
            <a:avLst/>
          </a:prstGeom>
          <a:noFill/>
          <a:ln/>
        </p:spPr>
        <p:txBody>
          <a:bodyPr wrap="square" lIns="0" tIns="0" rIns="0" bIns="0" rtlCol="0" anchor="t"/>
          <a:lstStyle/>
          <a:p>
            <a:pPr indent="0" marL="0">
              <a:buNone/>
            </a:pPr>
            <a:r>
              <a:rPr lang="en-US" sz="1400" dirty="0">
                <a:solidFill>
                  <a:schemeClr val="tx1"/>
                </a:solidFill>
              </a:rPr>
              <a:t>ASCVD, HF or CKD: SGLT2i and/or GLP-1 RA with proven benefit, regardless of HbA1c or metformin use.</a:t>
            </a:r>
            <a:endParaRPr lang="en-US" sz="1400" dirty="0"/>
          </a:p>
        </p:txBody>
      </p:sp>
      <p:sp>
        <p:nvSpPr>
          <p:cNvPr id="13" name="card-19"/>
          <p:cNvSpPr/>
          <p:nvPr/>
        </p:nvSpPr>
        <p:spPr>
          <a:xfrm>
            <a:off x="6233008" y="1371600"/>
            <a:ext cx="2567864" cy="3657600"/>
          </a:xfrm>
          <a:prstGeom prst="roundRect">
            <a:avLst>
              <a:gd name="adj" fmla="val 4273"/>
            </a:avLst>
          </a:prstGeom>
          <a:solidFill>
            <a:schemeClr val="bg2"/>
          </a:solidFill>
          <a:ln/>
        </p:spPr>
      </p:sp>
      <p:sp>
        <p:nvSpPr>
          <p:cNvPr id="14" name="icon-circle-20"/>
          <p:cNvSpPr/>
          <p:nvPr/>
        </p:nvSpPr>
        <p:spPr>
          <a:xfrm>
            <a:off x="6507328" y="1645920"/>
            <a:ext cx="777240" cy="777240"/>
          </a:xfrm>
          <a:prstGeom prst="ellipse">
            <a:avLst/>
          </a:prstGeom>
          <a:solidFill>
            <a:schemeClr val="accent3"/>
          </a:solidFill>
          <a:ln/>
        </p:spPr>
      </p:sp>
      <p:pic>
        <p:nvPicPr>
          <p:cNvPr id="15" name="icon-21" descr="preencoded.png">    </p:cNvPr>
          <p:cNvPicPr>
            <a:picLocks noChangeAspect="1"/>
          </p:cNvPicPr>
          <p:nvPr/>
        </p:nvPicPr>
        <p:blipFill>
          <a:blip r:embed="rId3"/>
          <a:stretch>
            <a:fillRect/>
          </a:stretch>
        </p:blipFill>
        <p:spPr>
          <a:xfrm>
            <a:off x="6701638" y="1840230"/>
            <a:ext cx="388620" cy="388620"/>
          </a:xfrm>
          <a:prstGeom prst="rect">
            <a:avLst/>
          </a:prstGeom>
        </p:spPr>
      </p:pic>
      <p:sp>
        <p:nvSpPr>
          <p:cNvPr id="16" name="text-22"/>
          <p:cNvSpPr txBox="1"/>
          <p:nvPr/>
        </p:nvSpPr>
        <p:spPr>
          <a:xfrm>
            <a:off x="6507328" y="2606040"/>
            <a:ext cx="2019224" cy="685800"/>
          </a:xfrm>
          <a:prstGeom prst="rect">
            <a:avLst/>
          </a:prstGeom>
          <a:noFill/>
          <a:ln/>
        </p:spPr>
        <p:txBody>
          <a:bodyPr wrap="square" lIns="0" tIns="0" rIns="0" bIns="0" rtlCol="0" anchor="ctr"/>
          <a:lstStyle/>
          <a:p>
            <a:pPr indent="0" marL="0">
              <a:buNone/>
            </a:pPr>
            <a:r>
              <a:rPr lang="en-US" sz="1800" b="1" dirty="0">
                <a:solidFill>
                  <a:schemeClr val="tx1"/>
                </a:solidFill>
              </a:rPr>
              <a:t>Weight management</a:t>
            </a:r>
            <a:endParaRPr lang="en-US" sz="1800" dirty="0"/>
          </a:p>
        </p:txBody>
      </p:sp>
      <p:sp>
        <p:nvSpPr>
          <p:cNvPr id="17" name="text-23"/>
          <p:cNvSpPr txBox="1"/>
          <p:nvPr/>
        </p:nvSpPr>
        <p:spPr>
          <a:xfrm>
            <a:off x="6507328" y="3337560"/>
            <a:ext cx="2019224" cy="1600200"/>
          </a:xfrm>
          <a:prstGeom prst="rect">
            <a:avLst/>
          </a:prstGeom>
          <a:noFill/>
          <a:ln/>
        </p:spPr>
        <p:txBody>
          <a:bodyPr wrap="square" lIns="0" tIns="0" rIns="0" bIns="0" rtlCol="0" anchor="t"/>
          <a:lstStyle/>
          <a:p>
            <a:pPr indent="0" marL="0">
              <a:buNone/>
            </a:pPr>
            <a:r>
              <a:rPr lang="en-US" sz="1400" dirty="0">
                <a:solidFill>
                  <a:schemeClr val="tx1"/>
                </a:solidFill>
              </a:rPr>
              <a:t>Goals of 5–15% loss or more; drugs with high weight efficacy (semaglutide, tirzepatide) or metabolic surgery.</a:t>
            </a:r>
            <a:endParaRPr lang="en-US" sz="1400" dirty="0"/>
          </a:p>
        </p:txBody>
      </p:sp>
      <p:sp>
        <p:nvSpPr>
          <p:cNvPr id="18" name="card-24"/>
          <p:cNvSpPr/>
          <p:nvPr/>
        </p:nvSpPr>
        <p:spPr>
          <a:xfrm>
            <a:off x="9075191" y="1371600"/>
            <a:ext cx="2567864" cy="3657600"/>
          </a:xfrm>
          <a:prstGeom prst="roundRect">
            <a:avLst>
              <a:gd name="adj" fmla="val 4273"/>
            </a:avLst>
          </a:prstGeom>
          <a:solidFill>
            <a:schemeClr val="bg2"/>
          </a:solidFill>
          <a:ln/>
        </p:spPr>
      </p:sp>
      <p:sp>
        <p:nvSpPr>
          <p:cNvPr id="19" name="icon-circle-25"/>
          <p:cNvSpPr/>
          <p:nvPr/>
        </p:nvSpPr>
        <p:spPr>
          <a:xfrm>
            <a:off x="9349511" y="1645920"/>
            <a:ext cx="777240" cy="777240"/>
          </a:xfrm>
          <a:prstGeom prst="ellipse">
            <a:avLst/>
          </a:prstGeom>
          <a:solidFill>
            <a:schemeClr val="accent1"/>
          </a:solidFill>
          <a:ln/>
        </p:spPr>
      </p:sp>
      <p:pic>
        <p:nvPicPr>
          <p:cNvPr id="20" name="icon-26" descr="preencoded.png">    </p:cNvPr>
          <p:cNvPicPr>
            <a:picLocks noChangeAspect="1"/>
          </p:cNvPicPr>
          <p:nvPr/>
        </p:nvPicPr>
        <p:blipFill>
          <a:blip r:embed="rId4"/>
          <a:stretch>
            <a:fillRect/>
          </a:stretch>
        </p:blipFill>
        <p:spPr>
          <a:xfrm>
            <a:off x="9543821" y="1840230"/>
            <a:ext cx="388620" cy="388620"/>
          </a:xfrm>
          <a:prstGeom prst="rect">
            <a:avLst/>
          </a:prstGeom>
        </p:spPr>
      </p:pic>
      <p:sp>
        <p:nvSpPr>
          <p:cNvPr id="21" name="text-27"/>
          <p:cNvSpPr txBox="1"/>
          <p:nvPr/>
        </p:nvSpPr>
        <p:spPr>
          <a:xfrm>
            <a:off x="9349511" y="2606040"/>
            <a:ext cx="2019224" cy="685800"/>
          </a:xfrm>
          <a:prstGeom prst="rect">
            <a:avLst/>
          </a:prstGeom>
          <a:noFill/>
          <a:ln/>
        </p:spPr>
        <p:txBody>
          <a:bodyPr wrap="square" lIns="0" tIns="0" rIns="0" bIns="0" rtlCol="0" anchor="ctr"/>
          <a:lstStyle/>
          <a:p>
            <a:pPr indent="0" marL="0">
              <a:buNone/>
            </a:pPr>
            <a:r>
              <a:rPr lang="en-US" sz="1800" b="1" dirty="0">
                <a:solidFill>
                  <a:schemeClr val="tx1"/>
                </a:solidFill>
              </a:rPr>
              <a:t>Glycaemic control</a:t>
            </a:r>
            <a:endParaRPr lang="en-US" sz="1800" dirty="0"/>
          </a:p>
        </p:txBody>
      </p:sp>
      <p:sp>
        <p:nvSpPr>
          <p:cNvPr id="22" name="text-28"/>
          <p:cNvSpPr txBox="1"/>
          <p:nvPr/>
        </p:nvSpPr>
        <p:spPr>
          <a:xfrm>
            <a:off x="9349511" y="3337560"/>
            <a:ext cx="2019224" cy="1600200"/>
          </a:xfrm>
          <a:prstGeom prst="rect">
            <a:avLst/>
          </a:prstGeom>
          <a:noFill/>
          <a:ln/>
        </p:spPr>
        <p:txBody>
          <a:bodyPr wrap="square" lIns="0" tIns="0" rIns="0" bIns="0" rtlCol="0" anchor="t"/>
          <a:lstStyle/>
          <a:p>
            <a:pPr indent="0" marL="0">
              <a:buNone/>
            </a:pPr>
            <a:r>
              <a:rPr lang="en-US" sz="1400" dirty="0">
                <a:solidFill>
                  <a:schemeClr val="tx1"/>
                </a:solidFill>
              </a:rPr>
              <a:t>Individualised HbA1c target (often &lt;7%); choose agents with high efficacy and low hypoglycaemia risk.</a:t>
            </a:r>
            <a:endParaRPr lang="en-US" sz="1400" dirty="0"/>
          </a:p>
        </p:txBody>
      </p:sp>
      <p:sp>
        <p:nvSpPr>
          <p:cNvPr id="23" name="card-29"/>
          <p:cNvSpPr/>
          <p:nvPr/>
        </p:nvSpPr>
        <p:spPr>
          <a:xfrm>
            <a:off x="548640" y="5257800"/>
            <a:ext cx="11094415" cy="731520"/>
          </a:xfrm>
          <a:prstGeom prst="roundRect">
            <a:avLst>
              <a:gd name="adj" fmla="val 15000"/>
            </a:avLst>
          </a:prstGeom>
          <a:solidFill>
            <a:schemeClr val="tx1"/>
          </a:solidFill>
          <a:ln/>
        </p:spPr>
      </p:sp>
      <p:sp>
        <p:nvSpPr>
          <p:cNvPr id="24" name="text-30"/>
          <p:cNvSpPr txBox="1"/>
          <p:nvPr/>
        </p:nvSpPr>
        <p:spPr>
          <a:xfrm>
            <a:off x="822960" y="5257800"/>
            <a:ext cx="10545775" cy="731520"/>
          </a:xfrm>
          <a:prstGeom prst="rect">
            <a:avLst/>
          </a:prstGeom>
          <a:noFill/>
          <a:ln/>
        </p:spPr>
        <p:txBody>
          <a:bodyPr wrap="square" lIns="0" tIns="0" rIns="0" bIns="0" rtlCol="0" anchor="ctr"/>
          <a:lstStyle/>
          <a:p>
            <a:pPr indent="0" marL="0">
              <a:buNone/>
            </a:pPr>
            <a:r>
              <a:rPr lang="en-US" sz="1600" b="1" dirty="0">
                <a:solidFill>
                  <a:schemeClr val="bg1"/>
                </a:solidFill>
              </a:rPr>
              <a:t>Lifestyle, education and management of BP, lipids and smoking underpin all four goals.</a:t>
            </a:r>
            <a:endParaRPr lang="en-US" sz="1600" dirty="0"/>
          </a:p>
        </p:txBody>
      </p:sp>
      <p:sp>
        <p:nvSpPr>
          <p:cNvPr id="25" name="text-31"/>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Davies MJ et al. ADA/EASD Consensus Report. Diabetes Care / Diabetologia 2022; ADA Standards of Care, Sections 9 and 10.</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PART 1</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New medicines</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SGLT2 inhibitors, incretin therapies, kidney protection, insulin and type 1 innovation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SGLT2 inhibitors: beyond glucose</a:t>
            </a:r>
            <a:endParaRPr lang="en-US" sz="3400" dirty="0"/>
          </a:p>
        </p:txBody>
      </p:sp>
      <p:graphicFrame>
        <p:nvGraphicFramePr>
          <p:cNvPr id="3" name="chart-32" descr=""/>
          <p:cNvGraphicFramePr/>
          <p:nvPr/>
        </p:nvGraphicFramePr>
        <p:xfrm>
          <a:off x="548640" y="128016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4" name="icon-circle-33"/>
          <p:cNvSpPr/>
          <p:nvPr/>
        </p:nvSpPr>
        <p:spPr>
          <a:xfrm>
            <a:off x="8092440" y="1463040"/>
            <a:ext cx="640080" cy="640080"/>
          </a:xfrm>
          <a:prstGeom prst="ellipse">
            <a:avLst/>
          </a:prstGeom>
          <a:solidFill>
            <a:schemeClr val="accent2"/>
          </a:solidFill>
          <a:ln/>
        </p:spPr>
      </p:sp>
      <p:pic>
        <p:nvPicPr>
          <p:cNvPr id="5" name="icon-34" descr="preencoded.png">    </p:cNvPr>
          <p:cNvPicPr>
            <a:picLocks noChangeAspect="1"/>
          </p:cNvPicPr>
          <p:nvPr/>
        </p:nvPicPr>
        <p:blipFill>
          <a:blip r:embed="rId2"/>
          <a:stretch>
            <a:fillRect/>
          </a:stretch>
        </p:blipFill>
        <p:spPr>
          <a:xfrm>
            <a:off x="8252460" y="1623060"/>
            <a:ext cx="320040" cy="320040"/>
          </a:xfrm>
          <a:prstGeom prst="rect">
            <a:avLst/>
          </a:prstGeom>
        </p:spPr>
      </p:pic>
      <p:sp>
        <p:nvSpPr>
          <p:cNvPr id="6" name="text-35"/>
          <p:cNvSpPr txBox="1"/>
          <p:nvPr/>
        </p:nvSpPr>
        <p:spPr>
          <a:xfrm>
            <a:off x="8915400" y="141732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Heart failure</a:t>
            </a:r>
            <a:endParaRPr lang="en-US" sz="1400" dirty="0"/>
          </a:p>
          <a:p>
            <a:pPr indent="0" marL="0">
              <a:buNone/>
            </a:pPr>
            <a:r>
              <a:rPr lang="en-US" sz="1400" dirty="0">
                <a:solidFill>
                  <a:schemeClr val="tx1"/>
                </a:solidFill>
              </a:rPr>
              <a:t>Recommended for HFrEF and HFpEF, with or without diabetes.</a:t>
            </a:r>
            <a:endParaRPr lang="en-US" sz="1400" dirty="0"/>
          </a:p>
        </p:txBody>
      </p:sp>
      <p:sp>
        <p:nvSpPr>
          <p:cNvPr id="7" name="icon-circle-36"/>
          <p:cNvSpPr/>
          <p:nvPr/>
        </p:nvSpPr>
        <p:spPr>
          <a:xfrm>
            <a:off x="8092440" y="2971800"/>
            <a:ext cx="640080" cy="640080"/>
          </a:xfrm>
          <a:prstGeom prst="ellipse">
            <a:avLst/>
          </a:prstGeom>
          <a:solidFill>
            <a:schemeClr val="accent1"/>
          </a:solidFill>
          <a:ln/>
        </p:spPr>
      </p:sp>
      <p:pic>
        <p:nvPicPr>
          <p:cNvPr id="8" name="icon-37" descr="preencoded.png">    </p:cNvPr>
          <p:cNvPicPr>
            <a:picLocks noChangeAspect="1"/>
          </p:cNvPicPr>
          <p:nvPr/>
        </p:nvPicPr>
        <p:blipFill>
          <a:blip r:embed="rId3"/>
          <a:stretch>
            <a:fillRect/>
          </a:stretch>
        </p:blipFill>
        <p:spPr>
          <a:xfrm>
            <a:off x="8252460" y="3131820"/>
            <a:ext cx="320040" cy="320040"/>
          </a:xfrm>
          <a:prstGeom prst="rect">
            <a:avLst/>
          </a:prstGeom>
        </p:spPr>
      </p:pic>
      <p:sp>
        <p:nvSpPr>
          <p:cNvPr id="9" name="text-38"/>
          <p:cNvSpPr txBox="1"/>
          <p:nvPr/>
        </p:nvSpPr>
        <p:spPr>
          <a:xfrm>
            <a:off x="8915400" y="292608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Chronic kidney disease</a:t>
            </a:r>
            <a:endParaRPr lang="en-US" sz="1400" dirty="0"/>
          </a:p>
          <a:p>
            <a:pPr indent="0" marL="0">
              <a:buNone/>
            </a:pPr>
            <a:r>
              <a:rPr lang="en-US" sz="1400" dirty="0">
                <a:solidFill>
                  <a:schemeClr val="tx1"/>
                </a:solidFill>
              </a:rPr>
              <a:t>Start if eGFR ≥20 mL/min/1.73 m²; continue until dialysis (KDIGO / ADA).</a:t>
            </a:r>
            <a:endParaRPr lang="en-US" sz="1400" dirty="0"/>
          </a:p>
        </p:txBody>
      </p:sp>
      <p:sp>
        <p:nvSpPr>
          <p:cNvPr id="10" name="icon-circle-39"/>
          <p:cNvSpPr/>
          <p:nvPr/>
        </p:nvSpPr>
        <p:spPr>
          <a:xfrm>
            <a:off x="8092440" y="4480560"/>
            <a:ext cx="640080" cy="640080"/>
          </a:xfrm>
          <a:prstGeom prst="ellipse">
            <a:avLst/>
          </a:prstGeom>
          <a:solidFill>
            <a:schemeClr val="accent3"/>
          </a:solidFill>
          <a:ln/>
        </p:spPr>
      </p:sp>
      <p:pic>
        <p:nvPicPr>
          <p:cNvPr id="11" name="icon-40" descr="preencoded.png">    </p:cNvPr>
          <p:cNvPicPr>
            <a:picLocks noChangeAspect="1"/>
          </p:cNvPicPr>
          <p:nvPr/>
        </p:nvPicPr>
        <p:blipFill>
          <a:blip r:embed="rId4"/>
          <a:stretch>
            <a:fillRect/>
          </a:stretch>
        </p:blipFill>
        <p:spPr>
          <a:xfrm>
            <a:off x="8252460" y="4640580"/>
            <a:ext cx="320040" cy="320040"/>
          </a:xfrm>
          <a:prstGeom prst="rect">
            <a:avLst/>
          </a:prstGeom>
        </p:spPr>
      </p:pic>
      <p:sp>
        <p:nvSpPr>
          <p:cNvPr id="12" name="text-41"/>
          <p:cNvSpPr txBox="1"/>
          <p:nvPr/>
        </p:nvSpPr>
        <p:spPr>
          <a:xfrm>
            <a:off x="8915400" y="443484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Now on WHO EML</a:t>
            </a:r>
            <a:endParaRPr lang="en-US" sz="1400" dirty="0"/>
          </a:p>
          <a:p>
            <a:pPr indent="0" marL="0">
              <a:buNone/>
            </a:pPr>
            <a:r>
              <a:rPr lang="en-US" sz="1400" dirty="0">
                <a:solidFill>
                  <a:schemeClr val="tx1"/>
                </a:solidFill>
              </a:rPr>
              <a:t>SGLT2i added to the WHO Essential Medicines List in 2023.</a:t>
            </a:r>
            <a:endParaRPr lang="en-US" sz="1400" dirty="0"/>
          </a:p>
        </p:txBody>
      </p:sp>
      <p:sp>
        <p:nvSpPr>
          <p:cNvPr id="13" name="text-42"/>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EMPA-REG OUTCOME 2015; DAPA-HF 2019; EMPEROR-Preserved 2021; CREDENCE 2019; DAPA-CKD 2020; EMPA-KIDNEY 2023; ADA–KDIGO consensus 2022.</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GLP-1 receptor agonists: proven outcomes</a:t>
            </a:r>
            <a:endParaRPr lang="en-US" sz="3400" dirty="0"/>
          </a:p>
        </p:txBody>
      </p:sp>
      <p:graphicFrame>
        <p:nvGraphicFramePr>
          <p:cNvPr id="3" name="chart-43" descr=""/>
          <p:cNvGraphicFramePr/>
          <p:nvPr/>
        </p:nvGraphicFramePr>
        <p:xfrm>
          <a:off x="548640" y="128016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4" name="icon-circle-44"/>
          <p:cNvSpPr/>
          <p:nvPr/>
        </p:nvSpPr>
        <p:spPr>
          <a:xfrm>
            <a:off x="8092440" y="1463040"/>
            <a:ext cx="640080" cy="640080"/>
          </a:xfrm>
          <a:prstGeom prst="ellipse">
            <a:avLst/>
          </a:prstGeom>
          <a:solidFill>
            <a:schemeClr val="accent3"/>
          </a:solidFill>
          <a:ln/>
        </p:spPr>
      </p:sp>
      <p:pic>
        <p:nvPicPr>
          <p:cNvPr id="5" name="icon-45" descr="preencoded.png">    </p:cNvPr>
          <p:cNvPicPr>
            <a:picLocks noChangeAspect="1"/>
          </p:cNvPicPr>
          <p:nvPr/>
        </p:nvPicPr>
        <p:blipFill>
          <a:blip r:embed="rId2"/>
          <a:stretch>
            <a:fillRect/>
          </a:stretch>
        </p:blipFill>
        <p:spPr>
          <a:xfrm>
            <a:off x="8252460" y="1623060"/>
            <a:ext cx="320040" cy="320040"/>
          </a:xfrm>
          <a:prstGeom prst="rect">
            <a:avLst/>
          </a:prstGeom>
        </p:spPr>
      </p:pic>
      <p:sp>
        <p:nvSpPr>
          <p:cNvPr id="6" name="text-46"/>
          <p:cNvSpPr txBox="1"/>
          <p:nvPr/>
        </p:nvSpPr>
        <p:spPr>
          <a:xfrm>
            <a:off x="8915400" y="141732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ASCVD benefit</a:t>
            </a:r>
            <a:endParaRPr lang="en-US" sz="1400" dirty="0"/>
          </a:p>
          <a:p>
            <a:pPr indent="0" marL="0">
              <a:buNone/>
            </a:pPr>
            <a:r>
              <a:rPr lang="en-US" sz="1400" dirty="0">
                <a:solidFill>
                  <a:schemeClr val="tx1"/>
                </a:solidFill>
              </a:rPr>
              <a:t>Preferred in established ASCVD or high CV risk (ADA, ESC/EASD).</a:t>
            </a:r>
            <a:endParaRPr lang="en-US" sz="1400" dirty="0"/>
          </a:p>
        </p:txBody>
      </p:sp>
      <p:sp>
        <p:nvSpPr>
          <p:cNvPr id="7" name="icon-circle-47"/>
          <p:cNvSpPr/>
          <p:nvPr/>
        </p:nvSpPr>
        <p:spPr>
          <a:xfrm>
            <a:off x="8092440" y="2971800"/>
            <a:ext cx="640080" cy="640080"/>
          </a:xfrm>
          <a:prstGeom prst="ellipse">
            <a:avLst/>
          </a:prstGeom>
          <a:solidFill>
            <a:schemeClr val="accent1"/>
          </a:solidFill>
          <a:ln/>
        </p:spPr>
      </p:sp>
      <p:pic>
        <p:nvPicPr>
          <p:cNvPr id="8" name="icon-48" descr="preencoded.png">    </p:cNvPr>
          <p:cNvPicPr>
            <a:picLocks noChangeAspect="1"/>
          </p:cNvPicPr>
          <p:nvPr/>
        </p:nvPicPr>
        <p:blipFill>
          <a:blip r:embed="rId3"/>
          <a:stretch>
            <a:fillRect/>
          </a:stretch>
        </p:blipFill>
        <p:spPr>
          <a:xfrm>
            <a:off x="8252460" y="3131820"/>
            <a:ext cx="320040" cy="320040"/>
          </a:xfrm>
          <a:prstGeom prst="rect">
            <a:avLst/>
          </a:prstGeom>
        </p:spPr>
      </p:pic>
      <p:sp>
        <p:nvSpPr>
          <p:cNvPr id="9" name="text-49"/>
          <p:cNvSpPr txBox="1"/>
          <p:nvPr/>
        </p:nvSpPr>
        <p:spPr>
          <a:xfrm>
            <a:off x="8915400" y="292608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First dedicated kidney win</a:t>
            </a:r>
            <a:endParaRPr lang="en-US" sz="1400" dirty="0"/>
          </a:p>
          <a:p>
            <a:pPr indent="0" marL="0">
              <a:buNone/>
            </a:pPr>
            <a:r>
              <a:rPr lang="en-US" sz="1400" dirty="0">
                <a:solidFill>
                  <a:schemeClr val="tx1"/>
                </a:solidFill>
              </a:rPr>
              <a:t>FLOW: 24% lower risk of major kidney events in T2D with CKD.</a:t>
            </a:r>
            <a:endParaRPr lang="en-US" sz="1400" dirty="0"/>
          </a:p>
        </p:txBody>
      </p:sp>
      <p:sp>
        <p:nvSpPr>
          <p:cNvPr id="10" name="icon-circle-50"/>
          <p:cNvSpPr/>
          <p:nvPr/>
        </p:nvSpPr>
        <p:spPr>
          <a:xfrm>
            <a:off x="8092440" y="4480560"/>
            <a:ext cx="640080" cy="640080"/>
          </a:xfrm>
          <a:prstGeom prst="ellipse">
            <a:avLst/>
          </a:prstGeom>
          <a:solidFill>
            <a:schemeClr val="accent2"/>
          </a:solidFill>
          <a:ln/>
        </p:spPr>
      </p:sp>
      <p:pic>
        <p:nvPicPr>
          <p:cNvPr id="11" name="icon-51" descr="preencoded.png">    </p:cNvPr>
          <p:cNvPicPr>
            <a:picLocks noChangeAspect="1"/>
          </p:cNvPicPr>
          <p:nvPr/>
        </p:nvPicPr>
        <p:blipFill>
          <a:blip r:embed="rId4"/>
          <a:stretch>
            <a:fillRect/>
          </a:stretch>
        </p:blipFill>
        <p:spPr>
          <a:xfrm>
            <a:off x="8252460" y="4640580"/>
            <a:ext cx="320040" cy="320040"/>
          </a:xfrm>
          <a:prstGeom prst="rect">
            <a:avLst/>
          </a:prstGeom>
        </p:spPr>
      </p:pic>
      <p:sp>
        <p:nvSpPr>
          <p:cNvPr id="12" name="text-52"/>
          <p:cNvSpPr txBox="1"/>
          <p:nvPr/>
        </p:nvSpPr>
        <p:spPr>
          <a:xfrm>
            <a:off x="8915400" y="4434840"/>
            <a:ext cx="2697480" cy="13716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Weight and liver</a:t>
            </a:r>
            <a:endParaRPr lang="en-US" sz="1400" dirty="0"/>
          </a:p>
          <a:p>
            <a:pPr indent="0" marL="0">
              <a:buNone/>
            </a:pPr>
            <a:r>
              <a:rPr lang="en-US" sz="1400" dirty="0">
                <a:solidFill>
                  <a:schemeClr val="tx1"/>
                </a:solidFill>
              </a:rPr>
              <a:t>Semaglutide 2.4 mg gives ~15% weight loss and is approved for MASH (US, 2025).</a:t>
            </a:r>
            <a:endParaRPr lang="en-US" sz="1400" dirty="0"/>
          </a:p>
        </p:txBody>
      </p:sp>
      <p:sp>
        <p:nvSpPr>
          <p:cNvPr id="13" name="text-53"/>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LEADER 2016; SUSTAIN-6 2016; REWIND 2019; SOUL 2025; FLOW 2024; SELECT 2023 (all NEJM / Lancet).</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Tirzepatide and the next generation</a:t>
            </a:r>
            <a:endParaRPr lang="en-US" sz="3400" dirty="0"/>
          </a:p>
        </p:txBody>
      </p:sp>
      <p:sp>
        <p:nvSpPr>
          <p:cNvPr id="3" name="card-54"/>
          <p:cNvSpPr/>
          <p:nvPr/>
        </p:nvSpPr>
        <p:spPr>
          <a:xfrm>
            <a:off x="548640" y="1371600"/>
            <a:ext cx="5120640" cy="4572000"/>
          </a:xfrm>
          <a:prstGeom prst="roundRect">
            <a:avLst>
              <a:gd name="adj" fmla="val 2400"/>
            </a:avLst>
          </a:prstGeom>
          <a:solidFill>
            <a:schemeClr val="tx1"/>
          </a:solidFill>
          <a:ln/>
        </p:spPr>
      </p:sp>
      <p:sp>
        <p:nvSpPr>
          <p:cNvPr id="4" name="text-55"/>
          <p:cNvSpPr txBox="1"/>
          <p:nvPr/>
        </p:nvSpPr>
        <p:spPr>
          <a:xfrm>
            <a:off x="868680" y="1554480"/>
            <a:ext cx="4480560" cy="457200"/>
          </a:xfrm>
          <a:prstGeom prst="rect">
            <a:avLst/>
          </a:prstGeom>
          <a:noFill/>
          <a:ln/>
        </p:spPr>
        <p:txBody>
          <a:bodyPr wrap="square" lIns="0" tIns="0" rIns="0" bIns="0" rtlCol="0" anchor="t"/>
          <a:lstStyle/>
          <a:p>
            <a:pPr indent="0" marL="0">
              <a:buNone/>
            </a:pPr>
            <a:r>
              <a:rPr lang="en-US" sz="1800" b="1" dirty="0">
                <a:solidFill>
                  <a:schemeClr val="bg1"/>
                </a:solidFill>
              </a:rPr>
              <a:t>Tirzepatide: dual GIP / GLP-1 agonist</a:t>
            </a:r>
            <a:endParaRPr lang="en-US" sz="1800" dirty="0"/>
          </a:p>
        </p:txBody>
      </p:sp>
      <p:sp>
        <p:nvSpPr>
          <p:cNvPr id="5" name="text-56"/>
          <p:cNvSpPr txBox="1"/>
          <p:nvPr/>
        </p:nvSpPr>
        <p:spPr>
          <a:xfrm>
            <a:off x="868680" y="2194560"/>
            <a:ext cx="1783080" cy="9144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−2.3%</a:t>
            </a:r>
            <a:endParaRPr lang="en-US" sz="3200" dirty="0"/>
          </a:p>
        </p:txBody>
      </p:sp>
      <p:sp>
        <p:nvSpPr>
          <p:cNvPr id="6" name="text-57"/>
          <p:cNvSpPr txBox="1"/>
          <p:nvPr/>
        </p:nvSpPr>
        <p:spPr>
          <a:xfrm>
            <a:off x="2697480" y="2194560"/>
            <a:ext cx="2743200" cy="914400"/>
          </a:xfrm>
          <a:prstGeom prst="rect">
            <a:avLst/>
          </a:prstGeom>
          <a:noFill/>
          <a:ln/>
        </p:spPr>
        <p:txBody>
          <a:bodyPr wrap="square" lIns="0" tIns="0" rIns="0" bIns="0" rtlCol="0" anchor="ctr"/>
          <a:lstStyle/>
          <a:p>
            <a:pPr indent="0" marL="0">
              <a:buNone/>
            </a:pPr>
            <a:r>
              <a:rPr lang="en-US" sz="1400" dirty="0">
                <a:solidFill>
                  <a:schemeClr val="bg1"/>
                </a:solidFill>
              </a:rPr>
              <a:t>HbA1c (15 mg) vs −1.9% with semaglutide 1 mg (SURPASS-2)</a:t>
            </a:r>
            <a:endParaRPr lang="en-US" sz="1400" dirty="0"/>
          </a:p>
        </p:txBody>
      </p:sp>
      <p:sp>
        <p:nvSpPr>
          <p:cNvPr id="7" name="text-58"/>
          <p:cNvSpPr txBox="1"/>
          <p:nvPr/>
        </p:nvSpPr>
        <p:spPr>
          <a:xfrm>
            <a:off x="868680" y="3410712"/>
            <a:ext cx="1783080" cy="9144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−11.2 kg</a:t>
            </a:r>
            <a:endParaRPr lang="en-US" sz="3200" dirty="0"/>
          </a:p>
        </p:txBody>
      </p:sp>
      <p:sp>
        <p:nvSpPr>
          <p:cNvPr id="8" name="text-59"/>
          <p:cNvSpPr txBox="1"/>
          <p:nvPr/>
        </p:nvSpPr>
        <p:spPr>
          <a:xfrm>
            <a:off x="2697480" y="3410712"/>
            <a:ext cx="2743200" cy="914400"/>
          </a:xfrm>
          <a:prstGeom prst="rect">
            <a:avLst/>
          </a:prstGeom>
          <a:noFill/>
          <a:ln/>
        </p:spPr>
        <p:txBody>
          <a:bodyPr wrap="square" lIns="0" tIns="0" rIns="0" bIns="0" rtlCol="0" anchor="ctr"/>
          <a:lstStyle/>
          <a:p>
            <a:pPr indent="0" marL="0">
              <a:buNone/>
            </a:pPr>
            <a:r>
              <a:rPr lang="en-US" sz="1400" dirty="0">
                <a:solidFill>
                  <a:schemeClr val="bg1"/>
                </a:solidFill>
              </a:rPr>
              <a:t>weight vs −5.7 kg with semaglutide 1 mg</a:t>
            </a:r>
            <a:endParaRPr lang="en-US" sz="1400" dirty="0"/>
          </a:p>
        </p:txBody>
      </p:sp>
      <p:sp>
        <p:nvSpPr>
          <p:cNvPr id="9" name="text-60"/>
          <p:cNvSpPr txBox="1"/>
          <p:nvPr/>
        </p:nvSpPr>
        <p:spPr>
          <a:xfrm>
            <a:off x="868680" y="4626864"/>
            <a:ext cx="1783080" cy="9144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−16%</a:t>
            </a:r>
            <a:endParaRPr lang="en-US" sz="3200" dirty="0"/>
          </a:p>
        </p:txBody>
      </p:sp>
      <p:sp>
        <p:nvSpPr>
          <p:cNvPr id="10" name="text-61"/>
          <p:cNvSpPr txBox="1"/>
          <p:nvPr/>
        </p:nvSpPr>
        <p:spPr>
          <a:xfrm>
            <a:off x="2697480" y="4626864"/>
            <a:ext cx="2743200" cy="914400"/>
          </a:xfrm>
          <a:prstGeom prst="rect">
            <a:avLst/>
          </a:prstGeom>
          <a:noFill/>
          <a:ln/>
        </p:spPr>
        <p:txBody>
          <a:bodyPr wrap="square" lIns="0" tIns="0" rIns="0" bIns="0" rtlCol="0" anchor="ctr"/>
          <a:lstStyle/>
          <a:p>
            <a:pPr indent="0" marL="0">
              <a:buNone/>
            </a:pPr>
            <a:r>
              <a:rPr lang="en-US" sz="1400" dirty="0">
                <a:solidFill>
                  <a:schemeClr val="bg1"/>
                </a:solidFill>
              </a:rPr>
              <a:t>all-cause death vs dulaglutide; MACE non-inferior (SURPASS-CVOT)</a:t>
            </a:r>
            <a:endParaRPr lang="en-US" sz="1400" dirty="0"/>
          </a:p>
        </p:txBody>
      </p:sp>
      <p:sp>
        <p:nvSpPr>
          <p:cNvPr id="11" name="card-62"/>
          <p:cNvSpPr/>
          <p:nvPr/>
        </p:nvSpPr>
        <p:spPr>
          <a:xfrm>
            <a:off x="5943600" y="1371600"/>
            <a:ext cx="5699455" cy="1371600"/>
          </a:xfrm>
          <a:prstGeom prst="roundRect">
            <a:avLst>
              <a:gd name="adj" fmla="val 8000"/>
            </a:avLst>
          </a:prstGeom>
          <a:solidFill>
            <a:schemeClr val="bg2"/>
          </a:solidFill>
          <a:ln/>
        </p:spPr>
      </p:sp>
      <p:sp>
        <p:nvSpPr>
          <p:cNvPr id="12" name="icon-circle-63"/>
          <p:cNvSpPr/>
          <p:nvPr/>
        </p:nvSpPr>
        <p:spPr>
          <a:xfrm>
            <a:off x="6172200" y="1691640"/>
            <a:ext cx="731520" cy="731520"/>
          </a:xfrm>
          <a:prstGeom prst="ellipse">
            <a:avLst/>
          </a:prstGeom>
          <a:solidFill>
            <a:schemeClr val="accent2"/>
          </a:solidFill>
          <a:ln/>
        </p:spPr>
      </p:sp>
      <p:pic>
        <p:nvPicPr>
          <p:cNvPr id="13" name="icon-64" descr="preencoded.png">    </p:cNvPr>
          <p:cNvPicPr>
            <a:picLocks noChangeAspect="1"/>
          </p:cNvPicPr>
          <p:nvPr/>
        </p:nvPicPr>
        <p:blipFill>
          <a:blip r:embed="rId1"/>
          <a:stretch>
            <a:fillRect/>
          </a:stretch>
        </p:blipFill>
        <p:spPr>
          <a:xfrm>
            <a:off x="6355080" y="1874520"/>
            <a:ext cx="365760" cy="365760"/>
          </a:xfrm>
          <a:prstGeom prst="rect">
            <a:avLst/>
          </a:prstGeom>
        </p:spPr>
      </p:pic>
      <p:sp>
        <p:nvSpPr>
          <p:cNvPr id="14" name="text-65"/>
          <p:cNvSpPr txBox="1"/>
          <p:nvPr/>
        </p:nvSpPr>
        <p:spPr>
          <a:xfrm>
            <a:off x="7132320" y="1508760"/>
            <a:ext cx="4282135" cy="109728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Retatrutide</a:t>
            </a:r>
            <a:endParaRPr lang="en-US" sz="1400" dirty="0"/>
          </a:p>
          <a:p>
            <a:pPr indent="0" marL="0">
              <a:buNone/>
            </a:pPr>
            <a:r>
              <a:rPr lang="en-US" sz="1400" dirty="0">
                <a:solidFill>
                  <a:schemeClr val="tx1"/>
                </a:solidFill>
              </a:rPr>
              <a:t>GIP / GLP-1 / glucagon triple agonist: ~24% weight loss at 48 weeks (phase 2).</a:t>
            </a:r>
            <a:endParaRPr lang="en-US" sz="1400" dirty="0"/>
          </a:p>
        </p:txBody>
      </p:sp>
      <p:sp>
        <p:nvSpPr>
          <p:cNvPr id="15" name="card-66"/>
          <p:cNvSpPr/>
          <p:nvPr/>
        </p:nvSpPr>
        <p:spPr>
          <a:xfrm>
            <a:off x="5943600" y="2971800"/>
            <a:ext cx="5699455" cy="1371600"/>
          </a:xfrm>
          <a:prstGeom prst="roundRect">
            <a:avLst>
              <a:gd name="adj" fmla="val 8000"/>
            </a:avLst>
          </a:prstGeom>
          <a:solidFill>
            <a:schemeClr val="bg2"/>
          </a:solidFill>
          <a:ln/>
        </p:spPr>
      </p:sp>
      <p:sp>
        <p:nvSpPr>
          <p:cNvPr id="16" name="icon-circle-67"/>
          <p:cNvSpPr/>
          <p:nvPr/>
        </p:nvSpPr>
        <p:spPr>
          <a:xfrm>
            <a:off x="6172200" y="3291840"/>
            <a:ext cx="731520" cy="731520"/>
          </a:xfrm>
          <a:prstGeom prst="ellipse">
            <a:avLst/>
          </a:prstGeom>
          <a:solidFill>
            <a:schemeClr val="accent1"/>
          </a:solidFill>
          <a:ln/>
        </p:spPr>
      </p:sp>
      <p:pic>
        <p:nvPicPr>
          <p:cNvPr id="17" name="icon-68" descr="preencoded.png">    </p:cNvPr>
          <p:cNvPicPr>
            <a:picLocks noChangeAspect="1"/>
          </p:cNvPicPr>
          <p:nvPr/>
        </p:nvPicPr>
        <p:blipFill>
          <a:blip r:embed="rId2"/>
          <a:stretch>
            <a:fillRect/>
          </a:stretch>
        </p:blipFill>
        <p:spPr>
          <a:xfrm>
            <a:off x="6355080" y="3474720"/>
            <a:ext cx="365760" cy="365760"/>
          </a:xfrm>
          <a:prstGeom prst="rect">
            <a:avLst/>
          </a:prstGeom>
        </p:spPr>
      </p:pic>
      <p:sp>
        <p:nvSpPr>
          <p:cNvPr id="18" name="text-69"/>
          <p:cNvSpPr txBox="1"/>
          <p:nvPr/>
        </p:nvSpPr>
        <p:spPr>
          <a:xfrm>
            <a:off x="7132320" y="3108960"/>
            <a:ext cx="4282135" cy="109728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CagriSema</a:t>
            </a:r>
            <a:endParaRPr lang="en-US" sz="1400" dirty="0"/>
          </a:p>
          <a:p>
            <a:pPr indent="0" marL="0">
              <a:buNone/>
            </a:pPr>
            <a:r>
              <a:rPr lang="en-US" sz="1400" dirty="0">
                <a:solidFill>
                  <a:schemeClr val="tx1"/>
                </a:solidFill>
              </a:rPr>
              <a:t>Amylin analogue + semaglutide: ~20% weight loss (REDEFINE 1); ~14% in T2D (REDEFINE 2).</a:t>
            </a:r>
            <a:endParaRPr lang="en-US" sz="1400" dirty="0"/>
          </a:p>
        </p:txBody>
      </p:sp>
      <p:sp>
        <p:nvSpPr>
          <p:cNvPr id="19" name="card-70"/>
          <p:cNvSpPr/>
          <p:nvPr/>
        </p:nvSpPr>
        <p:spPr>
          <a:xfrm>
            <a:off x="5943600" y="4572000"/>
            <a:ext cx="5699455" cy="1371600"/>
          </a:xfrm>
          <a:prstGeom prst="roundRect">
            <a:avLst>
              <a:gd name="adj" fmla="val 8000"/>
            </a:avLst>
          </a:prstGeom>
          <a:solidFill>
            <a:schemeClr val="bg2"/>
          </a:solidFill>
          <a:ln/>
        </p:spPr>
      </p:sp>
      <p:sp>
        <p:nvSpPr>
          <p:cNvPr id="20" name="icon-circle-71"/>
          <p:cNvSpPr/>
          <p:nvPr/>
        </p:nvSpPr>
        <p:spPr>
          <a:xfrm>
            <a:off x="6172200" y="4892040"/>
            <a:ext cx="731520" cy="731520"/>
          </a:xfrm>
          <a:prstGeom prst="ellipse">
            <a:avLst/>
          </a:prstGeom>
          <a:solidFill>
            <a:schemeClr val="accent3"/>
          </a:solidFill>
          <a:ln/>
        </p:spPr>
      </p:sp>
      <p:pic>
        <p:nvPicPr>
          <p:cNvPr id="21" name="icon-72" descr="preencoded.png">    </p:cNvPr>
          <p:cNvPicPr>
            <a:picLocks noChangeAspect="1"/>
          </p:cNvPicPr>
          <p:nvPr/>
        </p:nvPicPr>
        <p:blipFill>
          <a:blip r:embed="rId3"/>
          <a:stretch>
            <a:fillRect/>
          </a:stretch>
        </p:blipFill>
        <p:spPr>
          <a:xfrm>
            <a:off x="6355080" y="5074920"/>
            <a:ext cx="365760" cy="365760"/>
          </a:xfrm>
          <a:prstGeom prst="rect">
            <a:avLst/>
          </a:prstGeom>
        </p:spPr>
      </p:pic>
      <p:sp>
        <p:nvSpPr>
          <p:cNvPr id="22" name="text-73"/>
          <p:cNvSpPr txBox="1"/>
          <p:nvPr/>
        </p:nvSpPr>
        <p:spPr>
          <a:xfrm>
            <a:off x="7132320" y="4709160"/>
            <a:ext cx="4282135" cy="109728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Orforglipron</a:t>
            </a:r>
            <a:endParaRPr lang="en-US" sz="1400" dirty="0"/>
          </a:p>
          <a:p>
            <a:pPr indent="0" marL="0">
              <a:buNone/>
            </a:pPr>
            <a:r>
              <a:rPr lang="en-US" sz="1400" dirty="0">
                <a:solidFill>
                  <a:schemeClr val="tx1"/>
                </a:solidFill>
              </a:rPr>
              <a:t>Oral non-peptide GLP-1 RA, no food restriction: HbA1c −1.3 to −1.6% (ACHIEVE-1).</a:t>
            </a:r>
            <a:endParaRPr lang="en-US" sz="1400" dirty="0"/>
          </a:p>
        </p:txBody>
      </p:sp>
      <p:sp>
        <p:nvSpPr>
          <p:cNvPr id="23" name="text-74"/>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SURPASS-2 NEJM 2021; SURPASS-CVOT 2025; retatrutide NEJM 2023; REDEFINE 1 &amp; 2 NEJM 2025; ACHIEVE-1 NEJM 2025. Approval status varies by country.</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Diabetic kidney disease: four pillars</a:t>
            </a:r>
            <a:endParaRPr lang="en-US" sz="3400" dirty="0"/>
          </a:p>
        </p:txBody>
      </p:sp>
      <p:sp>
        <p:nvSpPr>
          <p:cNvPr id="3" name="roof-75"/>
          <p:cNvSpPr/>
          <p:nvPr/>
        </p:nvSpPr>
        <p:spPr>
          <a:xfrm>
            <a:off x="1097280" y="1325880"/>
            <a:ext cx="9997135" cy="822960"/>
          </a:xfrm>
          <a:prstGeom prst="triangle">
            <a:avLst/>
          </a:prstGeom>
          <a:solidFill>
            <a:schemeClr val="tx1"/>
          </a:solidFill>
          <a:ln/>
        </p:spPr>
      </p:sp>
      <p:sp>
        <p:nvSpPr>
          <p:cNvPr id="4" name="text-76"/>
          <p:cNvSpPr txBox="1"/>
          <p:nvPr/>
        </p:nvSpPr>
        <p:spPr>
          <a:xfrm>
            <a:off x="3749040" y="1691640"/>
            <a:ext cx="4693615" cy="411480"/>
          </a:xfrm>
          <a:prstGeom prst="rect">
            <a:avLst/>
          </a:prstGeom>
          <a:noFill/>
          <a:ln/>
        </p:spPr>
        <p:txBody>
          <a:bodyPr wrap="square" lIns="0" tIns="0" rIns="0" bIns="0" rtlCol="0" anchor="ctr"/>
          <a:lstStyle/>
          <a:p>
            <a:pPr algn="ctr" indent="0" marL="0">
              <a:buNone/>
            </a:pPr>
            <a:r>
              <a:rPr lang="en-US" sz="1500" b="1" dirty="0">
                <a:solidFill>
                  <a:schemeClr val="bg1"/>
                </a:solidFill>
              </a:rPr>
              <a:t>Kidney and heart protection in T2D with CKD</a:t>
            </a:r>
            <a:endParaRPr lang="en-US" sz="1500" dirty="0"/>
          </a:p>
        </p:txBody>
      </p:sp>
      <p:sp>
        <p:nvSpPr>
          <p:cNvPr id="5" name="pillar-77"/>
          <p:cNvSpPr/>
          <p:nvPr/>
        </p:nvSpPr>
        <p:spPr>
          <a:xfrm>
            <a:off x="1097280" y="2286000"/>
            <a:ext cx="2293544" cy="3108960"/>
          </a:xfrm>
          <a:prstGeom prst="rect">
            <a:avLst/>
          </a:prstGeom>
          <a:solidFill>
            <a:schemeClr val="bg2"/>
          </a:solidFill>
          <a:ln/>
        </p:spPr>
      </p:sp>
      <p:sp>
        <p:nvSpPr>
          <p:cNvPr id="6" name="pillar-cap-78"/>
          <p:cNvSpPr/>
          <p:nvPr/>
        </p:nvSpPr>
        <p:spPr>
          <a:xfrm>
            <a:off x="1097280" y="2286000"/>
            <a:ext cx="2293544" cy="640080"/>
          </a:xfrm>
          <a:prstGeom prst="rect">
            <a:avLst/>
          </a:prstGeom>
          <a:solidFill>
            <a:schemeClr val="accent6"/>
          </a:solidFill>
          <a:ln/>
        </p:spPr>
      </p:sp>
      <p:sp>
        <p:nvSpPr>
          <p:cNvPr id="7" name="text-79"/>
          <p:cNvSpPr txBox="1"/>
          <p:nvPr/>
        </p:nvSpPr>
        <p:spPr>
          <a:xfrm>
            <a:off x="1234440" y="2286000"/>
            <a:ext cx="2019224" cy="640080"/>
          </a:xfrm>
          <a:prstGeom prst="rect">
            <a:avLst/>
          </a:prstGeom>
          <a:noFill/>
          <a:ln/>
        </p:spPr>
        <p:txBody>
          <a:bodyPr wrap="square" lIns="0" tIns="0" rIns="0" bIns="0" rtlCol="0" anchor="ctr"/>
          <a:lstStyle/>
          <a:p>
            <a:pPr algn="ctr" indent="0" marL="0">
              <a:buNone/>
            </a:pPr>
            <a:r>
              <a:rPr lang="en-US" sz="1600" b="1" dirty="0">
                <a:solidFill>
                  <a:schemeClr val="bg1"/>
                </a:solidFill>
              </a:rPr>
              <a:t>RAS blockade</a:t>
            </a:r>
            <a:endParaRPr lang="en-US" sz="1600" dirty="0"/>
          </a:p>
        </p:txBody>
      </p:sp>
      <p:sp>
        <p:nvSpPr>
          <p:cNvPr id="8" name="text-80"/>
          <p:cNvSpPr txBox="1"/>
          <p:nvPr/>
        </p:nvSpPr>
        <p:spPr>
          <a:xfrm>
            <a:off x="1325880" y="3108960"/>
            <a:ext cx="1836344" cy="2194560"/>
          </a:xfrm>
          <a:prstGeom prst="rect">
            <a:avLst/>
          </a:prstGeom>
          <a:noFill/>
          <a:ln/>
        </p:spPr>
        <p:txBody>
          <a:bodyPr wrap="square" lIns="0" tIns="0" rIns="0" bIns="0" rtlCol="0" anchor="t"/>
          <a:lstStyle/>
          <a:p>
            <a:pPr indent="0" marL="0">
              <a:buNone/>
            </a:pPr>
            <a:r>
              <a:rPr lang="en-US" sz="1400" dirty="0">
                <a:solidFill>
                  <a:schemeClr val="tx1"/>
                </a:solidFill>
              </a:rPr>
              <a:t>ACE inhibitor or ARB at maximum tolerated dose if albuminuria or hypertension</a:t>
            </a:r>
            <a:endParaRPr lang="en-US" sz="1400" dirty="0"/>
          </a:p>
        </p:txBody>
      </p:sp>
      <p:sp>
        <p:nvSpPr>
          <p:cNvPr id="9" name="pillar-81"/>
          <p:cNvSpPr/>
          <p:nvPr/>
        </p:nvSpPr>
        <p:spPr>
          <a:xfrm>
            <a:off x="3665144" y="2286000"/>
            <a:ext cx="2293544" cy="3108960"/>
          </a:xfrm>
          <a:prstGeom prst="rect">
            <a:avLst/>
          </a:prstGeom>
          <a:solidFill>
            <a:schemeClr val="bg2"/>
          </a:solidFill>
          <a:ln/>
        </p:spPr>
      </p:sp>
      <p:sp>
        <p:nvSpPr>
          <p:cNvPr id="10" name="pillar-cap-82"/>
          <p:cNvSpPr/>
          <p:nvPr/>
        </p:nvSpPr>
        <p:spPr>
          <a:xfrm>
            <a:off x="3665144" y="2286000"/>
            <a:ext cx="2293544" cy="640080"/>
          </a:xfrm>
          <a:prstGeom prst="rect">
            <a:avLst/>
          </a:prstGeom>
          <a:solidFill>
            <a:schemeClr val="accent1"/>
          </a:solidFill>
          <a:ln/>
        </p:spPr>
      </p:sp>
      <p:sp>
        <p:nvSpPr>
          <p:cNvPr id="11" name="text-83"/>
          <p:cNvSpPr txBox="1"/>
          <p:nvPr/>
        </p:nvSpPr>
        <p:spPr>
          <a:xfrm>
            <a:off x="3802304" y="2286000"/>
            <a:ext cx="2019224" cy="640080"/>
          </a:xfrm>
          <a:prstGeom prst="rect">
            <a:avLst/>
          </a:prstGeom>
          <a:noFill/>
          <a:ln/>
        </p:spPr>
        <p:txBody>
          <a:bodyPr wrap="square" lIns="0" tIns="0" rIns="0" bIns="0" rtlCol="0" anchor="ctr"/>
          <a:lstStyle/>
          <a:p>
            <a:pPr algn="ctr" indent="0" marL="0">
              <a:buNone/>
            </a:pPr>
            <a:r>
              <a:rPr lang="en-US" sz="1600" b="1" dirty="0">
                <a:solidFill>
                  <a:schemeClr val="bg1"/>
                </a:solidFill>
              </a:rPr>
              <a:t>SGLT2 inhibitor</a:t>
            </a:r>
            <a:endParaRPr lang="en-US" sz="1600" dirty="0"/>
          </a:p>
        </p:txBody>
      </p:sp>
      <p:sp>
        <p:nvSpPr>
          <p:cNvPr id="12" name="text-84"/>
          <p:cNvSpPr txBox="1"/>
          <p:nvPr/>
        </p:nvSpPr>
        <p:spPr>
          <a:xfrm>
            <a:off x="3893744" y="3108960"/>
            <a:ext cx="1836344" cy="2194560"/>
          </a:xfrm>
          <a:prstGeom prst="rect">
            <a:avLst/>
          </a:prstGeom>
          <a:noFill/>
          <a:ln/>
        </p:spPr>
        <p:txBody>
          <a:bodyPr wrap="square" lIns="0" tIns="0" rIns="0" bIns="0" rtlCol="0" anchor="t"/>
          <a:lstStyle/>
          <a:p>
            <a:pPr indent="0" marL="0">
              <a:buNone/>
            </a:pPr>
            <a:r>
              <a:rPr lang="en-US" sz="1400" dirty="0">
                <a:solidFill>
                  <a:schemeClr val="tx1"/>
                </a:solidFill>
              </a:rPr>
              <a:t>eGFR ≥20; ~30–40% lower kidney progression</a:t>
            </a:r>
            <a:endParaRPr lang="en-US" sz="1400" dirty="0"/>
          </a:p>
        </p:txBody>
      </p:sp>
      <p:sp>
        <p:nvSpPr>
          <p:cNvPr id="13" name="pillar-85"/>
          <p:cNvSpPr/>
          <p:nvPr/>
        </p:nvSpPr>
        <p:spPr>
          <a:xfrm>
            <a:off x="6233008" y="2286000"/>
            <a:ext cx="2293544" cy="3108960"/>
          </a:xfrm>
          <a:prstGeom prst="rect">
            <a:avLst/>
          </a:prstGeom>
          <a:solidFill>
            <a:schemeClr val="bg2"/>
          </a:solidFill>
          <a:ln/>
        </p:spPr>
      </p:sp>
      <p:sp>
        <p:nvSpPr>
          <p:cNvPr id="14" name="pillar-cap-86"/>
          <p:cNvSpPr/>
          <p:nvPr/>
        </p:nvSpPr>
        <p:spPr>
          <a:xfrm>
            <a:off x="6233008" y="2286000"/>
            <a:ext cx="2293544" cy="640080"/>
          </a:xfrm>
          <a:prstGeom prst="rect">
            <a:avLst/>
          </a:prstGeom>
          <a:solidFill>
            <a:schemeClr val="accent3"/>
          </a:solidFill>
          <a:ln/>
        </p:spPr>
      </p:sp>
      <p:sp>
        <p:nvSpPr>
          <p:cNvPr id="15" name="text-87"/>
          <p:cNvSpPr txBox="1"/>
          <p:nvPr/>
        </p:nvSpPr>
        <p:spPr>
          <a:xfrm>
            <a:off x="6370168" y="2286000"/>
            <a:ext cx="2019224" cy="640080"/>
          </a:xfrm>
          <a:prstGeom prst="rect">
            <a:avLst/>
          </a:prstGeom>
          <a:noFill/>
          <a:ln/>
        </p:spPr>
        <p:txBody>
          <a:bodyPr wrap="square" lIns="0" tIns="0" rIns="0" bIns="0" rtlCol="0" anchor="ctr"/>
          <a:lstStyle/>
          <a:p>
            <a:pPr algn="ctr" indent="0" marL="0">
              <a:buNone/>
            </a:pPr>
            <a:r>
              <a:rPr lang="en-US" sz="1600" b="1" dirty="0">
                <a:solidFill>
                  <a:schemeClr val="bg1"/>
                </a:solidFill>
              </a:rPr>
              <a:t>Finerenone</a:t>
            </a:r>
            <a:endParaRPr lang="en-US" sz="1600" dirty="0"/>
          </a:p>
        </p:txBody>
      </p:sp>
      <p:sp>
        <p:nvSpPr>
          <p:cNvPr id="16" name="text-88"/>
          <p:cNvSpPr txBox="1"/>
          <p:nvPr/>
        </p:nvSpPr>
        <p:spPr>
          <a:xfrm>
            <a:off x="6461608" y="3108960"/>
            <a:ext cx="1836344" cy="2194560"/>
          </a:xfrm>
          <a:prstGeom prst="rect">
            <a:avLst/>
          </a:prstGeom>
          <a:noFill/>
          <a:ln/>
        </p:spPr>
        <p:txBody>
          <a:bodyPr wrap="square" lIns="0" tIns="0" rIns="0" bIns="0" rtlCol="0" anchor="t"/>
          <a:lstStyle/>
          <a:p>
            <a:pPr indent="0" marL="0">
              <a:buNone/>
            </a:pPr>
            <a:r>
              <a:rPr lang="en-US" sz="1400" dirty="0">
                <a:solidFill>
                  <a:schemeClr val="tx1"/>
                </a:solidFill>
              </a:rPr>
              <a:t>Non-steroidal MRA if UACR ≥30 mg/g on RAS blockade; kidney −23%, CV −14% (FIDELITY)</a:t>
            </a:r>
            <a:endParaRPr lang="en-US" sz="1400" dirty="0"/>
          </a:p>
        </p:txBody>
      </p:sp>
      <p:sp>
        <p:nvSpPr>
          <p:cNvPr id="17" name="pillar-89"/>
          <p:cNvSpPr/>
          <p:nvPr/>
        </p:nvSpPr>
        <p:spPr>
          <a:xfrm>
            <a:off x="8800871" y="2286000"/>
            <a:ext cx="2293544" cy="3108960"/>
          </a:xfrm>
          <a:prstGeom prst="rect">
            <a:avLst/>
          </a:prstGeom>
          <a:solidFill>
            <a:schemeClr val="bg2"/>
          </a:solidFill>
          <a:ln/>
        </p:spPr>
      </p:sp>
      <p:sp>
        <p:nvSpPr>
          <p:cNvPr id="18" name="pillar-cap-90"/>
          <p:cNvSpPr/>
          <p:nvPr/>
        </p:nvSpPr>
        <p:spPr>
          <a:xfrm>
            <a:off x="8800871" y="2286000"/>
            <a:ext cx="2293544" cy="640080"/>
          </a:xfrm>
          <a:prstGeom prst="rect">
            <a:avLst/>
          </a:prstGeom>
          <a:solidFill>
            <a:schemeClr val="accent2"/>
          </a:solidFill>
          <a:ln/>
        </p:spPr>
      </p:sp>
      <p:sp>
        <p:nvSpPr>
          <p:cNvPr id="19" name="text-91"/>
          <p:cNvSpPr txBox="1"/>
          <p:nvPr/>
        </p:nvSpPr>
        <p:spPr>
          <a:xfrm>
            <a:off x="8938031" y="2286000"/>
            <a:ext cx="2019224" cy="640080"/>
          </a:xfrm>
          <a:prstGeom prst="rect">
            <a:avLst/>
          </a:prstGeom>
          <a:noFill/>
          <a:ln/>
        </p:spPr>
        <p:txBody>
          <a:bodyPr wrap="square" lIns="0" tIns="0" rIns="0" bIns="0" rtlCol="0" anchor="ctr"/>
          <a:lstStyle/>
          <a:p>
            <a:pPr algn="ctr" indent="0" marL="0">
              <a:buNone/>
            </a:pPr>
            <a:r>
              <a:rPr lang="en-US" sz="1600" b="1" dirty="0">
                <a:solidFill>
                  <a:schemeClr val="bg1"/>
                </a:solidFill>
              </a:rPr>
              <a:t>GLP-1 RA</a:t>
            </a:r>
            <a:endParaRPr lang="en-US" sz="1600" dirty="0"/>
          </a:p>
        </p:txBody>
      </p:sp>
      <p:sp>
        <p:nvSpPr>
          <p:cNvPr id="20" name="text-92"/>
          <p:cNvSpPr txBox="1"/>
          <p:nvPr/>
        </p:nvSpPr>
        <p:spPr>
          <a:xfrm>
            <a:off x="9029471" y="3108960"/>
            <a:ext cx="1836344" cy="2194560"/>
          </a:xfrm>
          <a:prstGeom prst="rect">
            <a:avLst/>
          </a:prstGeom>
          <a:noFill/>
          <a:ln/>
        </p:spPr>
        <p:txBody>
          <a:bodyPr wrap="square" lIns="0" tIns="0" rIns="0" bIns="0" rtlCol="0" anchor="t"/>
          <a:lstStyle/>
          <a:p>
            <a:pPr indent="0" marL="0">
              <a:buNone/>
            </a:pPr>
            <a:r>
              <a:rPr lang="en-US" sz="1400" dirty="0">
                <a:solidFill>
                  <a:schemeClr val="tx1"/>
                </a:solidFill>
              </a:rPr>
              <a:t>Semaglutide: 24% lower major kidney events (FLOW); also CV benefit</a:t>
            </a:r>
            <a:endParaRPr lang="en-US" sz="1400" dirty="0"/>
          </a:p>
        </p:txBody>
      </p:sp>
      <p:sp>
        <p:nvSpPr>
          <p:cNvPr id="21" name="base-93"/>
          <p:cNvSpPr/>
          <p:nvPr/>
        </p:nvSpPr>
        <p:spPr>
          <a:xfrm>
            <a:off x="1097280" y="5440680"/>
            <a:ext cx="9997135" cy="502920"/>
          </a:xfrm>
          <a:prstGeom prst="rect">
            <a:avLst/>
          </a:prstGeom>
          <a:solidFill>
            <a:schemeClr val="tx1"/>
          </a:solidFill>
          <a:ln/>
        </p:spPr>
      </p:sp>
      <p:sp>
        <p:nvSpPr>
          <p:cNvPr id="22" name="text-94"/>
          <p:cNvSpPr txBox="1"/>
          <p:nvPr/>
        </p:nvSpPr>
        <p:spPr>
          <a:xfrm>
            <a:off x="1097280" y="5440680"/>
            <a:ext cx="9997135" cy="502920"/>
          </a:xfrm>
          <a:prstGeom prst="rect">
            <a:avLst/>
          </a:prstGeom>
          <a:noFill/>
          <a:ln/>
        </p:spPr>
        <p:txBody>
          <a:bodyPr wrap="square" lIns="0" tIns="0" rIns="0" bIns="0" rtlCol="0" anchor="ctr"/>
          <a:lstStyle/>
          <a:p>
            <a:pPr algn="ctr" indent="0" marL="0">
              <a:buNone/>
            </a:pPr>
            <a:r>
              <a:rPr lang="en-US" sz="1500" b="1" dirty="0">
                <a:solidFill>
                  <a:schemeClr val="bg1"/>
                </a:solidFill>
              </a:rPr>
              <a:t>Foundation: BP and glucose control, statin, lifestyle, stop smoking</a:t>
            </a:r>
            <a:endParaRPr lang="en-US" sz="1500" dirty="0"/>
          </a:p>
        </p:txBody>
      </p:sp>
      <p:sp>
        <p:nvSpPr>
          <p:cNvPr id="23" name="text-95"/>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KDIGO 2022 Diabetes in CKD guideline; ADA–KDIGO consensus 2022; FIDELIO-DKD / FIGARO-DKD (FIDELITY 2022); FLOW 2024; CONFIDENCE 2025.</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Insulin: fewer injections, faster action</a:t>
            </a:r>
            <a:endParaRPr lang="en-US" sz="3400" dirty="0"/>
          </a:p>
        </p:txBody>
      </p:sp>
      <p:sp>
        <p:nvSpPr>
          <p:cNvPr id="3" name="card-96"/>
          <p:cNvSpPr/>
          <p:nvPr/>
        </p:nvSpPr>
        <p:spPr>
          <a:xfrm>
            <a:off x="548640" y="1371600"/>
            <a:ext cx="5410048" cy="2194560"/>
          </a:xfrm>
          <a:prstGeom prst="roundRect">
            <a:avLst>
              <a:gd name="adj" fmla="val 5000"/>
            </a:avLst>
          </a:prstGeom>
          <a:solidFill>
            <a:schemeClr val="bg2"/>
          </a:solidFill>
          <a:ln/>
        </p:spPr>
      </p:sp>
      <p:sp>
        <p:nvSpPr>
          <p:cNvPr id="4" name="icon-circle-97"/>
          <p:cNvSpPr/>
          <p:nvPr/>
        </p:nvSpPr>
        <p:spPr>
          <a:xfrm>
            <a:off x="822960" y="1645920"/>
            <a:ext cx="777240" cy="777240"/>
          </a:xfrm>
          <a:prstGeom prst="ellipse">
            <a:avLst/>
          </a:prstGeom>
          <a:solidFill>
            <a:schemeClr val="accent1"/>
          </a:solidFill>
          <a:ln/>
        </p:spPr>
      </p:sp>
      <p:pic>
        <p:nvPicPr>
          <p:cNvPr id="5" name="icon-98"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text-99"/>
          <p:cNvSpPr txBox="1"/>
          <p:nvPr/>
        </p:nvSpPr>
        <p:spPr>
          <a:xfrm>
            <a:off x="1828800"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Once-weekly basal insulin</a:t>
            </a:r>
            <a:endParaRPr lang="en-US" sz="1400" dirty="0"/>
          </a:p>
          <a:p>
            <a:pPr indent="0" marL="0">
              <a:buNone/>
            </a:pPr>
            <a:r>
              <a:rPr lang="en-US" sz="1400" dirty="0">
                <a:solidFill>
                  <a:schemeClr val="tx1"/>
                </a:solidFill>
              </a:rPr>
              <a:t>Insulin icodec (ONWARDS) and efsitora alfa (QWINT): HbA1c similar to or better than daily basal in T2D, with 52 instead of 365 injections a year. Hypoglycaemia higher in T1D.</a:t>
            </a:r>
            <a:endParaRPr lang="en-US" sz="1400" dirty="0"/>
          </a:p>
        </p:txBody>
      </p:sp>
      <p:sp>
        <p:nvSpPr>
          <p:cNvPr id="7" name="card-100"/>
          <p:cNvSpPr/>
          <p:nvPr/>
        </p:nvSpPr>
        <p:spPr>
          <a:xfrm>
            <a:off x="6233008" y="1371600"/>
            <a:ext cx="5410048" cy="2194560"/>
          </a:xfrm>
          <a:prstGeom prst="roundRect">
            <a:avLst>
              <a:gd name="adj" fmla="val 5000"/>
            </a:avLst>
          </a:prstGeom>
          <a:solidFill>
            <a:schemeClr val="bg2"/>
          </a:solidFill>
          <a:ln/>
        </p:spPr>
      </p:sp>
      <p:sp>
        <p:nvSpPr>
          <p:cNvPr id="8" name="icon-circle-101"/>
          <p:cNvSpPr/>
          <p:nvPr/>
        </p:nvSpPr>
        <p:spPr>
          <a:xfrm>
            <a:off x="6507328" y="1645920"/>
            <a:ext cx="777240" cy="777240"/>
          </a:xfrm>
          <a:prstGeom prst="ellipse">
            <a:avLst/>
          </a:prstGeom>
          <a:solidFill>
            <a:schemeClr val="accent3"/>
          </a:solidFill>
          <a:ln/>
        </p:spPr>
      </p:sp>
      <p:pic>
        <p:nvPicPr>
          <p:cNvPr id="9" name="icon-102" descr="preencoded.png">    </p:cNvPr>
          <p:cNvPicPr>
            <a:picLocks noChangeAspect="1"/>
          </p:cNvPicPr>
          <p:nvPr/>
        </p:nvPicPr>
        <p:blipFill>
          <a:blip r:embed="rId2"/>
          <a:stretch>
            <a:fillRect/>
          </a:stretch>
        </p:blipFill>
        <p:spPr>
          <a:xfrm>
            <a:off x="6701638" y="1840230"/>
            <a:ext cx="388620" cy="388620"/>
          </a:xfrm>
          <a:prstGeom prst="rect">
            <a:avLst/>
          </a:prstGeom>
        </p:spPr>
      </p:pic>
      <p:sp>
        <p:nvSpPr>
          <p:cNvPr id="10" name="text-103"/>
          <p:cNvSpPr txBox="1"/>
          <p:nvPr/>
        </p:nvSpPr>
        <p:spPr>
          <a:xfrm>
            <a:off x="7513168"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Ultra-rapid prandial insulin</a:t>
            </a:r>
            <a:endParaRPr lang="en-US" sz="1400" dirty="0"/>
          </a:p>
          <a:p>
            <a:pPr indent="0" marL="0">
              <a:buNone/>
            </a:pPr>
            <a:r>
              <a:rPr lang="en-US" sz="1400" dirty="0">
                <a:solidFill>
                  <a:schemeClr val="tx1"/>
                </a:solidFill>
              </a:rPr>
              <a:t>Faster aspart and ultra-rapid lispro better match meal-time glucose peaks and suit pumps.</a:t>
            </a:r>
            <a:endParaRPr lang="en-US" sz="1400" dirty="0"/>
          </a:p>
        </p:txBody>
      </p:sp>
      <p:sp>
        <p:nvSpPr>
          <p:cNvPr id="11" name="card-104"/>
          <p:cNvSpPr/>
          <p:nvPr/>
        </p:nvSpPr>
        <p:spPr>
          <a:xfrm>
            <a:off x="548640" y="3840480"/>
            <a:ext cx="5410048" cy="2194560"/>
          </a:xfrm>
          <a:prstGeom prst="roundRect">
            <a:avLst>
              <a:gd name="adj" fmla="val 5000"/>
            </a:avLst>
          </a:prstGeom>
          <a:solidFill>
            <a:schemeClr val="bg2"/>
          </a:solidFill>
          <a:ln/>
        </p:spPr>
      </p:sp>
      <p:sp>
        <p:nvSpPr>
          <p:cNvPr id="12" name="icon-circle-105"/>
          <p:cNvSpPr/>
          <p:nvPr/>
        </p:nvSpPr>
        <p:spPr>
          <a:xfrm>
            <a:off x="822960" y="4114800"/>
            <a:ext cx="777240" cy="777240"/>
          </a:xfrm>
          <a:prstGeom prst="ellipse">
            <a:avLst/>
          </a:prstGeom>
          <a:solidFill>
            <a:schemeClr val="accent6"/>
          </a:solidFill>
          <a:ln/>
        </p:spPr>
      </p:sp>
      <p:pic>
        <p:nvPicPr>
          <p:cNvPr id="13" name="icon-106" descr="preencoded.png">    </p:cNvPr>
          <p:cNvPicPr>
            <a:picLocks noChangeAspect="1"/>
          </p:cNvPicPr>
          <p:nvPr/>
        </p:nvPicPr>
        <p:blipFill>
          <a:blip r:embed="rId3"/>
          <a:stretch>
            <a:fillRect/>
          </a:stretch>
        </p:blipFill>
        <p:spPr>
          <a:xfrm>
            <a:off x="1017270" y="4309110"/>
            <a:ext cx="388620" cy="388620"/>
          </a:xfrm>
          <a:prstGeom prst="rect">
            <a:avLst/>
          </a:prstGeom>
        </p:spPr>
      </p:pic>
      <p:sp>
        <p:nvSpPr>
          <p:cNvPr id="14" name="text-107"/>
          <p:cNvSpPr txBox="1"/>
          <p:nvPr/>
        </p:nvSpPr>
        <p:spPr>
          <a:xfrm>
            <a:off x="1828800"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Fixed-ratio combinations</a:t>
            </a:r>
            <a:endParaRPr lang="en-US" sz="1400" dirty="0"/>
          </a:p>
          <a:p>
            <a:pPr indent="0" marL="0">
              <a:buNone/>
            </a:pPr>
            <a:r>
              <a:rPr lang="en-US" sz="1400" dirty="0">
                <a:solidFill>
                  <a:schemeClr val="tx1"/>
                </a:solidFill>
              </a:rPr>
              <a:t>Basal insulin + GLP-1 RA (iGlarLixi, IDegLira; icodec + semaglutide in development): less weight gain and hypoglycaemia.</a:t>
            </a:r>
            <a:endParaRPr lang="en-US" sz="1400" dirty="0"/>
          </a:p>
        </p:txBody>
      </p:sp>
      <p:sp>
        <p:nvSpPr>
          <p:cNvPr id="15" name="card-108"/>
          <p:cNvSpPr/>
          <p:nvPr/>
        </p:nvSpPr>
        <p:spPr>
          <a:xfrm>
            <a:off x="6233008" y="3840480"/>
            <a:ext cx="5410048" cy="2194560"/>
          </a:xfrm>
          <a:prstGeom prst="roundRect">
            <a:avLst>
              <a:gd name="adj" fmla="val 5000"/>
            </a:avLst>
          </a:prstGeom>
          <a:solidFill>
            <a:schemeClr val="bg2"/>
          </a:solidFill>
          <a:ln/>
        </p:spPr>
      </p:sp>
      <p:sp>
        <p:nvSpPr>
          <p:cNvPr id="16" name="icon-circle-109"/>
          <p:cNvSpPr/>
          <p:nvPr/>
        </p:nvSpPr>
        <p:spPr>
          <a:xfrm>
            <a:off x="6507328" y="4114800"/>
            <a:ext cx="777240" cy="777240"/>
          </a:xfrm>
          <a:prstGeom prst="ellipse">
            <a:avLst/>
          </a:prstGeom>
          <a:solidFill>
            <a:schemeClr val="accent2"/>
          </a:solidFill>
          <a:ln/>
        </p:spPr>
      </p:sp>
      <p:pic>
        <p:nvPicPr>
          <p:cNvPr id="17" name="icon-110" descr="preencoded.png">    </p:cNvPr>
          <p:cNvPicPr>
            <a:picLocks noChangeAspect="1"/>
          </p:cNvPicPr>
          <p:nvPr/>
        </p:nvPicPr>
        <p:blipFill>
          <a:blip r:embed="rId4"/>
          <a:stretch>
            <a:fillRect/>
          </a:stretch>
        </p:blipFill>
        <p:spPr>
          <a:xfrm>
            <a:off x="6701638" y="4309110"/>
            <a:ext cx="388620" cy="388620"/>
          </a:xfrm>
          <a:prstGeom prst="rect">
            <a:avLst/>
          </a:prstGeom>
        </p:spPr>
      </p:pic>
      <p:sp>
        <p:nvSpPr>
          <p:cNvPr id="18" name="text-111"/>
          <p:cNvSpPr txBox="1"/>
          <p:nvPr/>
        </p:nvSpPr>
        <p:spPr>
          <a:xfrm>
            <a:off x="7513168"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Access and biosimilars</a:t>
            </a:r>
            <a:endParaRPr lang="en-US" sz="1400" dirty="0"/>
          </a:p>
          <a:p>
            <a:pPr indent="0" marL="0">
              <a:buNone/>
            </a:pPr>
            <a:r>
              <a:rPr lang="en-US" sz="1400" dirty="0">
                <a:solidFill>
                  <a:schemeClr val="tx1"/>
                </a:solidFill>
              </a:rPr>
              <a:t>Biosimilar glargine and lower prices widen access; WHO prequalification of insulin supports supply in LMICs.</a:t>
            </a:r>
            <a:endParaRPr lang="en-US" sz="1400" dirty="0"/>
          </a:p>
        </p:txBody>
      </p:sp>
      <p:sp>
        <p:nvSpPr>
          <p:cNvPr id="19" name="text-112"/>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ONWARDS 1–6 (NEJM / Lancet 2023); QWINT programme (2024–2025); ADA Standards, Section 9; WHO insulin prequalification (2019).</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Type 1 diabetes: modifying the disease</a:t>
            </a:r>
            <a:endParaRPr lang="en-US" sz="3400" dirty="0"/>
          </a:p>
        </p:txBody>
      </p:sp>
      <p:sp>
        <p:nvSpPr>
          <p:cNvPr id="3" name="card-113"/>
          <p:cNvSpPr/>
          <p:nvPr/>
        </p:nvSpPr>
        <p:spPr>
          <a:xfrm>
            <a:off x="548640" y="1371600"/>
            <a:ext cx="3515258" cy="3840480"/>
          </a:xfrm>
          <a:prstGeom prst="roundRect">
            <a:avLst>
              <a:gd name="adj" fmla="val 3121"/>
            </a:avLst>
          </a:prstGeom>
          <a:solidFill>
            <a:schemeClr val="bg2"/>
          </a:solidFill>
          <a:ln/>
        </p:spPr>
      </p:sp>
      <p:sp>
        <p:nvSpPr>
          <p:cNvPr id="4" name="ring-114"/>
          <p:cNvSpPr/>
          <p:nvPr/>
        </p:nvSpPr>
        <p:spPr>
          <a:xfrm>
            <a:off x="822960" y="1645920"/>
            <a:ext cx="685800" cy="685800"/>
          </a:xfrm>
          <a:prstGeom prst="ellipse">
            <a:avLst/>
          </a:prstGeom>
          <a:ln w="50800">
            <a:solidFill>
              <a:schemeClr val="accent6"/>
            </a:solidFill>
            <a:prstDash val="solid"/>
          </a:ln>
        </p:spPr>
      </p:sp>
      <p:sp>
        <p:nvSpPr>
          <p:cNvPr id="5" name="text-115"/>
          <p:cNvSpPr txBox="1"/>
          <p:nvPr/>
        </p:nvSpPr>
        <p:spPr>
          <a:xfrm>
            <a:off x="822960" y="16459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1</a:t>
            </a:r>
            <a:endParaRPr lang="en-US" sz="2200" dirty="0"/>
          </a:p>
        </p:txBody>
      </p:sp>
      <p:sp>
        <p:nvSpPr>
          <p:cNvPr id="6" name="text-116"/>
          <p:cNvSpPr txBox="1"/>
          <p:nvPr/>
        </p:nvSpPr>
        <p:spPr>
          <a:xfrm>
            <a:off x="1691640" y="1645920"/>
            <a:ext cx="2143658" cy="685800"/>
          </a:xfrm>
          <a:prstGeom prst="rect">
            <a:avLst/>
          </a:prstGeom>
          <a:noFill/>
          <a:ln/>
        </p:spPr>
        <p:txBody>
          <a:bodyPr wrap="square" lIns="0" tIns="0" rIns="0" bIns="0" rtlCol="0" anchor="ctr"/>
          <a:lstStyle/>
          <a:p>
            <a:pPr indent="0" marL="0">
              <a:buNone/>
            </a:pPr>
            <a:r>
              <a:rPr lang="en-US" sz="1800" b="1" dirty="0">
                <a:solidFill>
                  <a:schemeClr val="accent6"/>
                </a:solidFill>
              </a:rPr>
              <a:t>Delay onset</a:t>
            </a:r>
            <a:endParaRPr lang="en-US" sz="1800" dirty="0"/>
          </a:p>
        </p:txBody>
      </p:sp>
      <p:sp>
        <p:nvSpPr>
          <p:cNvPr id="7" name="text-117"/>
          <p:cNvSpPr txBox="1"/>
          <p:nvPr/>
        </p:nvSpPr>
        <p:spPr>
          <a:xfrm>
            <a:off x="822960" y="2560320"/>
            <a:ext cx="2966618" cy="25603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Teplizumab (anti-CD3)</a:t>
            </a:r>
            <a:endParaRPr lang="en-US" sz="1400" dirty="0"/>
          </a:p>
          <a:p>
            <a:pPr indent="0" marL="0">
              <a:buNone/>
            </a:pPr>
            <a:r>
              <a:rPr lang="en-US" sz="1400" dirty="0">
                <a:solidFill>
                  <a:schemeClr val="tx1"/>
                </a:solidFill>
              </a:rPr>
              <a:t>Delays stage 3 T1D by ~2–3 years in people ≥8 years with stage 2 disease (FDA 2022).</a:t>
            </a:r>
            <a:endParaRPr lang="en-US" sz="1400" dirty="0"/>
          </a:p>
        </p:txBody>
      </p:sp>
      <p:sp>
        <p:nvSpPr>
          <p:cNvPr id="8" name="card-118"/>
          <p:cNvSpPr/>
          <p:nvPr/>
        </p:nvSpPr>
        <p:spPr>
          <a:xfrm>
            <a:off x="4338218" y="1371600"/>
            <a:ext cx="3515258" cy="3840480"/>
          </a:xfrm>
          <a:prstGeom prst="roundRect">
            <a:avLst>
              <a:gd name="adj" fmla="val 3121"/>
            </a:avLst>
          </a:prstGeom>
          <a:solidFill>
            <a:schemeClr val="bg2"/>
          </a:solidFill>
          <a:ln/>
        </p:spPr>
      </p:sp>
      <p:sp>
        <p:nvSpPr>
          <p:cNvPr id="9" name="ring-119"/>
          <p:cNvSpPr/>
          <p:nvPr/>
        </p:nvSpPr>
        <p:spPr>
          <a:xfrm>
            <a:off x="4612538" y="1645920"/>
            <a:ext cx="685800" cy="685800"/>
          </a:xfrm>
          <a:prstGeom prst="ellipse">
            <a:avLst/>
          </a:prstGeom>
          <a:ln w="50800">
            <a:solidFill>
              <a:schemeClr val="accent1"/>
            </a:solidFill>
            <a:prstDash val="solid"/>
          </a:ln>
        </p:spPr>
      </p:sp>
      <p:sp>
        <p:nvSpPr>
          <p:cNvPr id="10" name="text-120"/>
          <p:cNvSpPr txBox="1"/>
          <p:nvPr/>
        </p:nvSpPr>
        <p:spPr>
          <a:xfrm>
            <a:off x="4612538" y="16459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2</a:t>
            </a:r>
            <a:endParaRPr lang="en-US" sz="2200" dirty="0"/>
          </a:p>
        </p:txBody>
      </p:sp>
      <p:sp>
        <p:nvSpPr>
          <p:cNvPr id="11" name="text-121"/>
          <p:cNvSpPr txBox="1"/>
          <p:nvPr/>
        </p:nvSpPr>
        <p:spPr>
          <a:xfrm>
            <a:off x="5481218" y="1645920"/>
            <a:ext cx="2143658" cy="685800"/>
          </a:xfrm>
          <a:prstGeom prst="rect">
            <a:avLst/>
          </a:prstGeom>
          <a:noFill/>
          <a:ln/>
        </p:spPr>
        <p:txBody>
          <a:bodyPr wrap="square" lIns="0" tIns="0" rIns="0" bIns="0" rtlCol="0" anchor="ctr"/>
          <a:lstStyle/>
          <a:p>
            <a:pPr indent="0" marL="0">
              <a:buNone/>
            </a:pPr>
            <a:r>
              <a:rPr lang="en-US" sz="1800" b="1" dirty="0">
                <a:solidFill>
                  <a:schemeClr val="accent1"/>
                </a:solidFill>
              </a:rPr>
              <a:t>Preserve β-cells</a:t>
            </a:r>
            <a:endParaRPr lang="en-US" sz="1800" dirty="0"/>
          </a:p>
        </p:txBody>
      </p:sp>
      <p:sp>
        <p:nvSpPr>
          <p:cNvPr id="12" name="text-122"/>
          <p:cNvSpPr txBox="1"/>
          <p:nvPr/>
        </p:nvSpPr>
        <p:spPr>
          <a:xfrm>
            <a:off x="4612538" y="2560320"/>
            <a:ext cx="2966618" cy="25603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Baricitinib, verapamil</a:t>
            </a:r>
            <a:endParaRPr lang="en-US" sz="1400" dirty="0"/>
          </a:p>
          <a:p>
            <a:pPr indent="0" marL="0">
              <a:buNone/>
            </a:pPr>
            <a:r>
              <a:rPr lang="en-US" sz="1400" dirty="0">
                <a:solidFill>
                  <a:schemeClr val="tx1"/>
                </a:solidFill>
              </a:rPr>
              <a:t>Preserved C-peptide after new-onset T1D in BANDIT (2023) and CLVer (2023) trials.</a:t>
            </a:r>
            <a:endParaRPr lang="en-US" sz="1400" dirty="0"/>
          </a:p>
        </p:txBody>
      </p:sp>
      <p:sp>
        <p:nvSpPr>
          <p:cNvPr id="13" name="card-123"/>
          <p:cNvSpPr/>
          <p:nvPr/>
        </p:nvSpPr>
        <p:spPr>
          <a:xfrm>
            <a:off x="8127797" y="1371600"/>
            <a:ext cx="3515258" cy="3840480"/>
          </a:xfrm>
          <a:prstGeom prst="roundRect">
            <a:avLst>
              <a:gd name="adj" fmla="val 3121"/>
            </a:avLst>
          </a:prstGeom>
          <a:solidFill>
            <a:schemeClr val="bg2"/>
          </a:solidFill>
          <a:ln/>
        </p:spPr>
      </p:sp>
      <p:sp>
        <p:nvSpPr>
          <p:cNvPr id="14" name="ring-124"/>
          <p:cNvSpPr/>
          <p:nvPr/>
        </p:nvSpPr>
        <p:spPr>
          <a:xfrm>
            <a:off x="8402117" y="1645920"/>
            <a:ext cx="685800" cy="685800"/>
          </a:xfrm>
          <a:prstGeom prst="ellipse">
            <a:avLst/>
          </a:prstGeom>
          <a:ln w="50800">
            <a:solidFill>
              <a:schemeClr val="accent3"/>
            </a:solidFill>
            <a:prstDash val="solid"/>
          </a:ln>
        </p:spPr>
      </p:sp>
      <p:sp>
        <p:nvSpPr>
          <p:cNvPr id="15" name="text-125"/>
          <p:cNvSpPr txBox="1"/>
          <p:nvPr/>
        </p:nvSpPr>
        <p:spPr>
          <a:xfrm>
            <a:off x="8402117" y="16459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6" name="text-126"/>
          <p:cNvSpPr txBox="1"/>
          <p:nvPr/>
        </p:nvSpPr>
        <p:spPr>
          <a:xfrm>
            <a:off x="9270797" y="1645920"/>
            <a:ext cx="2143658" cy="685800"/>
          </a:xfrm>
          <a:prstGeom prst="rect">
            <a:avLst/>
          </a:prstGeom>
          <a:noFill/>
          <a:ln/>
        </p:spPr>
        <p:txBody>
          <a:bodyPr wrap="square" lIns="0" tIns="0" rIns="0" bIns="0" rtlCol="0" anchor="ctr"/>
          <a:lstStyle/>
          <a:p>
            <a:pPr indent="0" marL="0">
              <a:buNone/>
            </a:pPr>
            <a:r>
              <a:rPr lang="en-US" sz="1800" b="1" dirty="0">
                <a:solidFill>
                  <a:schemeClr val="accent3"/>
                </a:solidFill>
              </a:rPr>
              <a:t>Replace islets</a:t>
            </a:r>
            <a:endParaRPr lang="en-US" sz="1800" dirty="0"/>
          </a:p>
        </p:txBody>
      </p:sp>
      <p:sp>
        <p:nvSpPr>
          <p:cNvPr id="17" name="text-127"/>
          <p:cNvSpPr txBox="1"/>
          <p:nvPr/>
        </p:nvSpPr>
        <p:spPr>
          <a:xfrm>
            <a:off x="8402117" y="2560320"/>
            <a:ext cx="2966618" cy="25603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Donor and stem-cell islets</a:t>
            </a:r>
            <a:endParaRPr lang="en-US" sz="1400" dirty="0"/>
          </a:p>
          <a:p>
            <a:pPr indent="0" marL="0">
              <a:buNone/>
            </a:pPr>
            <a:r>
              <a:rPr lang="en-US" sz="1400" dirty="0">
                <a:solidFill>
                  <a:schemeClr val="tx1"/>
                </a:solidFill>
              </a:rPr>
              <a:t>Donislecel approved (FDA 2023). Stem-cell-derived zimislecel: 10 of 12 insulin-independent at 1 year (2025), with immunosuppression.</a:t>
            </a:r>
            <a:endParaRPr lang="en-US" sz="1400" dirty="0"/>
          </a:p>
        </p:txBody>
      </p:sp>
      <p:sp>
        <p:nvSpPr>
          <p:cNvPr id="18" name="card-128"/>
          <p:cNvSpPr/>
          <p:nvPr/>
        </p:nvSpPr>
        <p:spPr>
          <a:xfrm>
            <a:off x="548640" y="5440680"/>
            <a:ext cx="11094415" cy="548640"/>
          </a:xfrm>
          <a:prstGeom prst="roundRect">
            <a:avLst>
              <a:gd name="adj" fmla="val 20000"/>
            </a:avLst>
          </a:prstGeom>
          <a:solidFill>
            <a:schemeClr val="tx1"/>
          </a:solidFill>
          <a:ln/>
        </p:spPr>
      </p:sp>
      <p:sp>
        <p:nvSpPr>
          <p:cNvPr id="19" name="text-129"/>
          <p:cNvSpPr txBox="1"/>
          <p:nvPr/>
        </p:nvSpPr>
        <p:spPr>
          <a:xfrm>
            <a:off x="822960" y="5440680"/>
            <a:ext cx="10545775" cy="548640"/>
          </a:xfrm>
          <a:prstGeom prst="rect">
            <a:avLst/>
          </a:prstGeom>
          <a:noFill/>
          <a:ln/>
        </p:spPr>
        <p:txBody>
          <a:bodyPr wrap="square" lIns="0" tIns="0" rIns="0" bIns="0" rtlCol="0" anchor="ctr"/>
          <a:lstStyle/>
          <a:p>
            <a:pPr indent="0" marL="0">
              <a:buNone/>
            </a:pPr>
            <a:r>
              <a:rPr lang="en-US" sz="1500" b="1" dirty="0">
                <a:solidFill>
                  <a:schemeClr val="bg1"/>
                </a:solidFill>
              </a:rPr>
              <a:t>Islet-autoantibody screening now lets us identify and treat type 1 diabetes before symptoms.</a:t>
            </a:r>
            <a:endParaRPr lang="en-US" sz="1500" dirty="0"/>
          </a:p>
        </p:txBody>
      </p:sp>
      <p:sp>
        <p:nvSpPr>
          <p:cNvPr id="20" name="text-13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Herold et al. NEJM 2019 (TN-10); Waibel et al. NEJM 2023 (BANDIT); Forlenza et al. JAMA 2023 (CLVer); Reichman et al. NEJM 2025 (zimislecel); ADA Standards, Section 3.</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PART 2</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Diabetes technology</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Continuous glucose monitoring, automated insulin delivery and digital health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CGM and time in range</a:t>
            </a:r>
            <a:endParaRPr lang="en-US" sz="3400" dirty="0"/>
          </a:p>
        </p:txBody>
      </p:sp>
      <p:sp>
        <p:nvSpPr>
          <p:cNvPr id="3" name="band-131"/>
          <p:cNvSpPr/>
          <p:nvPr/>
        </p:nvSpPr>
        <p:spPr>
          <a:xfrm>
            <a:off x="548640" y="1371600"/>
            <a:ext cx="1188720" cy="594360"/>
          </a:xfrm>
          <a:prstGeom prst="rect">
            <a:avLst/>
          </a:prstGeom>
          <a:solidFill>
            <a:schemeClr val="accent4"/>
          </a:solidFill>
          <a:ln w="19050">
            <a:solidFill>
              <a:srgbClr val="FFFFFF"/>
            </a:solidFill>
            <a:prstDash val="solid"/>
          </a:ln>
        </p:spPr>
      </p:sp>
      <p:sp>
        <p:nvSpPr>
          <p:cNvPr id="4" name="text-132"/>
          <p:cNvSpPr txBox="1"/>
          <p:nvPr/>
        </p:nvSpPr>
        <p:spPr>
          <a:xfrm>
            <a:off x="1920240" y="1371600"/>
            <a:ext cx="3657600" cy="594360"/>
          </a:xfrm>
          <a:prstGeom prst="rect">
            <a:avLst/>
          </a:prstGeom>
          <a:noFill/>
          <a:ln/>
        </p:spPr>
        <p:txBody>
          <a:bodyPr wrap="square" lIns="0" tIns="0" rIns="0" bIns="0" rtlCol="0" anchor="ctr"/>
          <a:lstStyle/>
          <a:p>
            <a:pPr indent="0" marL="0">
              <a:buNone/>
            </a:pPr>
            <a:r>
              <a:rPr lang="en-US" sz="1400" dirty="0">
                <a:solidFill>
                  <a:schemeClr val="tx1"/>
                </a:solidFill>
              </a:rPr>
              <a:t>Very high  &gt;13.9 mmol/L</a:t>
            </a:r>
            <a:endParaRPr lang="en-US" sz="1400" dirty="0"/>
          </a:p>
          <a:p>
            <a:pPr indent="0" marL="0">
              <a:buNone/>
            </a:pPr>
            <a:r>
              <a:rPr lang="en-US" sz="1400" b="1" dirty="0">
                <a:solidFill>
                  <a:schemeClr val="tx2"/>
                </a:solidFill>
              </a:rPr>
              <a:t>Target &lt;5%</a:t>
            </a:r>
            <a:endParaRPr lang="en-US" sz="1400" dirty="0"/>
          </a:p>
        </p:txBody>
      </p:sp>
      <p:sp>
        <p:nvSpPr>
          <p:cNvPr id="5" name="band-133"/>
          <p:cNvSpPr/>
          <p:nvPr/>
        </p:nvSpPr>
        <p:spPr>
          <a:xfrm>
            <a:off x="548640" y="1965960"/>
            <a:ext cx="1188720" cy="640080"/>
          </a:xfrm>
          <a:prstGeom prst="rect">
            <a:avLst/>
          </a:prstGeom>
          <a:solidFill>
            <a:srgbClr val="F6C67E"/>
          </a:solidFill>
          <a:ln w="19050">
            <a:solidFill>
              <a:srgbClr val="FFFFFF"/>
            </a:solidFill>
            <a:prstDash val="solid"/>
          </a:ln>
        </p:spPr>
      </p:sp>
      <p:sp>
        <p:nvSpPr>
          <p:cNvPr id="6" name="text-134"/>
          <p:cNvSpPr txBox="1"/>
          <p:nvPr/>
        </p:nvSpPr>
        <p:spPr>
          <a:xfrm>
            <a:off x="1920240" y="1965960"/>
            <a:ext cx="3657600" cy="640080"/>
          </a:xfrm>
          <a:prstGeom prst="rect">
            <a:avLst/>
          </a:prstGeom>
          <a:noFill/>
          <a:ln/>
        </p:spPr>
        <p:txBody>
          <a:bodyPr wrap="square" lIns="0" tIns="0" rIns="0" bIns="0" rtlCol="0" anchor="ctr"/>
          <a:lstStyle/>
          <a:p>
            <a:pPr indent="0" marL="0">
              <a:buNone/>
            </a:pPr>
            <a:r>
              <a:rPr lang="en-US" sz="1400" dirty="0">
                <a:solidFill>
                  <a:schemeClr val="tx1"/>
                </a:solidFill>
              </a:rPr>
              <a:t>High  10.1–13.9 mmol/L</a:t>
            </a:r>
            <a:endParaRPr lang="en-US" sz="1400" dirty="0"/>
          </a:p>
          <a:p>
            <a:pPr indent="0" marL="0">
              <a:buNone/>
            </a:pPr>
            <a:r>
              <a:rPr lang="en-US" sz="1400" b="1" dirty="0">
                <a:solidFill>
                  <a:schemeClr val="tx2"/>
                </a:solidFill>
              </a:rPr>
              <a:t>Target &lt;25% (both high bands)</a:t>
            </a:r>
            <a:endParaRPr lang="en-US" sz="1400" dirty="0"/>
          </a:p>
        </p:txBody>
      </p:sp>
      <p:sp>
        <p:nvSpPr>
          <p:cNvPr id="7" name="band-135"/>
          <p:cNvSpPr/>
          <p:nvPr/>
        </p:nvSpPr>
        <p:spPr>
          <a:xfrm>
            <a:off x="548640" y="2606040"/>
            <a:ext cx="1188720" cy="1691640"/>
          </a:xfrm>
          <a:prstGeom prst="rect">
            <a:avLst/>
          </a:prstGeom>
          <a:solidFill>
            <a:schemeClr val="accent3"/>
          </a:solidFill>
          <a:ln w="19050">
            <a:solidFill>
              <a:srgbClr val="FFFFFF"/>
            </a:solidFill>
            <a:prstDash val="solid"/>
          </a:ln>
        </p:spPr>
      </p:sp>
      <p:sp>
        <p:nvSpPr>
          <p:cNvPr id="8" name="text-136"/>
          <p:cNvSpPr txBox="1"/>
          <p:nvPr/>
        </p:nvSpPr>
        <p:spPr>
          <a:xfrm>
            <a:off x="1920240" y="2606040"/>
            <a:ext cx="3657600" cy="1691640"/>
          </a:xfrm>
          <a:prstGeom prst="rect">
            <a:avLst/>
          </a:prstGeom>
          <a:noFill/>
          <a:ln/>
        </p:spPr>
        <p:txBody>
          <a:bodyPr wrap="square" lIns="0" tIns="0" rIns="0" bIns="0" rtlCol="0" anchor="ctr"/>
          <a:lstStyle/>
          <a:p>
            <a:pPr indent="0" marL="0">
              <a:buNone/>
            </a:pPr>
            <a:r>
              <a:rPr lang="en-US" sz="1400" dirty="0">
                <a:solidFill>
                  <a:schemeClr val="tx1"/>
                </a:solidFill>
              </a:rPr>
              <a:t>Target range  3.9–10.0 mmol/L</a:t>
            </a:r>
            <a:endParaRPr lang="en-US" sz="1400" dirty="0"/>
          </a:p>
          <a:p>
            <a:pPr indent="0" marL="0">
              <a:buNone/>
            </a:pPr>
            <a:r>
              <a:rPr lang="en-US" sz="1400" b="1" dirty="0">
                <a:solidFill>
                  <a:schemeClr val="tx2"/>
                </a:solidFill>
              </a:rPr>
              <a:t>Target &gt;70%</a:t>
            </a:r>
            <a:endParaRPr lang="en-US" sz="1400" dirty="0"/>
          </a:p>
        </p:txBody>
      </p:sp>
      <p:sp>
        <p:nvSpPr>
          <p:cNvPr id="9" name="band-137"/>
          <p:cNvSpPr/>
          <p:nvPr/>
        </p:nvSpPr>
        <p:spPr>
          <a:xfrm>
            <a:off x="548640" y="4297680"/>
            <a:ext cx="1188720" cy="640080"/>
          </a:xfrm>
          <a:prstGeom prst="rect">
            <a:avLst/>
          </a:prstGeom>
          <a:solidFill>
            <a:schemeClr val="accent2"/>
          </a:solidFill>
          <a:ln w="19050">
            <a:solidFill>
              <a:srgbClr val="FFFFFF"/>
            </a:solidFill>
            <a:prstDash val="solid"/>
          </a:ln>
        </p:spPr>
      </p:sp>
      <p:sp>
        <p:nvSpPr>
          <p:cNvPr id="10" name="text-138"/>
          <p:cNvSpPr txBox="1"/>
          <p:nvPr/>
        </p:nvSpPr>
        <p:spPr>
          <a:xfrm>
            <a:off x="1920240" y="4297680"/>
            <a:ext cx="3657600" cy="640080"/>
          </a:xfrm>
          <a:prstGeom prst="rect">
            <a:avLst/>
          </a:prstGeom>
          <a:noFill/>
          <a:ln/>
        </p:spPr>
        <p:txBody>
          <a:bodyPr wrap="square" lIns="0" tIns="0" rIns="0" bIns="0" rtlCol="0" anchor="ctr"/>
          <a:lstStyle/>
          <a:p>
            <a:pPr indent="0" marL="0">
              <a:buNone/>
            </a:pPr>
            <a:r>
              <a:rPr lang="en-US" sz="1400" dirty="0">
                <a:solidFill>
                  <a:schemeClr val="tx1"/>
                </a:solidFill>
              </a:rPr>
              <a:t>Low  3.0–3.8 mmol/L</a:t>
            </a:r>
            <a:endParaRPr lang="en-US" sz="1400" dirty="0"/>
          </a:p>
          <a:p>
            <a:pPr indent="0" marL="0">
              <a:buNone/>
            </a:pPr>
            <a:r>
              <a:rPr lang="en-US" sz="1400" b="1" dirty="0">
                <a:solidFill>
                  <a:schemeClr val="tx2"/>
                </a:solidFill>
              </a:rPr>
              <a:t>Target &lt;4% (both low bands)</a:t>
            </a:r>
            <a:endParaRPr lang="en-US" sz="1400" dirty="0"/>
          </a:p>
        </p:txBody>
      </p:sp>
      <p:sp>
        <p:nvSpPr>
          <p:cNvPr id="11" name="band-139"/>
          <p:cNvSpPr/>
          <p:nvPr/>
        </p:nvSpPr>
        <p:spPr>
          <a:xfrm>
            <a:off x="548640" y="4937760"/>
            <a:ext cx="1188720" cy="594360"/>
          </a:xfrm>
          <a:prstGeom prst="rect">
            <a:avLst/>
          </a:prstGeom>
          <a:solidFill>
            <a:srgbClr val="A3341A"/>
          </a:solidFill>
          <a:ln w="19050">
            <a:solidFill>
              <a:srgbClr val="FFFFFF"/>
            </a:solidFill>
            <a:prstDash val="solid"/>
          </a:ln>
        </p:spPr>
      </p:sp>
      <p:sp>
        <p:nvSpPr>
          <p:cNvPr id="12" name="text-140"/>
          <p:cNvSpPr txBox="1"/>
          <p:nvPr/>
        </p:nvSpPr>
        <p:spPr>
          <a:xfrm>
            <a:off x="1920240" y="4937760"/>
            <a:ext cx="3657600" cy="594360"/>
          </a:xfrm>
          <a:prstGeom prst="rect">
            <a:avLst/>
          </a:prstGeom>
          <a:noFill/>
          <a:ln/>
        </p:spPr>
        <p:txBody>
          <a:bodyPr wrap="square" lIns="0" tIns="0" rIns="0" bIns="0" rtlCol="0" anchor="ctr"/>
          <a:lstStyle/>
          <a:p>
            <a:pPr indent="0" marL="0">
              <a:buNone/>
            </a:pPr>
            <a:r>
              <a:rPr lang="en-US" sz="1400" dirty="0">
                <a:solidFill>
                  <a:schemeClr val="tx1"/>
                </a:solidFill>
              </a:rPr>
              <a:t>Very low  &lt;3.0 mmol/L</a:t>
            </a:r>
            <a:endParaRPr lang="en-US" sz="1400" dirty="0"/>
          </a:p>
          <a:p>
            <a:pPr indent="0" marL="0">
              <a:buNone/>
            </a:pPr>
            <a:r>
              <a:rPr lang="en-US" sz="1400" b="1" dirty="0">
                <a:solidFill>
                  <a:schemeClr val="tx2"/>
                </a:solidFill>
              </a:rPr>
              <a:t>Target &lt;1%</a:t>
            </a:r>
            <a:endParaRPr lang="en-US" sz="1400" dirty="0"/>
          </a:p>
        </p:txBody>
      </p:sp>
      <p:sp>
        <p:nvSpPr>
          <p:cNvPr id="13" name="text-141"/>
          <p:cNvSpPr txBox="1"/>
          <p:nvPr/>
        </p:nvSpPr>
        <p:spPr>
          <a:xfrm>
            <a:off x="548640" y="5596128"/>
            <a:ext cx="5303520" cy="365760"/>
          </a:xfrm>
          <a:prstGeom prst="rect">
            <a:avLst/>
          </a:prstGeom>
          <a:noFill/>
          <a:ln/>
        </p:spPr>
        <p:txBody>
          <a:bodyPr wrap="square" lIns="0" tIns="0" rIns="0" bIns="0" rtlCol="0" anchor="t"/>
          <a:lstStyle/>
          <a:p>
            <a:pPr indent="0" marL="0">
              <a:buNone/>
            </a:pPr>
            <a:r>
              <a:rPr lang="en-US" sz="1300" i="1" dirty="0">
                <a:solidFill>
                  <a:schemeClr val="tx2"/>
                </a:solidFill>
              </a:rPr>
              <a:t>Older / high-risk: TIR &gt;50%. Pregnancy (T1D): 3.5–7.8 mmol/L &gt;70%.</a:t>
            </a:r>
            <a:endParaRPr lang="en-US" sz="1300" dirty="0"/>
          </a:p>
        </p:txBody>
      </p:sp>
      <p:sp>
        <p:nvSpPr>
          <p:cNvPr id="14" name="card-142"/>
          <p:cNvSpPr/>
          <p:nvPr/>
        </p:nvSpPr>
        <p:spPr>
          <a:xfrm>
            <a:off x="6035040" y="1371600"/>
            <a:ext cx="5608015" cy="4617720"/>
          </a:xfrm>
          <a:prstGeom prst="roundRect">
            <a:avLst>
              <a:gd name="adj" fmla="val 2376"/>
            </a:avLst>
          </a:prstGeom>
          <a:solidFill>
            <a:schemeClr val="bg2"/>
          </a:solidFill>
          <a:ln/>
        </p:spPr>
      </p:sp>
      <p:sp>
        <p:nvSpPr>
          <p:cNvPr id="15" name="text-143"/>
          <p:cNvSpPr txBox="1"/>
          <p:nvPr/>
        </p:nvSpPr>
        <p:spPr>
          <a:xfrm>
            <a:off x="6309360" y="1600200"/>
            <a:ext cx="5059375" cy="42062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What has changed</a:t>
            </a:r>
            <a:endParaRPr lang="en-US" sz="1400" dirty="0"/>
          </a:p>
          <a:p>
            <a:pPr marL="177800" indent="-177800">
              <a:spcAft>
                <a:spcPts val="800"/>
              </a:spcAft>
              <a:buSzPct val="100000"/>
              <a:buChar char="•"/>
            </a:pPr>
            <a:r>
              <a:rPr lang="en-US" sz="1500" dirty="0">
                <a:solidFill>
                  <a:schemeClr val="tx1"/>
                </a:solidFill>
              </a:rPr>
              <a:t>Each 10% gain in TIR ≈ 0.8% fall in HbA1c; TIR is linked to retinopathy and microalbuminuria</a:t>
            </a:r>
            <a:endParaRPr lang="en-US" sz="1400" dirty="0"/>
          </a:p>
          <a:p>
            <a:pPr marL="177800" indent="-177800">
              <a:spcAft>
                <a:spcPts val="800"/>
              </a:spcAft>
              <a:buSzPct val="100000"/>
              <a:buChar char="•"/>
            </a:pPr>
            <a:r>
              <a:rPr lang="en-US" sz="1500" dirty="0">
                <a:solidFill>
                  <a:schemeClr val="tx1"/>
                </a:solidFill>
              </a:rPr>
              <a:t>ADA: offer CGM to people on insulin, and consider it in T2D on other glucose-lowering drugs</a:t>
            </a:r>
            <a:endParaRPr lang="en-US" sz="1400" dirty="0"/>
          </a:p>
          <a:p>
            <a:pPr marL="177800" indent="-177800">
              <a:spcAft>
                <a:spcPts val="800"/>
              </a:spcAft>
              <a:buSzPct val="100000"/>
              <a:buChar char="•"/>
            </a:pPr>
            <a:r>
              <a:rPr lang="en-US" sz="1500" dirty="0">
                <a:solidFill>
                  <a:schemeClr val="tx1"/>
                </a:solidFill>
              </a:rPr>
              <a:t>14–15-day sensors with alarms; over-the-counter CGMs available since 2024</a:t>
            </a:r>
            <a:endParaRPr lang="en-US" sz="1400" dirty="0"/>
          </a:p>
          <a:p>
            <a:pPr marL="177800" indent="-177800">
              <a:spcAft>
                <a:spcPts val="800"/>
              </a:spcAft>
              <a:buSzPct val="100000"/>
              <a:buChar char="•"/>
            </a:pPr>
            <a:r>
              <a:rPr lang="en-US" sz="1500" dirty="0">
                <a:solidFill>
                  <a:schemeClr val="tx1"/>
                </a:solidFill>
              </a:rPr>
              <a:t>Ambulatory glucose profile (AGP) report standardises review in clinic</a:t>
            </a:r>
            <a:endParaRPr lang="en-US" sz="1400" dirty="0"/>
          </a:p>
          <a:p>
            <a:pPr marL="177800" indent="-177800">
              <a:spcAft>
                <a:spcPts val="800"/>
              </a:spcAft>
              <a:buSzPct val="100000"/>
              <a:buChar char="•"/>
            </a:pPr>
            <a:r>
              <a:rPr lang="en-US" sz="1500" dirty="0">
                <a:solidFill>
                  <a:schemeClr val="tx1"/>
                </a:solidFill>
              </a:rPr>
              <a:t>GMI (glucose management indicator) complements HbA1c when HbA1c is unreliable</a:t>
            </a:r>
            <a:endParaRPr lang="en-US" sz="1400" dirty="0"/>
          </a:p>
        </p:txBody>
      </p:sp>
      <p:sp>
        <p:nvSpPr>
          <p:cNvPr id="16" name="text-144"/>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Battelino et al. International Consensus on Time in Range, Diabetes Care 2019 (endorsed by ADA, EASD and others); ADA Standards, Section 7.</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Automated insulin delivery (closed loop)</a:t>
            </a:r>
            <a:endParaRPr lang="en-US" sz="3400" dirty="0"/>
          </a:p>
        </p:txBody>
      </p:sp>
      <p:sp>
        <p:nvSpPr>
          <p:cNvPr id="3" name="icon-circle-145"/>
          <p:cNvSpPr/>
          <p:nvPr/>
        </p:nvSpPr>
        <p:spPr>
          <a:xfrm>
            <a:off x="822960" y="1600200"/>
            <a:ext cx="1005840" cy="1005840"/>
          </a:xfrm>
          <a:prstGeom prst="ellipse">
            <a:avLst/>
          </a:prstGeom>
          <a:solidFill>
            <a:schemeClr val="accent3"/>
          </a:solidFill>
          <a:ln/>
        </p:spPr>
      </p:sp>
      <p:pic>
        <p:nvPicPr>
          <p:cNvPr id="4" name="icon-146" descr="preencoded.png">    </p:cNvPr>
          <p:cNvPicPr>
            <a:picLocks noChangeAspect="1"/>
          </p:cNvPicPr>
          <p:nvPr/>
        </p:nvPicPr>
        <p:blipFill>
          <a:blip r:embed="rId1"/>
          <a:stretch>
            <a:fillRect/>
          </a:stretch>
        </p:blipFill>
        <p:spPr>
          <a:xfrm>
            <a:off x="1074420" y="1851660"/>
            <a:ext cx="502920" cy="502920"/>
          </a:xfrm>
          <a:prstGeom prst="rect">
            <a:avLst/>
          </a:prstGeom>
        </p:spPr>
      </p:pic>
      <p:sp>
        <p:nvSpPr>
          <p:cNvPr id="5" name="text-147"/>
          <p:cNvSpPr txBox="1"/>
          <p:nvPr/>
        </p:nvSpPr>
        <p:spPr>
          <a:xfrm>
            <a:off x="548640" y="2697480"/>
            <a:ext cx="1600200" cy="868680"/>
          </a:xfrm>
          <a:prstGeom prst="rect">
            <a:avLst/>
          </a:prstGeom>
          <a:noFill/>
          <a:ln/>
        </p:spPr>
        <p:txBody>
          <a:bodyPr wrap="square" lIns="0" tIns="0" rIns="0" bIns="0" rtlCol="0" anchor="t"/>
          <a:lstStyle/>
          <a:p>
            <a:pPr algn="ctr" indent="0" marL="0">
              <a:buNone/>
            </a:pPr>
            <a:r>
              <a:rPr lang="en-US" sz="1500" b="1" dirty="0">
                <a:solidFill>
                  <a:schemeClr val="tx1"/>
                </a:solidFill>
              </a:rPr>
              <a:t>CGM sensor</a:t>
            </a:r>
            <a:endParaRPr lang="en-US" sz="1400" dirty="0"/>
          </a:p>
          <a:p>
            <a:pPr algn="ctr" indent="0" marL="0">
              <a:buNone/>
            </a:pPr>
            <a:r>
              <a:rPr lang="en-US" sz="1300" dirty="0">
                <a:solidFill>
                  <a:schemeClr val="tx1"/>
                </a:solidFill>
              </a:rPr>
              <a:t>Glucose every 1–5 min</a:t>
            </a:r>
            <a:endParaRPr lang="en-US" sz="1400" dirty="0"/>
          </a:p>
        </p:txBody>
      </p:sp>
      <p:sp>
        <p:nvSpPr>
          <p:cNvPr id="6" name="arrow-148"/>
          <p:cNvSpPr/>
          <p:nvPr/>
        </p:nvSpPr>
        <p:spPr>
          <a:xfrm>
            <a:off x="1965960" y="1920240"/>
            <a:ext cx="365760" cy="365760"/>
          </a:xfrm>
          <a:prstGeom prst="rightArrow">
            <a:avLst/>
          </a:prstGeom>
          <a:solidFill>
            <a:schemeClr val="accent5"/>
          </a:solidFill>
          <a:ln/>
        </p:spPr>
      </p:sp>
      <p:sp>
        <p:nvSpPr>
          <p:cNvPr id="7" name="icon-circle-149"/>
          <p:cNvSpPr/>
          <p:nvPr/>
        </p:nvSpPr>
        <p:spPr>
          <a:xfrm>
            <a:off x="2697480" y="1600200"/>
            <a:ext cx="1005840" cy="1005840"/>
          </a:xfrm>
          <a:prstGeom prst="ellipse">
            <a:avLst/>
          </a:prstGeom>
          <a:solidFill>
            <a:schemeClr val="accent1"/>
          </a:solidFill>
          <a:ln/>
        </p:spPr>
      </p:sp>
      <p:pic>
        <p:nvPicPr>
          <p:cNvPr id="8" name="icon-150" descr="preencoded.png">    </p:cNvPr>
          <p:cNvPicPr>
            <a:picLocks noChangeAspect="1"/>
          </p:cNvPicPr>
          <p:nvPr/>
        </p:nvPicPr>
        <p:blipFill>
          <a:blip r:embed="rId2"/>
          <a:stretch>
            <a:fillRect/>
          </a:stretch>
        </p:blipFill>
        <p:spPr>
          <a:xfrm>
            <a:off x="2948940" y="1851660"/>
            <a:ext cx="502920" cy="502920"/>
          </a:xfrm>
          <a:prstGeom prst="rect">
            <a:avLst/>
          </a:prstGeom>
        </p:spPr>
      </p:pic>
      <p:sp>
        <p:nvSpPr>
          <p:cNvPr id="9" name="text-151"/>
          <p:cNvSpPr txBox="1"/>
          <p:nvPr/>
        </p:nvSpPr>
        <p:spPr>
          <a:xfrm>
            <a:off x="2423160" y="2697480"/>
            <a:ext cx="1600200" cy="868680"/>
          </a:xfrm>
          <a:prstGeom prst="rect">
            <a:avLst/>
          </a:prstGeom>
          <a:noFill/>
          <a:ln/>
        </p:spPr>
        <p:txBody>
          <a:bodyPr wrap="square" lIns="0" tIns="0" rIns="0" bIns="0" rtlCol="0" anchor="t"/>
          <a:lstStyle/>
          <a:p>
            <a:pPr algn="ctr" indent="0" marL="0">
              <a:buNone/>
            </a:pPr>
            <a:r>
              <a:rPr lang="en-US" sz="1500" b="1" dirty="0">
                <a:solidFill>
                  <a:schemeClr val="tx1"/>
                </a:solidFill>
              </a:rPr>
              <a:t>Algorithm</a:t>
            </a:r>
            <a:endParaRPr lang="en-US" sz="1400" dirty="0"/>
          </a:p>
          <a:p>
            <a:pPr algn="ctr" indent="0" marL="0">
              <a:buNone/>
            </a:pPr>
            <a:r>
              <a:rPr lang="en-US" sz="1300" dirty="0">
                <a:solidFill>
                  <a:schemeClr val="tx1"/>
                </a:solidFill>
              </a:rPr>
              <a:t>Predicts glucose, adjusts insulin</a:t>
            </a:r>
            <a:endParaRPr lang="en-US" sz="1400" dirty="0"/>
          </a:p>
        </p:txBody>
      </p:sp>
      <p:sp>
        <p:nvSpPr>
          <p:cNvPr id="10" name="arrow-152"/>
          <p:cNvSpPr/>
          <p:nvPr/>
        </p:nvSpPr>
        <p:spPr>
          <a:xfrm>
            <a:off x="3840480" y="1920240"/>
            <a:ext cx="365760" cy="365760"/>
          </a:xfrm>
          <a:prstGeom prst="rightArrow">
            <a:avLst/>
          </a:prstGeom>
          <a:solidFill>
            <a:schemeClr val="accent5"/>
          </a:solidFill>
          <a:ln/>
        </p:spPr>
      </p:sp>
      <p:sp>
        <p:nvSpPr>
          <p:cNvPr id="11" name="icon-circle-153"/>
          <p:cNvSpPr/>
          <p:nvPr/>
        </p:nvSpPr>
        <p:spPr>
          <a:xfrm>
            <a:off x="4572000" y="1600200"/>
            <a:ext cx="1005840" cy="1005840"/>
          </a:xfrm>
          <a:prstGeom prst="ellipse">
            <a:avLst/>
          </a:prstGeom>
          <a:solidFill>
            <a:schemeClr val="accent6"/>
          </a:solidFill>
          <a:ln/>
        </p:spPr>
      </p:sp>
      <p:pic>
        <p:nvPicPr>
          <p:cNvPr id="12" name="icon-154" descr="preencoded.png">    </p:cNvPr>
          <p:cNvPicPr>
            <a:picLocks noChangeAspect="1"/>
          </p:cNvPicPr>
          <p:nvPr/>
        </p:nvPicPr>
        <p:blipFill>
          <a:blip r:embed="rId3"/>
          <a:stretch>
            <a:fillRect/>
          </a:stretch>
        </p:blipFill>
        <p:spPr>
          <a:xfrm>
            <a:off x="4823460" y="1851660"/>
            <a:ext cx="502920" cy="502920"/>
          </a:xfrm>
          <a:prstGeom prst="rect">
            <a:avLst/>
          </a:prstGeom>
        </p:spPr>
      </p:pic>
      <p:sp>
        <p:nvSpPr>
          <p:cNvPr id="13" name="text-155"/>
          <p:cNvSpPr txBox="1"/>
          <p:nvPr/>
        </p:nvSpPr>
        <p:spPr>
          <a:xfrm>
            <a:off x="4297680" y="2697480"/>
            <a:ext cx="1600200" cy="868680"/>
          </a:xfrm>
          <a:prstGeom prst="rect">
            <a:avLst/>
          </a:prstGeom>
          <a:noFill/>
          <a:ln/>
        </p:spPr>
        <p:txBody>
          <a:bodyPr wrap="square" lIns="0" tIns="0" rIns="0" bIns="0" rtlCol="0" anchor="t"/>
          <a:lstStyle/>
          <a:p>
            <a:pPr algn="ctr" indent="0" marL="0">
              <a:buNone/>
            </a:pPr>
            <a:r>
              <a:rPr lang="en-US" sz="1500" b="1" dirty="0">
                <a:solidFill>
                  <a:schemeClr val="tx1"/>
                </a:solidFill>
              </a:rPr>
              <a:t>Insulin pump</a:t>
            </a:r>
            <a:endParaRPr lang="en-US" sz="1400" dirty="0"/>
          </a:p>
          <a:p>
            <a:pPr algn="ctr" indent="0" marL="0">
              <a:buNone/>
            </a:pPr>
            <a:r>
              <a:rPr lang="en-US" sz="1300" dirty="0">
                <a:solidFill>
                  <a:schemeClr val="tx1"/>
                </a:solidFill>
              </a:rPr>
              <a:t>Delivers basal and corrections</a:t>
            </a:r>
            <a:endParaRPr lang="en-US" sz="1400" dirty="0"/>
          </a:p>
        </p:txBody>
      </p:sp>
      <p:sp>
        <p:nvSpPr>
          <p:cNvPr id="14" name="card-156"/>
          <p:cNvSpPr/>
          <p:nvPr/>
        </p:nvSpPr>
        <p:spPr>
          <a:xfrm>
            <a:off x="548640" y="3840480"/>
            <a:ext cx="5440680" cy="2148840"/>
          </a:xfrm>
          <a:prstGeom prst="roundRect">
            <a:avLst>
              <a:gd name="adj" fmla="val 5106"/>
            </a:avLst>
          </a:prstGeom>
          <a:solidFill>
            <a:schemeClr val="tx1"/>
          </a:solidFill>
          <a:ln/>
        </p:spPr>
      </p:sp>
      <p:sp>
        <p:nvSpPr>
          <p:cNvPr id="15" name="text-157"/>
          <p:cNvSpPr txBox="1"/>
          <p:nvPr/>
        </p:nvSpPr>
        <p:spPr>
          <a:xfrm>
            <a:off x="822960" y="3977640"/>
            <a:ext cx="1645920" cy="82296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+10–15</a:t>
            </a:r>
            <a:endParaRPr lang="en-US" sz="2800" dirty="0"/>
          </a:p>
        </p:txBody>
      </p:sp>
      <p:sp>
        <p:nvSpPr>
          <p:cNvPr id="16" name="text-158"/>
          <p:cNvSpPr txBox="1"/>
          <p:nvPr/>
        </p:nvSpPr>
        <p:spPr>
          <a:xfrm>
            <a:off x="2514600" y="3977640"/>
            <a:ext cx="3291840" cy="822960"/>
          </a:xfrm>
          <a:prstGeom prst="rect">
            <a:avLst/>
          </a:prstGeom>
          <a:noFill/>
          <a:ln/>
        </p:spPr>
        <p:txBody>
          <a:bodyPr wrap="square" lIns="0" tIns="0" rIns="0" bIns="0" rtlCol="0" anchor="ctr"/>
          <a:lstStyle/>
          <a:p>
            <a:pPr indent="0" marL="0">
              <a:buNone/>
            </a:pPr>
            <a:r>
              <a:rPr lang="en-US" sz="1500" dirty="0">
                <a:solidFill>
                  <a:schemeClr val="bg1"/>
                </a:solidFill>
              </a:rPr>
              <a:t>percentage points time in range (~2.5–3.5 h/day)</a:t>
            </a:r>
            <a:endParaRPr lang="en-US" sz="1500" dirty="0"/>
          </a:p>
        </p:txBody>
      </p:sp>
      <p:sp>
        <p:nvSpPr>
          <p:cNvPr id="17" name="text-159"/>
          <p:cNvSpPr txBox="1"/>
          <p:nvPr/>
        </p:nvSpPr>
        <p:spPr>
          <a:xfrm>
            <a:off x="822960" y="4937760"/>
            <a:ext cx="1645920" cy="82296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Less</a:t>
            </a:r>
            <a:endParaRPr lang="en-US" sz="2800" dirty="0"/>
          </a:p>
        </p:txBody>
      </p:sp>
      <p:sp>
        <p:nvSpPr>
          <p:cNvPr id="18" name="text-160"/>
          <p:cNvSpPr txBox="1"/>
          <p:nvPr/>
        </p:nvSpPr>
        <p:spPr>
          <a:xfrm>
            <a:off x="2514600" y="4937760"/>
            <a:ext cx="3291840" cy="822960"/>
          </a:xfrm>
          <a:prstGeom prst="rect">
            <a:avLst/>
          </a:prstGeom>
          <a:noFill/>
          <a:ln/>
        </p:spPr>
        <p:txBody>
          <a:bodyPr wrap="square" lIns="0" tIns="0" rIns="0" bIns="0" rtlCol="0" anchor="ctr"/>
          <a:lstStyle/>
          <a:p>
            <a:pPr indent="0" marL="0">
              <a:buNone/>
            </a:pPr>
            <a:r>
              <a:rPr lang="en-US" sz="1500" dirty="0">
                <a:solidFill>
                  <a:schemeClr val="bg1"/>
                </a:solidFill>
              </a:rPr>
              <a:t>hypoglycaemia and better sleep for patients and carers</a:t>
            </a:r>
            <a:endParaRPr lang="en-US" sz="1500" dirty="0"/>
          </a:p>
        </p:txBody>
      </p:sp>
      <p:sp>
        <p:nvSpPr>
          <p:cNvPr id="19" name="card-161"/>
          <p:cNvSpPr/>
          <p:nvPr/>
        </p:nvSpPr>
        <p:spPr>
          <a:xfrm>
            <a:off x="6263640" y="1371600"/>
            <a:ext cx="5379415" cy="4617720"/>
          </a:xfrm>
          <a:prstGeom prst="roundRect">
            <a:avLst>
              <a:gd name="adj" fmla="val 2376"/>
            </a:avLst>
          </a:prstGeom>
          <a:solidFill>
            <a:schemeClr val="bg2"/>
          </a:solidFill>
          <a:ln/>
        </p:spPr>
      </p:sp>
      <p:sp>
        <p:nvSpPr>
          <p:cNvPr id="20" name="text-162"/>
          <p:cNvSpPr txBox="1"/>
          <p:nvPr/>
        </p:nvSpPr>
        <p:spPr>
          <a:xfrm>
            <a:off x="6537960" y="1600200"/>
            <a:ext cx="4830775" cy="42062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Guidance and evidence</a:t>
            </a:r>
            <a:endParaRPr lang="en-US" sz="1400" dirty="0"/>
          </a:p>
          <a:p>
            <a:pPr marL="177800" indent="-177800">
              <a:spcAft>
                <a:spcPts val="800"/>
              </a:spcAft>
              <a:buSzPct val="100000"/>
              <a:buChar char="•"/>
            </a:pPr>
            <a:r>
              <a:rPr lang="en-US" sz="1500" dirty="0">
                <a:solidFill>
                  <a:schemeClr val="tx1"/>
                </a:solidFill>
              </a:rPr>
              <a:t>ADA: offer AID to all children and adults with T1D who can use it safely</a:t>
            </a:r>
            <a:endParaRPr lang="en-US" sz="1400" dirty="0"/>
          </a:p>
          <a:p>
            <a:pPr marL="177800" indent="-177800">
              <a:spcAft>
                <a:spcPts val="800"/>
              </a:spcAft>
              <a:buSzPct val="100000"/>
              <a:buChar char="•"/>
            </a:pPr>
            <a:r>
              <a:rPr lang="en-US" sz="1500" dirty="0">
                <a:solidFill>
                  <a:schemeClr val="tx1"/>
                </a:solidFill>
              </a:rPr>
              <a:t>NICE TA943 (2023): hybrid closed loop for T1D with HbA1c ≥58 mmol/mol or disabling hypoglycaemia</a:t>
            </a:r>
            <a:endParaRPr lang="en-US" sz="1400" dirty="0"/>
          </a:p>
          <a:p>
            <a:pPr marL="177800" indent="-177800">
              <a:spcAft>
                <a:spcPts val="800"/>
              </a:spcAft>
              <a:buSzPct val="100000"/>
              <a:buChar char="•"/>
            </a:pPr>
            <a:r>
              <a:rPr lang="en-US" sz="1500" dirty="0">
                <a:solidFill>
                  <a:schemeClr val="tx1"/>
                </a:solidFill>
              </a:rPr>
              <a:t>Pregnancy: closed loop raised TIR by ~10 points (AiDAPT, 2023)</a:t>
            </a:r>
            <a:endParaRPr lang="en-US" sz="1400" dirty="0"/>
          </a:p>
          <a:p>
            <a:pPr marL="177800" indent="-177800">
              <a:spcAft>
                <a:spcPts val="800"/>
              </a:spcAft>
              <a:buSzPct val="100000"/>
              <a:buChar char="•"/>
            </a:pPr>
            <a:r>
              <a:rPr lang="en-US" sz="1500" dirty="0">
                <a:solidFill>
                  <a:schemeClr val="tx1"/>
                </a:solidFill>
              </a:rPr>
              <a:t>Now cleared for insulin-treated T2D (US, 2024)</a:t>
            </a:r>
            <a:endParaRPr lang="en-US" sz="1400" dirty="0"/>
          </a:p>
          <a:p>
            <a:pPr marL="177800" indent="-177800">
              <a:spcAft>
                <a:spcPts val="800"/>
              </a:spcAft>
              <a:buSzPct val="100000"/>
              <a:buChar char="•"/>
            </a:pPr>
            <a:r>
              <a:rPr lang="en-US" sz="1500" dirty="0">
                <a:solidFill>
                  <a:schemeClr val="tx1"/>
                </a:solidFill>
              </a:rPr>
              <a:t>Still needs meal announcement: hybrid, not fully automatic</a:t>
            </a:r>
            <a:endParaRPr lang="en-US" sz="1400" dirty="0"/>
          </a:p>
        </p:txBody>
      </p:sp>
      <p:sp>
        <p:nvSpPr>
          <p:cNvPr id="21" name="text-163"/>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 7; NICE TA943 (2023); Brown et al. NEJM 2019 (iDCL); Lee et al. NEJM 2023 (AiDAPT); SECURE-T2D 2024.</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Digital health and artificial intelligence</a:t>
            </a:r>
            <a:endParaRPr lang="en-US" sz="3400" dirty="0"/>
          </a:p>
        </p:txBody>
      </p:sp>
      <p:sp>
        <p:nvSpPr>
          <p:cNvPr id="3" name="card-164"/>
          <p:cNvSpPr/>
          <p:nvPr/>
        </p:nvSpPr>
        <p:spPr>
          <a:xfrm>
            <a:off x="548640" y="1371600"/>
            <a:ext cx="5410048" cy="2194560"/>
          </a:xfrm>
          <a:prstGeom prst="roundRect">
            <a:avLst>
              <a:gd name="adj" fmla="val 5000"/>
            </a:avLst>
          </a:prstGeom>
          <a:solidFill>
            <a:schemeClr val="bg2"/>
          </a:solidFill>
          <a:ln/>
        </p:spPr>
      </p:sp>
      <p:sp>
        <p:nvSpPr>
          <p:cNvPr id="4" name="icon-circle-165"/>
          <p:cNvSpPr/>
          <p:nvPr/>
        </p:nvSpPr>
        <p:spPr>
          <a:xfrm>
            <a:off x="822960" y="1645920"/>
            <a:ext cx="777240" cy="777240"/>
          </a:xfrm>
          <a:prstGeom prst="ellipse">
            <a:avLst/>
          </a:prstGeom>
          <a:solidFill>
            <a:schemeClr val="accent1"/>
          </a:solidFill>
          <a:ln/>
        </p:spPr>
      </p:sp>
      <p:pic>
        <p:nvPicPr>
          <p:cNvPr id="5" name="icon-166"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text-167"/>
          <p:cNvSpPr txBox="1"/>
          <p:nvPr/>
        </p:nvSpPr>
        <p:spPr>
          <a:xfrm>
            <a:off x="1828800"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AI retinal screening</a:t>
            </a:r>
            <a:endParaRPr lang="en-US" sz="1400" dirty="0"/>
          </a:p>
          <a:p>
            <a:pPr indent="0" marL="0">
              <a:buNone/>
            </a:pPr>
            <a:r>
              <a:rPr lang="en-US" sz="1400" dirty="0">
                <a:solidFill>
                  <a:schemeClr val="tx1"/>
                </a:solidFill>
              </a:rPr>
              <a:t>Autonomous AI systems (FDA-cleared since 2018) detect referable retinopathy in primary care without an ophthalmologist.</a:t>
            </a:r>
            <a:endParaRPr lang="en-US" sz="1400" dirty="0"/>
          </a:p>
        </p:txBody>
      </p:sp>
      <p:sp>
        <p:nvSpPr>
          <p:cNvPr id="7" name="card-168"/>
          <p:cNvSpPr/>
          <p:nvPr/>
        </p:nvSpPr>
        <p:spPr>
          <a:xfrm>
            <a:off x="6233008" y="1371600"/>
            <a:ext cx="5410048" cy="2194560"/>
          </a:xfrm>
          <a:prstGeom prst="roundRect">
            <a:avLst>
              <a:gd name="adj" fmla="val 5000"/>
            </a:avLst>
          </a:prstGeom>
          <a:solidFill>
            <a:schemeClr val="bg2"/>
          </a:solidFill>
          <a:ln/>
        </p:spPr>
      </p:sp>
      <p:sp>
        <p:nvSpPr>
          <p:cNvPr id="8" name="icon-circle-169"/>
          <p:cNvSpPr/>
          <p:nvPr/>
        </p:nvSpPr>
        <p:spPr>
          <a:xfrm>
            <a:off x="6507328" y="1645920"/>
            <a:ext cx="777240" cy="777240"/>
          </a:xfrm>
          <a:prstGeom prst="ellipse">
            <a:avLst/>
          </a:prstGeom>
          <a:solidFill>
            <a:schemeClr val="accent3"/>
          </a:solidFill>
          <a:ln/>
        </p:spPr>
      </p:sp>
      <p:pic>
        <p:nvPicPr>
          <p:cNvPr id="9" name="icon-170" descr="preencoded.png">    </p:cNvPr>
          <p:cNvPicPr>
            <a:picLocks noChangeAspect="1"/>
          </p:cNvPicPr>
          <p:nvPr/>
        </p:nvPicPr>
        <p:blipFill>
          <a:blip r:embed="rId2"/>
          <a:stretch>
            <a:fillRect/>
          </a:stretch>
        </p:blipFill>
        <p:spPr>
          <a:xfrm>
            <a:off x="6701638" y="1840230"/>
            <a:ext cx="388620" cy="388620"/>
          </a:xfrm>
          <a:prstGeom prst="rect">
            <a:avLst/>
          </a:prstGeom>
        </p:spPr>
      </p:pic>
      <p:sp>
        <p:nvSpPr>
          <p:cNvPr id="10" name="text-171"/>
          <p:cNvSpPr txBox="1"/>
          <p:nvPr/>
        </p:nvSpPr>
        <p:spPr>
          <a:xfrm>
            <a:off x="7513168"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Telemedicine</a:t>
            </a:r>
            <a:endParaRPr lang="en-US" sz="1400" dirty="0"/>
          </a:p>
          <a:p>
            <a:pPr indent="0" marL="0">
              <a:buNone/>
            </a:pPr>
            <a:r>
              <a:rPr lang="en-US" sz="1400" dirty="0">
                <a:solidFill>
                  <a:schemeClr val="tx1"/>
                </a:solidFill>
              </a:rPr>
              <a:t>Remote CGM data review and virtual clinics, expanded after COVID-19; ADA endorses telehealth for access.</a:t>
            </a:r>
            <a:endParaRPr lang="en-US" sz="1400" dirty="0"/>
          </a:p>
        </p:txBody>
      </p:sp>
      <p:sp>
        <p:nvSpPr>
          <p:cNvPr id="11" name="card-172"/>
          <p:cNvSpPr/>
          <p:nvPr/>
        </p:nvSpPr>
        <p:spPr>
          <a:xfrm>
            <a:off x="548640" y="3840480"/>
            <a:ext cx="5410048" cy="2194560"/>
          </a:xfrm>
          <a:prstGeom prst="roundRect">
            <a:avLst>
              <a:gd name="adj" fmla="val 5000"/>
            </a:avLst>
          </a:prstGeom>
          <a:solidFill>
            <a:schemeClr val="bg2"/>
          </a:solidFill>
          <a:ln/>
        </p:spPr>
      </p:sp>
      <p:sp>
        <p:nvSpPr>
          <p:cNvPr id="12" name="icon-circle-173"/>
          <p:cNvSpPr/>
          <p:nvPr/>
        </p:nvSpPr>
        <p:spPr>
          <a:xfrm>
            <a:off x="822960" y="4114800"/>
            <a:ext cx="777240" cy="777240"/>
          </a:xfrm>
          <a:prstGeom prst="ellipse">
            <a:avLst/>
          </a:prstGeom>
          <a:solidFill>
            <a:schemeClr val="accent6"/>
          </a:solidFill>
          <a:ln/>
        </p:spPr>
      </p:sp>
      <p:pic>
        <p:nvPicPr>
          <p:cNvPr id="13" name="icon-174" descr="preencoded.png">    </p:cNvPr>
          <p:cNvPicPr>
            <a:picLocks noChangeAspect="1"/>
          </p:cNvPicPr>
          <p:nvPr/>
        </p:nvPicPr>
        <p:blipFill>
          <a:blip r:embed="rId3"/>
          <a:stretch>
            <a:fillRect/>
          </a:stretch>
        </p:blipFill>
        <p:spPr>
          <a:xfrm>
            <a:off x="1017270" y="4309110"/>
            <a:ext cx="388620" cy="388620"/>
          </a:xfrm>
          <a:prstGeom prst="rect">
            <a:avLst/>
          </a:prstGeom>
        </p:spPr>
      </p:pic>
      <p:sp>
        <p:nvSpPr>
          <p:cNvPr id="14" name="text-175"/>
          <p:cNvSpPr txBox="1"/>
          <p:nvPr/>
        </p:nvSpPr>
        <p:spPr>
          <a:xfrm>
            <a:off x="1828800"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Apps and smart pens</a:t>
            </a:r>
            <a:endParaRPr lang="en-US" sz="1400" dirty="0"/>
          </a:p>
          <a:p>
            <a:pPr indent="0" marL="0">
              <a:buNone/>
            </a:pPr>
            <a:r>
              <a:rPr lang="en-US" sz="1400" dirty="0">
                <a:solidFill>
                  <a:schemeClr val="tx1"/>
                </a:solidFill>
              </a:rPr>
              <a:t>Connected pens record dose and timing; bolus calculators and apps support self-management education.</a:t>
            </a:r>
            <a:endParaRPr lang="en-US" sz="1400" dirty="0"/>
          </a:p>
        </p:txBody>
      </p:sp>
      <p:sp>
        <p:nvSpPr>
          <p:cNvPr id="15" name="card-176"/>
          <p:cNvSpPr/>
          <p:nvPr/>
        </p:nvSpPr>
        <p:spPr>
          <a:xfrm>
            <a:off x="6233008" y="3840480"/>
            <a:ext cx="5410048" cy="2194560"/>
          </a:xfrm>
          <a:prstGeom prst="roundRect">
            <a:avLst>
              <a:gd name="adj" fmla="val 5000"/>
            </a:avLst>
          </a:prstGeom>
          <a:solidFill>
            <a:schemeClr val="bg2"/>
          </a:solidFill>
          <a:ln/>
        </p:spPr>
      </p:sp>
      <p:sp>
        <p:nvSpPr>
          <p:cNvPr id="16" name="icon-circle-177"/>
          <p:cNvSpPr/>
          <p:nvPr/>
        </p:nvSpPr>
        <p:spPr>
          <a:xfrm>
            <a:off x="6507328" y="4114800"/>
            <a:ext cx="777240" cy="777240"/>
          </a:xfrm>
          <a:prstGeom prst="ellipse">
            <a:avLst/>
          </a:prstGeom>
          <a:solidFill>
            <a:schemeClr val="accent2"/>
          </a:solidFill>
          <a:ln/>
        </p:spPr>
      </p:sp>
      <p:pic>
        <p:nvPicPr>
          <p:cNvPr id="17" name="icon-178" descr="preencoded.png">    </p:cNvPr>
          <p:cNvPicPr>
            <a:picLocks noChangeAspect="1"/>
          </p:cNvPicPr>
          <p:nvPr/>
        </p:nvPicPr>
        <p:blipFill>
          <a:blip r:embed="rId4"/>
          <a:stretch>
            <a:fillRect/>
          </a:stretch>
        </p:blipFill>
        <p:spPr>
          <a:xfrm>
            <a:off x="6701638" y="4309110"/>
            <a:ext cx="388620" cy="388620"/>
          </a:xfrm>
          <a:prstGeom prst="rect">
            <a:avLst/>
          </a:prstGeom>
        </p:spPr>
      </p:pic>
      <p:sp>
        <p:nvSpPr>
          <p:cNvPr id="18" name="text-179"/>
          <p:cNvSpPr txBox="1"/>
          <p:nvPr/>
        </p:nvSpPr>
        <p:spPr>
          <a:xfrm>
            <a:off x="7513168"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Decision support</a:t>
            </a:r>
            <a:endParaRPr lang="en-US" sz="1400" dirty="0"/>
          </a:p>
          <a:p>
            <a:pPr indent="0" marL="0">
              <a:buNone/>
            </a:pPr>
            <a:r>
              <a:rPr lang="en-US" sz="1400" dirty="0">
                <a:solidFill>
                  <a:schemeClr val="tx1"/>
                </a:solidFill>
              </a:rPr>
              <a:t>Algorithms flag rising risk, titrate basal insulin and prioritise patients; must be validated and equitable.</a:t>
            </a:r>
            <a:endParaRPr lang="en-US" sz="1400" dirty="0"/>
          </a:p>
        </p:txBody>
      </p:sp>
      <p:sp>
        <p:nvSpPr>
          <p:cNvPr id="19" name="text-18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Abràmoff et al. npj Digit Med 2018; ADA Standards, Sections 1, 7 and 12; WHO Global Strategy on Digital Health 2020–2025.</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PART 3</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Beyond drugs</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Remission, metabolic surgery, comorbidities and individualised care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Remission of type 2 diabetes</a:t>
            </a:r>
            <a:endParaRPr lang="en-US" sz="3400" dirty="0"/>
          </a:p>
        </p:txBody>
      </p:sp>
      <p:sp>
        <p:nvSpPr>
          <p:cNvPr id="3" name="card-181"/>
          <p:cNvSpPr/>
          <p:nvPr/>
        </p:nvSpPr>
        <p:spPr>
          <a:xfrm>
            <a:off x="548640" y="1371600"/>
            <a:ext cx="3566160" cy="4617720"/>
          </a:xfrm>
          <a:prstGeom prst="roundRect">
            <a:avLst>
              <a:gd name="adj" fmla="val 3077"/>
            </a:avLst>
          </a:prstGeom>
          <a:solidFill>
            <a:schemeClr val="tx1"/>
          </a:solidFill>
          <a:ln/>
        </p:spPr>
      </p:sp>
      <p:sp>
        <p:nvSpPr>
          <p:cNvPr id="4" name="text-182"/>
          <p:cNvSpPr txBox="1"/>
          <p:nvPr/>
        </p:nvSpPr>
        <p:spPr>
          <a:xfrm>
            <a:off x="822960" y="1600200"/>
            <a:ext cx="3017520" cy="4206240"/>
          </a:xfrm>
          <a:prstGeom prst="rect">
            <a:avLst/>
          </a:prstGeom>
          <a:noFill/>
          <a:ln/>
        </p:spPr>
        <p:txBody>
          <a:bodyPr wrap="square" lIns="0" tIns="0" rIns="0" bIns="0" rtlCol="0" anchor="t"/>
          <a:lstStyle/>
          <a:p>
            <a:pPr indent="0" marL="0">
              <a:spcAft>
                <a:spcPts val="1000"/>
              </a:spcAft>
              <a:buNone/>
            </a:pPr>
            <a:r>
              <a:rPr lang="en-US" sz="1700" b="1" dirty="0">
                <a:solidFill>
                  <a:schemeClr val="accent3"/>
                </a:solidFill>
              </a:rPr>
              <a:t>ADA / EASD definition (2021)</a:t>
            </a:r>
            <a:endParaRPr lang="en-US" sz="1400" dirty="0"/>
          </a:p>
          <a:p>
            <a:pPr indent="0" marL="0">
              <a:spcAft>
                <a:spcPts val="1000"/>
              </a:spcAft>
              <a:buNone/>
            </a:pPr>
            <a:r>
              <a:rPr lang="en-US" sz="1600" dirty="0">
                <a:solidFill>
                  <a:schemeClr val="bg1"/>
                </a:solidFill>
              </a:rPr>
              <a:t>HbA1c &lt;6.5% (48 mmol/mol) measured at least 3 months after stopping glucose-lowering therapy.</a:t>
            </a:r>
            <a:endParaRPr lang="en-US" sz="1400" dirty="0"/>
          </a:p>
          <a:p>
            <a:pPr indent="0" marL="0">
              <a:buNone/>
            </a:pPr>
            <a:r>
              <a:rPr lang="en-US" sz="1500" dirty="0">
                <a:solidFill>
                  <a:schemeClr val="bg2"/>
                </a:solidFill>
              </a:rPr>
              <a:t>Continue retinal, foot and kidney screening: remission is not cure.</a:t>
            </a:r>
            <a:endParaRPr lang="en-US" sz="1400" dirty="0"/>
          </a:p>
        </p:txBody>
      </p:sp>
      <p:sp>
        <p:nvSpPr>
          <p:cNvPr id="5" name="text-183"/>
          <p:cNvSpPr txBox="1"/>
          <p:nvPr/>
        </p:nvSpPr>
        <p:spPr>
          <a:xfrm>
            <a:off x="4434840" y="1371600"/>
            <a:ext cx="7223760" cy="411480"/>
          </a:xfrm>
          <a:prstGeom prst="rect">
            <a:avLst/>
          </a:prstGeom>
          <a:noFill/>
          <a:ln/>
        </p:spPr>
        <p:txBody>
          <a:bodyPr wrap="square" lIns="0" tIns="0" rIns="0" bIns="0" rtlCol="0" anchor="t"/>
          <a:lstStyle/>
          <a:p>
            <a:pPr indent="0" marL="0">
              <a:buNone/>
            </a:pPr>
            <a:r>
              <a:rPr lang="en-US" sz="1700" b="1" dirty="0">
                <a:solidFill>
                  <a:schemeClr val="tx2"/>
                </a:solidFill>
              </a:rPr>
              <a:t>DiRECT: low-calorie diet replacement in primary care</a:t>
            </a:r>
            <a:endParaRPr lang="en-US" sz="1700" dirty="0"/>
          </a:p>
        </p:txBody>
      </p:sp>
      <p:sp>
        <p:nvSpPr>
          <p:cNvPr id="6" name="card-184"/>
          <p:cNvSpPr/>
          <p:nvPr/>
        </p:nvSpPr>
        <p:spPr>
          <a:xfrm>
            <a:off x="4434840" y="1920240"/>
            <a:ext cx="2218944" cy="1737360"/>
          </a:xfrm>
          <a:prstGeom prst="roundRect">
            <a:avLst>
              <a:gd name="adj" fmla="val 6316"/>
            </a:avLst>
          </a:prstGeom>
          <a:solidFill>
            <a:schemeClr val="bg2"/>
          </a:solidFill>
          <a:ln/>
        </p:spPr>
      </p:sp>
      <p:sp>
        <p:nvSpPr>
          <p:cNvPr id="7" name="text-185"/>
          <p:cNvSpPr txBox="1"/>
          <p:nvPr/>
        </p:nvSpPr>
        <p:spPr>
          <a:xfrm>
            <a:off x="4663440" y="2011680"/>
            <a:ext cx="1761744" cy="86868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46%</a:t>
            </a:r>
            <a:endParaRPr lang="en-US" sz="4400" dirty="0"/>
          </a:p>
        </p:txBody>
      </p:sp>
      <p:sp>
        <p:nvSpPr>
          <p:cNvPr id="8" name="text-186"/>
          <p:cNvSpPr txBox="1"/>
          <p:nvPr/>
        </p:nvSpPr>
        <p:spPr>
          <a:xfrm>
            <a:off x="4663440" y="2880360"/>
            <a:ext cx="1761744" cy="640080"/>
          </a:xfrm>
          <a:prstGeom prst="rect">
            <a:avLst/>
          </a:prstGeom>
          <a:noFill/>
          <a:ln/>
        </p:spPr>
        <p:txBody>
          <a:bodyPr wrap="square" lIns="0" tIns="0" rIns="0" bIns="0" rtlCol="0" anchor="t"/>
          <a:lstStyle/>
          <a:p>
            <a:pPr indent="0" marL="0">
              <a:buNone/>
            </a:pPr>
            <a:r>
              <a:rPr lang="en-US" sz="1500" dirty="0">
                <a:solidFill>
                  <a:schemeClr val="tx1"/>
                </a:solidFill>
              </a:rPr>
              <a:t>in remission at 1 year</a:t>
            </a:r>
            <a:endParaRPr lang="en-US" sz="1500" dirty="0"/>
          </a:p>
        </p:txBody>
      </p:sp>
      <p:sp>
        <p:nvSpPr>
          <p:cNvPr id="9" name="card-187"/>
          <p:cNvSpPr/>
          <p:nvPr/>
        </p:nvSpPr>
        <p:spPr>
          <a:xfrm>
            <a:off x="6928104" y="1920240"/>
            <a:ext cx="2218944" cy="1737360"/>
          </a:xfrm>
          <a:prstGeom prst="roundRect">
            <a:avLst>
              <a:gd name="adj" fmla="val 6316"/>
            </a:avLst>
          </a:prstGeom>
          <a:solidFill>
            <a:schemeClr val="bg2"/>
          </a:solidFill>
          <a:ln/>
        </p:spPr>
      </p:sp>
      <p:sp>
        <p:nvSpPr>
          <p:cNvPr id="10" name="text-188"/>
          <p:cNvSpPr txBox="1"/>
          <p:nvPr/>
        </p:nvSpPr>
        <p:spPr>
          <a:xfrm>
            <a:off x="7156704" y="2011680"/>
            <a:ext cx="1761744" cy="86868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36%</a:t>
            </a:r>
            <a:endParaRPr lang="en-US" sz="4400" dirty="0"/>
          </a:p>
        </p:txBody>
      </p:sp>
      <p:sp>
        <p:nvSpPr>
          <p:cNvPr id="11" name="text-189"/>
          <p:cNvSpPr txBox="1"/>
          <p:nvPr/>
        </p:nvSpPr>
        <p:spPr>
          <a:xfrm>
            <a:off x="7156704" y="2880360"/>
            <a:ext cx="1761744" cy="640080"/>
          </a:xfrm>
          <a:prstGeom prst="rect">
            <a:avLst/>
          </a:prstGeom>
          <a:noFill/>
          <a:ln/>
        </p:spPr>
        <p:txBody>
          <a:bodyPr wrap="square" lIns="0" tIns="0" rIns="0" bIns="0" rtlCol="0" anchor="t"/>
          <a:lstStyle/>
          <a:p>
            <a:pPr indent="0" marL="0">
              <a:buNone/>
            </a:pPr>
            <a:r>
              <a:rPr lang="en-US" sz="1500" dirty="0">
                <a:solidFill>
                  <a:schemeClr val="tx1"/>
                </a:solidFill>
              </a:rPr>
              <a:t>in remission at 2 years</a:t>
            </a:r>
            <a:endParaRPr lang="en-US" sz="1500" dirty="0"/>
          </a:p>
        </p:txBody>
      </p:sp>
      <p:sp>
        <p:nvSpPr>
          <p:cNvPr id="12" name="card-190"/>
          <p:cNvSpPr/>
          <p:nvPr/>
        </p:nvSpPr>
        <p:spPr>
          <a:xfrm>
            <a:off x="9421368" y="1920240"/>
            <a:ext cx="2218944" cy="1737360"/>
          </a:xfrm>
          <a:prstGeom prst="roundRect">
            <a:avLst>
              <a:gd name="adj" fmla="val 6316"/>
            </a:avLst>
          </a:prstGeom>
          <a:solidFill>
            <a:schemeClr val="bg2"/>
          </a:solidFill>
          <a:ln/>
        </p:spPr>
      </p:sp>
      <p:sp>
        <p:nvSpPr>
          <p:cNvPr id="13" name="text-191"/>
          <p:cNvSpPr txBox="1"/>
          <p:nvPr/>
        </p:nvSpPr>
        <p:spPr>
          <a:xfrm>
            <a:off x="9649968" y="2011680"/>
            <a:ext cx="1761744" cy="86868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86%</a:t>
            </a:r>
            <a:endParaRPr lang="en-US" sz="4400" dirty="0"/>
          </a:p>
        </p:txBody>
      </p:sp>
      <p:sp>
        <p:nvSpPr>
          <p:cNvPr id="14" name="text-192"/>
          <p:cNvSpPr txBox="1"/>
          <p:nvPr/>
        </p:nvSpPr>
        <p:spPr>
          <a:xfrm>
            <a:off x="9649968" y="2880360"/>
            <a:ext cx="1761744" cy="640080"/>
          </a:xfrm>
          <a:prstGeom prst="rect">
            <a:avLst/>
          </a:prstGeom>
          <a:noFill/>
          <a:ln/>
        </p:spPr>
        <p:txBody>
          <a:bodyPr wrap="square" lIns="0" tIns="0" rIns="0" bIns="0" rtlCol="0" anchor="t"/>
          <a:lstStyle/>
          <a:p>
            <a:pPr indent="0" marL="0">
              <a:buNone/>
            </a:pPr>
            <a:r>
              <a:rPr lang="en-US" sz="1500" dirty="0">
                <a:solidFill>
                  <a:schemeClr val="tx1"/>
                </a:solidFill>
              </a:rPr>
              <a:t>remission if ≥15 kg lost</a:t>
            </a:r>
            <a:endParaRPr lang="en-US" sz="1500" dirty="0"/>
          </a:p>
        </p:txBody>
      </p:sp>
      <p:sp>
        <p:nvSpPr>
          <p:cNvPr id="15" name="text-193"/>
          <p:cNvSpPr txBox="1"/>
          <p:nvPr/>
        </p:nvSpPr>
        <p:spPr>
          <a:xfrm>
            <a:off x="4434840" y="3886200"/>
            <a:ext cx="7205472" cy="210312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Mechanism: weight loss removes liver and pancreatic fat, restoring β-cell function (twin-cycle hypothesis)</a:t>
            </a:r>
            <a:endParaRPr lang="en-US" sz="1400" dirty="0"/>
          </a:p>
          <a:p>
            <a:pPr marL="177800" indent="-177800">
              <a:spcAft>
                <a:spcPts val="800"/>
              </a:spcAft>
              <a:buSzPct val="100000"/>
              <a:buChar char="•"/>
            </a:pPr>
            <a:r>
              <a:rPr lang="en-US" sz="1500" dirty="0">
                <a:solidFill>
                  <a:schemeClr val="tx1"/>
                </a:solidFill>
              </a:rPr>
              <a:t>Best chance: shorter duration (&lt;6 years), not on insulin, substantial weight loss</a:t>
            </a:r>
            <a:endParaRPr lang="en-US" sz="1400" dirty="0"/>
          </a:p>
          <a:p>
            <a:pPr marL="177800" indent="-177800">
              <a:spcAft>
                <a:spcPts val="800"/>
              </a:spcAft>
              <a:buSzPct val="100000"/>
              <a:buChar char="•"/>
            </a:pPr>
            <a:r>
              <a:rPr lang="en-US" sz="1500" dirty="0">
                <a:solidFill>
                  <a:schemeClr val="tx1"/>
                </a:solidFill>
              </a:rPr>
              <a:t>NHS England rolled out the Type 2 Diabetes Path to Remission programme; South Asian data (DiRECT-Aus, STANDby) are encouraging</a:t>
            </a:r>
            <a:endParaRPr lang="en-US" sz="1400" dirty="0"/>
          </a:p>
        </p:txBody>
      </p:sp>
      <p:sp>
        <p:nvSpPr>
          <p:cNvPr id="16" name="text-194"/>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Riddle et al. ADA/EASD consensus on remission, Diabetes Care / Diabetologia 2021; Lean et al. Lancet 2018 and 2019 (DiRECT); Davidson's 24e.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Metabolic surgery</a:t>
            </a:r>
            <a:endParaRPr lang="en-US" sz="3400" dirty="0"/>
          </a:p>
        </p:txBody>
      </p:sp>
      <p:graphicFrame>
        <p:nvGraphicFramePr>
          <p:cNvPr id="18" name="table-195"/>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377440"/>
                <a:gridCol w="4297680"/>
              </a:tblGrid>
              <a:tr h="548640">
                <a:tc>
                  <a:txBody>
                    <a:bodyPr/>
                    <a:lstStyle/>
                    <a:p>
                      <a:pPr indent="0" marL="0">
                        <a:buNone/>
                      </a:pPr>
                      <a:r>
                        <a:rPr lang="en-US" sz="1500" b="1" dirty="0">
                          <a:solidFill>
                            <a:schemeClr val="bg1"/>
                          </a:solidFill>
                        </a:rPr>
                        <a:t>BMI (kg/m²)</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Recommendation (ADA; DSS-II; ASMBS / IFSO 2022)</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731520">
                <a:tc>
                  <a:txBody>
                    <a:bodyPr/>
                    <a:lstStyle/>
                    <a:p>
                      <a:pPr indent="0" marL="0">
                        <a:buNone/>
                      </a:pPr>
                      <a:r>
                        <a:rPr lang="en-US" sz="1500" b="1" dirty="0">
                          <a:solidFill>
                            <a:schemeClr val="tx1"/>
                          </a:solidFill>
                        </a:rPr>
                        <a:t>≥35 (≥32.5 Asian)</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Recommended, regardless of glycaemic control</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822960">
                <a:tc>
                  <a:txBody>
                    <a:bodyPr/>
                    <a:lstStyle/>
                    <a:p>
                      <a:pPr indent="0" marL="0">
                        <a:buNone/>
                      </a:pPr>
                      <a:r>
                        <a:rPr lang="en-US" sz="1500" b="1" dirty="0">
                          <a:solidFill>
                            <a:schemeClr val="tx1"/>
                          </a:solidFill>
                        </a:rPr>
                        <a:t>30–34.9 (27.5–32.4 Asian)</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Consider if glucose is inadequately controlled despite optimal medical therapy</a:t>
                      </a:r>
                      <a:endParaRPr lang="en-US" sz="1500" dirty="0"/>
                    </a:p>
                  </a:txBody>
                  <a:tcPr marL="91440" marR="91440" marT="91440" marB="91440"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text-196"/>
          <p:cNvSpPr txBox="1"/>
          <p:nvPr/>
        </p:nvSpPr>
        <p:spPr>
          <a:xfrm>
            <a:off x="548640" y="3657600"/>
            <a:ext cx="6675120" cy="365760"/>
          </a:xfrm>
          <a:prstGeom prst="rect">
            <a:avLst/>
          </a:prstGeom>
          <a:noFill/>
          <a:ln/>
        </p:spPr>
        <p:txBody>
          <a:bodyPr wrap="square" lIns="0" tIns="0" rIns="0" bIns="0" rtlCol="0" anchor="t"/>
          <a:lstStyle/>
          <a:p>
            <a:pPr indent="0" marL="0">
              <a:buNone/>
            </a:pPr>
            <a:r>
              <a:rPr lang="en-US" sz="1600" b="1" dirty="0">
                <a:solidFill>
                  <a:schemeClr val="tx2"/>
                </a:solidFill>
              </a:rPr>
              <a:t>STAMPEDE: HbA1c ≤6.0% at 5 years</a:t>
            </a:r>
            <a:endParaRPr lang="en-US" sz="1600" dirty="0"/>
          </a:p>
        </p:txBody>
      </p:sp>
      <p:sp>
        <p:nvSpPr>
          <p:cNvPr id="5" name="text-197"/>
          <p:cNvSpPr txBox="1"/>
          <p:nvPr/>
        </p:nvSpPr>
        <p:spPr>
          <a:xfrm>
            <a:off x="548640" y="4160520"/>
            <a:ext cx="2011680" cy="457200"/>
          </a:xfrm>
          <a:prstGeom prst="rect">
            <a:avLst/>
          </a:prstGeom>
          <a:noFill/>
          <a:ln/>
        </p:spPr>
        <p:txBody>
          <a:bodyPr wrap="square" lIns="0" tIns="0" rIns="0" bIns="0" rtlCol="0" anchor="ctr"/>
          <a:lstStyle/>
          <a:p>
            <a:pPr indent="0" marL="0">
              <a:buNone/>
            </a:pPr>
            <a:r>
              <a:rPr lang="en-US" sz="1400" dirty="0">
                <a:solidFill>
                  <a:schemeClr val="tx1"/>
                </a:solidFill>
              </a:rPr>
              <a:t>Gastric bypass</a:t>
            </a:r>
            <a:endParaRPr lang="en-US" sz="1400" dirty="0"/>
          </a:p>
        </p:txBody>
      </p:sp>
      <p:sp>
        <p:nvSpPr>
          <p:cNvPr id="6" name="bar-198"/>
          <p:cNvSpPr/>
          <p:nvPr/>
        </p:nvSpPr>
        <p:spPr>
          <a:xfrm>
            <a:off x="2651760" y="4233672"/>
            <a:ext cx="3977640" cy="329184"/>
          </a:xfrm>
          <a:prstGeom prst="rect">
            <a:avLst/>
          </a:prstGeom>
          <a:solidFill>
            <a:schemeClr val="accent3"/>
          </a:solidFill>
          <a:ln/>
        </p:spPr>
      </p:sp>
      <p:sp>
        <p:nvSpPr>
          <p:cNvPr id="7" name="text-199"/>
          <p:cNvSpPr txBox="1"/>
          <p:nvPr/>
        </p:nvSpPr>
        <p:spPr>
          <a:xfrm>
            <a:off x="6720840" y="4160520"/>
            <a:ext cx="731520" cy="457200"/>
          </a:xfrm>
          <a:prstGeom prst="rect">
            <a:avLst/>
          </a:prstGeom>
          <a:noFill/>
          <a:ln/>
        </p:spPr>
        <p:txBody>
          <a:bodyPr wrap="square" lIns="0" tIns="0" rIns="0" bIns="0" rtlCol="0" anchor="ctr"/>
          <a:lstStyle/>
          <a:p>
            <a:pPr indent="0" marL="0">
              <a:buNone/>
            </a:pPr>
            <a:r>
              <a:rPr lang="en-US" sz="1400" b="1" dirty="0">
                <a:solidFill>
                  <a:schemeClr val="tx1"/>
                </a:solidFill>
              </a:rPr>
              <a:t>29%</a:t>
            </a:r>
            <a:endParaRPr lang="en-US" sz="1400" dirty="0"/>
          </a:p>
        </p:txBody>
      </p:sp>
      <p:sp>
        <p:nvSpPr>
          <p:cNvPr id="8" name="text-200"/>
          <p:cNvSpPr txBox="1"/>
          <p:nvPr/>
        </p:nvSpPr>
        <p:spPr>
          <a:xfrm>
            <a:off x="548640" y="4754880"/>
            <a:ext cx="2011680" cy="457200"/>
          </a:xfrm>
          <a:prstGeom prst="rect">
            <a:avLst/>
          </a:prstGeom>
          <a:noFill/>
          <a:ln/>
        </p:spPr>
        <p:txBody>
          <a:bodyPr wrap="square" lIns="0" tIns="0" rIns="0" bIns="0" rtlCol="0" anchor="ctr"/>
          <a:lstStyle/>
          <a:p>
            <a:pPr indent="0" marL="0">
              <a:buNone/>
            </a:pPr>
            <a:r>
              <a:rPr lang="en-US" sz="1400" dirty="0">
                <a:solidFill>
                  <a:schemeClr val="tx1"/>
                </a:solidFill>
              </a:rPr>
              <a:t>Sleeve gastrectomy</a:t>
            </a:r>
            <a:endParaRPr lang="en-US" sz="1400" dirty="0"/>
          </a:p>
        </p:txBody>
      </p:sp>
      <p:sp>
        <p:nvSpPr>
          <p:cNvPr id="9" name="bar-201"/>
          <p:cNvSpPr/>
          <p:nvPr/>
        </p:nvSpPr>
        <p:spPr>
          <a:xfrm>
            <a:off x="2651760" y="4828032"/>
            <a:ext cx="3154680" cy="329184"/>
          </a:xfrm>
          <a:prstGeom prst="rect">
            <a:avLst/>
          </a:prstGeom>
          <a:solidFill>
            <a:schemeClr val="accent1"/>
          </a:solidFill>
          <a:ln/>
        </p:spPr>
      </p:sp>
      <p:sp>
        <p:nvSpPr>
          <p:cNvPr id="10" name="text-202"/>
          <p:cNvSpPr txBox="1"/>
          <p:nvPr/>
        </p:nvSpPr>
        <p:spPr>
          <a:xfrm>
            <a:off x="5897880" y="4754880"/>
            <a:ext cx="731520" cy="457200"/>
          </a:xfrm>
          <a:prstGeom prst="rect">
            <a:avLst/>
          </a:prstGeom>
          <a:noFill/>
          <a:ln/>
        </p:spPr>
        <p:txBody>
          <a:bodyPr wrap="square" lIns="0" tIns="0" rIns="0" bIns="0" rtlCol="0" anchor="ctr"/>
          <a:lstStyle/>
          <a:p>
            <a:pPr indent="0" marL="0">
              <a:buNone/>
            </a:pPr>
            <a:r>
              <a:rPr lang="en-US" sz="1400" b="1" dirty="0">
                <a:solidFill>
                  <a:schemeClr val="tx1"/>
                </a:solidFill>
              </a:rPr>
              <a:t>23%</a:t>
            </a:r>
            <a:endParaRPr lang="en-US" sz="1400" dirty="0"/>
          </a:p>
        </p:txBody>
      </p:sp>
      <p:sp>
        <p:nvSpPr>
          <p:cNvPr id="11" name="text-203"/>
          <p:cNvSpPr txBox="1"/>
          <p:nvPr/>
        </p:nvSpPr>
        <p:spPr>
          <a:xfrm>
            <a:off x="548640" y="5349240"/>
            <a:ext cx="2011680" cy="457200"/>
          </a:xfrm>
          <a:prstGeom prst="rect">
            <a:avLst/>
          </a:prstGeom>
          <a:noFill/>
          <a:ln/>
        </p:spPr>
        <p:txBody>
          <a:bodyPr wrap="square" lIns="0" tIns="0" rIns="0" bIns="0" rtlCol="0" anchor="ctr"/>
          <a:lstStyle/>
          <a:p>
            <a:pPr indent="0" marL="0">
              <a:buNone/>
            </a:pPr>
            <a:r>
              <a:rPr lang="en-US" sz="1400" dirty="0">
                <a:solidFill>
                  <a:schemeClr val="tx1"/>
                </a:solidFill>
              </a:rPr>
              <a:t>Medical therapy</a:t>
            </a:r>
            <a:endParaRPr lang="en-US" sz="1400" dirty="0"/>
          </a:p>
        </p:txBody>
      </p:sp>
      <p:sp>
        <p:nvSpPr>
          <p:cNvPr id="12" name="bar-204"/>
          <p:cNvSpPr/>
          <p:nvPr/>
        </p:nvSpPr>
        <p:spPr>
          <a:xfrm>
            <a:off x="2651760" y="5422392"/>
            <a:ext cx="685800" cy="329184"/>
          </a:xfrm>
          <a:prstGeom prst="rect">
            <a:avLst/>
          </a:prstGeom>
          <a:solidFill>
            <a:schemeClr val="accent5"/>
          </a:solidFill>
          <a:ln/>
        </p:spPr>
      </p:sp>
      <p:sp>
        <p:nvSpPr>
          <p:cNvPr id="13" name="text-205"/>
          <p:cNvSpPr txBox="1"/>
          <p:nvPr/>
        </p:nvSpPr>
        <p:spPr>
          <a:xfrm>
            <a:off x="3429000" y="5349240"/>
            <a:ext cx="731520" cy="457200"/>
          </a:xfrm>
          <a:prstGeom prst="rect">
            <a:avLst/>
          </a:prstGeom>
          <a:noFill/>
          <a:ln/>
        </p:spPr>
        <p:txBody>
          <a:bodyPr wrap="square" lIns="0" tIns="0" rIns="0" bIns="0" rtlCol="0" anchor="ctr"/>
          <a:lstStyle/>
          <a:p>
            <a:pPr indent="0" marL="0">
              <a:buNone/>
            </a:pPr>
            <a:r>
              <a:rPr lang="en-US" sz="1400" b="1" dirty="0">
                <a:solidFill>
                  <a:schemeClr val="tx1"/>
                </a:solidFill>
              </a:rPr>
              <a:t>5%</a:t>
            </a:r>
            <a:endParaRPr lang="en-US" sz="1400" dirty="0"/>
          </a:p>
        </p:txBody>
      </p:sp>
      <p:sp>
        <p:nvSpPr>
          <p:cNvPr id="14" name="card-206"/>
          <p:cNvSpPr/>
          <p:nvPr/>
        </p:nvSpPr>
        <p:spPr>
          <a:xfrm>
            <a:off x="7498080" y="1371600"/>
            <a:ext cx="4144975" cy="4617720"/>
          </a:xfrm>
          <a:prstGeom prst="roundRect">
            <a:avLst>
              <a:gd name="adj" fmla="val 2647"/>
            </a:avLst>
          </a:prstGeom>
          <a:solidFill>
            <a:schemeClr val="bg2"/>
          </a:solidFill>
          <a:ln/>
        </p:spPr>
      </p:sp>
      <p:sp>
        <p:nvSpPr>
          <p:cNvPr id="15" name="text-207"/>
          <p:cNvSpPr txBox="1"/>
          <p:nvPr/>
        </p:nvSpPr>
        <p:spPr>
          <a:xfrm>
            <a:off x="7772400" y="1600200"/>
            <a:ext cx="3596335" cy="42062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Why it matters</a:t>
            </a:r>
            <a:endParaRPr lang="en-US" sz="1400" dirty="0"/>
          </a:p>
          <a:p>
            <a:pPr marL="177800" indent="-177800">
              <a:spcAft>
                <a:spcPts val="800"/>
              </a:spcAft>
              <a:buSzPct val="100000"/>
              <a:buChar char="•"/>
            </a:pPr>
            <a:r>
              <a:rPr lang="en-US" sz="1500" dirty="0">
                <a:solidFill>
                  <a:schemeClr val="tx1"/>
                </a:solidFill>
              </a:rPr>
              <a:t>Most effective treatment for durable remission in severe obesity</a:t>
            </a:r>
            <a:endParaRPr lang="en-US" sz="1400" dirty="0"/>
          </a:p>
          <a:p>
            <a:pPr marL="177800" indent="-177800">
              <a:spcAft>
                <a:spcPts val="800"/>
              </a:spcAft>
              <a:buSzPct val="100000"/>
              <a:buChar char="•"/>
            </a:pPr>
            <a:r>
              <a:rPr lang="en-US" sz="1500" dirty="0">
                <a:solidFill>
                  <a:schemeClr val="tx1"/>
                </a:solidFill>
              </a:rPr>
              <a:t>Lower microvascular and CV events in observational cohorts (SOS)</a:t>
            </a:r>
            <a:endParaRPr lang="en-US" sz="1400" dirty="0"/>
          </a:p>
          <a:p>
            <a:pPr marL="177800" indent="-177800">
              <a:spcAft>
                <a:spcPts val="800"/>
              </a:spcAft>
              <a:buSzPct val="100000"/>
              <a:buChar char="•"/>
            </a:pPr>
            <a:r>
              <a:rPr lang="en-US" sz="1500" dirty="0">
                <a:solidFill>
                  <a:schemeClr val="tx1"/>
                </a:solidFill>
              </a:rPr>
              <a:t>Asian thresholds are lower because risk rises at lower BMI</a:t>
            </a:r>
            <a:endParaRPr lang="en-US" sz="1400" dirty="0"/>
          </a:p>
          <a:p>
            <a:pPr marL="177800" indent="-177800">
              <a:spcAft>
                <a:spcPts val="800"/>
              </a:spcAft>
              <a:buSzPct val="100000"/>
              <a:buChar char="•"/>
            </a:pPr>
            <a:r>
              <a:rPr lang="en-US" sz="1500" dirty="0">
                <a:solidFill>
                  <a:schemeClr val="tx1"/>
                </a:solidFill>
              </a:rPr>
              <a:t>Lifelong nutritional follow-up needed</a:t>
            </a:r>
            <a:endParaRPr lang="en-US" sz="1400" dirty="0"/>
          </a:p>
          <a:p>
            <a:pPr marL="177800" indent="-177800">
              <a:spcAft>
                <a:spcPts val="800"/>
              </a:spcAft>
              <a:buSzPct val="100000"/>
              <a:buChar char="•"/>
            </a:pPr>
            <a:r>
              <a:rPr lang="en-US" sz="1500" dirty="0">
                <a:solidFill>
                  <a:schemeClr val="tx1"/>
                </a:solidFill>
              </a:rPr>
              <a:t>Incretin drugs now compete for some patients; the options are complementary</a:t>
            </a:r>
            <a:endParaRPr lang="en-US" sz="1400" dirty="0"/>
          </a:p>
        </p:txBody>
      </p:sp>
      <p:sp>
        <p:nvSpPr>
          <p:cNvPr id="16" name="text-208"/>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 8; Rubino et al. DSS-II, Diabetes Care 2016; Eisenberg et al. ASMBS/IFSO 2022; Schauer et al. NEJM 2017 (STAMPEDE).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Treating the whole person: key comorbidities</a:t>
            </a:r>
            <a:endParaRPr lang="en-US" sz="3400" dirty="0"/>
          </a:p>
        </p:txBody>
      </p:sp>
      <p:sp>
        <p:nvSpPr>
          <p:cNvPr id="3" name="card-209"/>
          <p:cNvSpPr/>
          <p:nvPr/>
        </p:nvSpPr>
        <p:spPr>
          <a:xfrm>
            <a:off x="548640" y="1371600"/>
            <a:ext cx="5410048" cy="2194560"/>
          </a:xfrm>
          <a:prstGeom prst="roundRect">
            <a:avLst>
              <a:gd name="adj" fmla="val 5000"/>
            </a:avLst>
          </a:prstGeom>
          <a:solidFill>
            <a:schemeClr val="bg2"/>
          </a:solidFill>
          <a:ln/>
        </p:spPr>
      </p:sp>
      <p:sp>
        <p:nvSpPr>
          <p:cNvPr id="4" name="icon-circle-210"/>
          <p:cNvSpPr/>
          <p:nvPr/>
        </p:nvSpPr>
        <p:spPr>
          <a:xfrm>
            <a:off x="822960" y="1645920"/>
            <a:ext cx="777240" cy="777240"/>
          </a:xfrm>
          <a:prstGeom prst="ellipse">
            <a:avLst/>
          </a:prstGeom>
          <a:solidFill>
            <a:schemeClr val="accent4"/>
          </a:solidFill>
          <a:ln/>
        </p:spPr>
      </p:sp>
      <p:pic>
        <p:nvPicPr>
          <p:cNvPr id="5" name="icon-211"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text-212"/>
          <p:cNvSpPr txBox="1"/>
          <p:nvPr/>
        </p:nvSpPr>
        <p:spPr>
          <a:xfrm>
            <a:off x="1828800"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MASLD / MASH</a:t>
            </a:r>
            <a:endParaRPr lang="en-US" sz="1400" dirty="0"/>
          </a:p>
          <a:p>
            <a:pPr indent="0" marL="0">
              <a:buNone/>
            </a:pPr>
            <a:r>
              <a:rPr lang="en-US" sz="1400" dirty="0">
                <a:solidFill>
                  <a:schemeClr val="tx1"/>
                </a:solidFill>
              </a:rPr>
              <a:t>Screen with FIB-4. For MASH: GLP-1 RA, tirzepatide or pioglitazone; resmetirom (US 2024) and semaglutide (US 2025) approved for fibrosing MASH.</a:t>
            </a:r>
            <a:endParaRPr lang="en-US" sz="1400" dirty="0"/>
          </a:p>
        </p:txBody>
      </p:sp>
      <p:sp>
        <p:nvSpPr>
          <p:cNvPr id="7" name="card-213"/>
          <p:cNvSpPr/>
          <p:nvPr/>
        </p:nvSpPr>
        <p:spPr>
          <a:xfrm>
            <a:off x="6233008" y="1371600"/>
            <a:ext cx="5410048" cy="2194560"/>
          </a:xfrm>
          <a:prstGeom prst="roundRect">
            <a:avLst>
              <a:gd name="adj" fmla="val 5000"/>
            </a:avLst>
          </a:prstGeom>
          <a:solidFill>
            <a:schemeClr val="bg2"/>
          </a:solidFill>
          <a:ln/>
        </p:spPr>
      </p:sp>
      <p:sp>
        <p:nvSpPr>
          <p:cNvPr id="8" name="icon-circle-214"/>
          <p:cNvSpPr/>
          <p:nvPr/>
        </p:nvSpPr>
        <p:spPr>
          <a:xfrm>
            <a:off x="6507328" y="1645920"/>
            <a:ext cx="777240" cy="777240"/>
          </a:xfrm>
          <a:prstGeom prst="ellipse">
            <a:avLst/>
          </a:prstGeom>
          <a:solidFill>
            <a:schemeClr val="accent2"/>
          </a:solidFill>
          <a:ln/>
        </p:spPr>
      </p:sp>
      <p:pic>
        <p:nvPicPr>
          <p:cNvPr id="9" name="icon-215" descr="preencoded.png">    </p:cNvPr>
          <p:cNvPicPr>
            <a:picLocks noChangeAspect="1"/>
          </p:cNvPicPr>
          <p:nvPr/>
        </p:nvPicPr>
        <p:blipFill>
          <a:blip r:embed="rId2"/>
          <a:stretch>
            <a:fillRect/>
          </a:stretch>
        </p:blipFill>
        <p:spPr>
          <a:xfrm>
            <a:off x="6701638" y="1840230"/>
            <a:ext cx="388620" cy="388620"/>
          </a:xfrm>
          <a:prstGeom prst="rect">
            <a:avLst/>
          </a:prstGeom>
        </p:spPr>
      </p:pic>
      <p:sp>
        <p:nvSpPr>
          <p:cNvPr id="10" name="text-216"/>
          <p:cNvSpPr txBox="1"/>
          <p:nvPr/>
        </p:nvSpPr>
        <p:spPr>
          <a:xfrm>
            <a:off x="7513168"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Heart failure</a:t>
            </a:r>
            <a:endParaRPr lang="en-US" sz="1400" dirty="0"/>
          </a:p>
          <a:p>
            <a:pPr indent="0" marL="0">
              <a:buNone/>
            </a:pPr>
            <a:r>
              <a:rPr lang="en-US" sz="1400" dirty="0">
                <a:solidFill>
                  <a:schemeClr val="tx1"/>
                </a:solidFill>
              </a:rPr>
              <a:t>Screen with natriuretic peptides; SGLT2i for HFrEF and HFpEF; finerenone in HFmrEF/HFpEF (FINEARTS-HF); avoid TZDs and saxagliptin.</a:t>
            </a:r>
            <a:endParaRPr lang="en-US" sz="1400" dirty="0"/>
          </a:p>
        </p:txBody>
      </p:sp>
      <p:sp>
        <p:nvSpPr>
          <p:cNvPr id="11" name="card-217"/>
          <p:cNvSpPr/>
          <p:nvPr/>
        </p:nvSpPr>
        <p:spPr>
          <a:xfrm>
            <a:off x="548640" y="3840480"/>
            <a:ext cx="5410048" cy="2194560"/>
          </a:xfrm>
          <a:prstGeom prst="roundRect">
            <a:avLst>
              <a:gd name="adj" fmla="val 5000"/>
            </a:avLst>
          </a:prstGeom>
          <a:solidFill>
            <a:schemeClr val="bg2"/>
          </a:solidFill>
          <a:ln/>
        </p:spPr>
      </p:sp>
      <p:sp>
        <p:nvSpPr>
          <p:cNvPr id="12" name="icon-circle-218"/>
          <p:cNvSpPr/>
          <p:nvPr/>
        </p:nvSpPr>
        <p:spPr>
          <a:xfrm>
            <a:off x="822960" y="4114800"/>
            <a:ext cx="777240" cy="777240"/>
          </a:xfrm>
          <a:prstGeom prst="ellipse">
            <a:avLst/>
          </a:prstGeom>
          <a:solidFill>
            <a:schemeClr val="accent3"/>
          </a:solidFill>
          <a:ln/>
        </p:spPr>
      </p:sp>
      <p:pic>
        <p:nvPicPr>
          <p:cNvPr id="13" name="icon-219" descr="preencoded.png">    </p:cNvPr>
          <p:cNvPicPr>
            <a:picLocks noChangeAspect="1"/>
          </p:cNvPicPr>
          <p:nvPr/>
        </p:nvPicPr>
        <p:blipFill>
          <a:blip r:embed="rId3"/>
          <a:stretch>
            <a:fillRect/>
          </a:stretch>
        </p:blipFill>
        <p:spPr>
          <a:xfrm>
            <a:off x="1017270" y="4309110"/>
            <a:ext cx="388620" cy="388620"/>
          </a:xfrm>
          <a:prstGeom prst="rect">
            <a:avLst/>
          </a:prstGeom>
        </p:spPr>
      </p:pic>
      <p:sp>
        <p:nvSpPr>
          <p:cNvPr id="14" name="text-220"/>
          <p:cNvSpPr txBox="1"/>
          <p:nvPr/>
        </p:nvSpPr>
        <p:spPr>
          <a:xfrm>
            <a:off x="1828800"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Obesity</a:t>
            </a:r>
            <a:endParaRPr lang="en-US" sz="1400" dirty="0"/>
          </a:p>
          <a:p>
            <a:pPr indent="0" marL="0">
              <a:buNone/>
            </a:pPr>
            <a:r>
              <a:rPr lang="en-US" sz="1400" dirty="0">
                <a:solidFill>
                  <a:schemeClr val="tx1"/>
                </a:solidFill>
              </a:rPr>
              <a:t>Treat as a chronic disease; Lancet Commission 2025 distinguishes clinical from pre-clinical obesity; weight-loss goal ≥10–15% where feasible.</a:t>
            </a:r>
            <a:endParaRPr lang="en-US" sz="1400" dirty="0"/>
          </a:p>
        </p:txBody>
      </p:sp>
      <p:sp>
        <p:nvSpPr>
          <p:cNvPr id="15" name="card-221"/>
          <p:cNvSpPr/>
          <p:nvPr/>
        </p:nvSpPr>
        <p:spPr>
          <a:xfrm>
            <a:off x="6233008" y="3840480"/>
            <a:ext cx="5410048" cy="2194560"/>
          </a:xfrm>
          <a:prstGeom prst="roundRect">
            <a:avLst>
              <a:gd name="adj" fmla="val 5000"/>
            </a:avLst>
          </a:prstGeom>
          <a:solidFill>
            <a:schemeClr val="bg2"/>
          </a:solidFill>
          <a:ln/>
        </p:spPr>
      </p:sp>
      <p:sp>
        <p:nvSpPr>
          <p:cNvPr id="16" name="icon-circle-222"/>
          <p:cNvSpPr/>
          <p:nvPr/>
        </p:nvSpPr>
        <p:spPr>
          <a:xfrm>
            <a:off x="6507328" y="4114800"/>
            <a:ext cx="777240" cy="777240"/>
          </a:xfrm>
          <a:prstGeom prst="ellipse">
            <a:avLst/>
          </a:prstGeom>
          <a:solidFill>
            <a:schemeClr val="accent6"/>
          </a:solidFill>
          <a:ln/>
        </p:spPr>
      </p:sp>
      <p:pic>
        <p:nvPicPr>
          <p:cNvPr id="17" name="icon-223" descr="preencoded.png">    </p:cNvPr>
          <p:cNvPicPr>
            <a:picLocks noChangeAspect="1"/>
          </p:cNvPicPr>
          <p:nvPr/>
        </p:nvPicPr>
        <p:blipFill>
          <a:blip r:embed="rId4"/>
          <a:stretch>
            <a:fillRect/>
          </a:stretch>
        </p:blipFill>
        <p:spPr>
          <a:xfrm>
            <a:off x="6701638" y="4309110"/>
            <a:ext cx="388620" cy="388620"/>
          </a:xfrm>
          <a:prstGeom prst="rect">
            <a:avLst/>
          </a:prstGeom>
        </p:spPr>
      </p:pic>
      <p:sp>
        <p:nvSpPr>
          <p:cNvPr id="18" name="text-224"/>
          <p:cNvSpPr txBox="1"/>
          <p:nvPr/>
        </p:nvSpPr>
        <p:spPr>
          <a:xfrm>
            <a:off x="7513168"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Mental health, sleep, frailty</a:t>
            </a:r>
            <a:endParaRPr lang="en-US" sz="1400" dirty="0"/>
          </a:p>
          <a:p>
            <a:pPr indent="0" marL="0">
              <a:buNone/>
            </a:pPr>
            <a:r>
              <a:rPr lang="en-US" sz="1400" dirty="0">
                <a:solidFill>
                  <a:schemeClr val="tx1"/>
                </a:solidFill>
              </a:rPr>
              <a:t>Screen for depression, diabetes distress and OSA; in older adults, simplify regimens and deprescribe to avoid hypoglycaemia.</a:t>
            </a:r>
            <a:endParaRPr lang="en-US" sz="1400" dirty="0"/>
          </a:p>
        </p:txBody>
      </p:sp>
      <p:sp>
        <p:nvSpPr>
          <p:cNvPr id="19" name="text-225"/>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Sections 4, 5, 10 and 13; FINEARTS-HF NEJM 2024; ESSENCE NEJM 2025; Rubino et al. Lancet Diabetes Endocrinol 2025.</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Individualised targets, enduring fundamentals</a:t>
            </a:r>
            <a:endParaRPr lang="en-US" sz="3400" dirty="0"/>
          </a:p>
        </p:txBody>
      </p:sp>
      <p:graphicFrame>
        <p:nvGraphicFramePr>
          <p:cNvPr id="20" name="table-226"/>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3566160"/>
                <a:gridCol w="2286000"/>
              </a:tblGrid>
              <a:tr h="457200">
                <a:tc>
                  <a:txBody>
                    <a:bodyPr/>
                    <a:lstStyle/>
                    <a:p>
                      <a:pPr indent="0" marL="0">
                        <a:buNone/>
                      </a:pPr>
                      <a:r>
                        <a:rPr lang="en-US" sz="1400" b="1" dirty="0">
                          <a:solidFill>
                            <a:schemeClr val="bg1"/>
                          </a:solidFill>
                        </a:rPr>
                        <a:t>Group</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HbA1c target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594360">
                <a:tc>
                  <a:txBody>
                    <a:bodyPr/>
                    <a:lstStyle/>
                    <a:p>
                      <a:pPr indent="0" marL="0">
                        <a:buNone/>
                      </a:pPr>
                      <a:r>
                        <a:rPr lang="en-US" sz="1400" b="1" dirty="0">
                          <a:solidFill>
                            <a:schemeClr val="tx1"/>
                          </a:solidFill>
                        </a:rPr>
                        <a:t>Most non-pregnant adults (ADA)</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&lt;7.0% (53 mmol/mol)</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94360">
                <a:tc>
                  <a:txBody>
                    <a:bodyPr/>
                    <a:lstStyle/>
                    <a:p>
                      <a:pPr indent="0" marL="0">
                        <a:buNone/>
                      </a:pPr>
                      <a:r>
                        <a:rPr lang="en-US" sz="1400" b="1" dirty="0">
                          <a:solidFill>
                            <a:schemeClr val="tx1"/>
                          </a:solidFill>
                        </a:rPr>
                        <a:t>If achievable safely, early disease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&lt;6.5% (48)</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685800">
                <a:tc>
                  <a:txBody>
                    <a:bodyPr/>
                    <a:lstStyle/>
                    <a:p>
                      <a:pPr indent="0" marL="0">
                        <a:buNone/>
                      </a:pPr>
                      <a:r>
                        <a:rPr lang="en-US" sz="1400" b="1" dirty="0">
                          <a:solidFill>
                            <a:schemeClr val="tx1"/>
                          </a:solidFill>
                        </a:rPr>
                        <a:t>UK: lifestyle ± one non-hypo drug (NICE)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48 mmol/mol (6.5%)</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685800">
                <a:tc>
                  <a:txBody>
                    <a:bodyPr/>
                    <a:lstStyle/>
                    <a:p>
                      <a:pPr indent="0" marL="0">
                        <a:buNone/>
                      </a:pPr>
                      <a:r>
                        <a:rPr lang="en-US" sz="1400" b="1" dirty="0">
                          <a:solidFill>
                            <a:schemeClr val="tx1"/>
                          </a:solidFill>
                        </a:rPr>
                        <a:t>Older, frail, limited life expectancy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&lt;8.0% (64) or symptom control</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94360">
                <a:tc>
                  <a:txBody>
                    <a:bodyPr/>
                    <a:lstStyle/>
                    <a:p>
                      <a:pPr indent="0" marL="0">
                        <a:buNone/>
                      </a:pPr>
                      <a:r>
                        <a:rPr lang="en-US" sz="1400" b="1" dirty="0">
                          <a:solidFill>
                            <a:schemeClr val="tx1"/>
                          </a:solidFill>
                        </a:rPr>
                        <a:t>Pregnancy (if safe)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&lt;6.0–6.5% (42–48)</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text-227"/>
          <p:cNvSpPr txBox="1"/>
          <p:nvPr/>
        </p:nvSpPr>
        <p:spPr>
          <a:xfrm>
            <a:off x="548640" y="5166360"/>
            <a:ext cx="5852160" cy="777240"/>
          </a:xfrm>
          <a:prstGeom prst="rect">
            <a:avLst/>
          </a:prstGeom>
          <a:noFill/>
          <a:ln/>
        </p:spPr>
        <p:txBody>
          <a:bodyPr wrap="square" lIns="0" tIns="0" rIns="0" bIns="0" rtlCol="0" anchor="t"/>
          <a:lstStyle/>
          <a:p>
            <a:pPr indent="0" marL="0">
              <a:buNone/>
            </a:pPr>
            <a:r>
              <a:rPr lang="en-US" sz="1400" i="1" dirty="0">
                <a:solidFill>
                  <a:schemeClr val="tx2"/>
                </a:solidFill>
              </a:rPr>
              <a:t>Avoid hypoglycaemia: level 2 (&lt;3.0 mmol/L) and level 3 (severe) events demand regimen review.</a:t>
            </a:r>
            <a:endParaRPr lang="en-US" sz="1400" dirty="0"/>
          </a:p>
        </p:txBody>
      </p:sp>
      <p:sp>
        <p:nvSpPr>
          <p:cNvPr id="5" name="card-228"/>
          <p:cNvSpPr/>
          <p:nvPr/>
        </p:nvSpPr>
        <p:spPr>
          <a:xfrm>
            <a:off x="6675120" y="1371600"/>
            <a:ext cx="4967935" cy="4617720"/>
          </a:xfrm>
          <a:prstGeom prst="roundRect">
            <a:avLst>
              <a:gd name="adj" fmla="val 2376"/>
            </a:avLst>
          </a:prstGeom>
          <a:solidFill>
            <a:schemeClr val="tx1"/>
          </a:solidFill>
          <a:ln/>
        </p:spPr>
      </p:sp>
      <p:sp>
        <p:nvSpPr>
          <p:cNvPr id="6" name="text-229"/>
          <p:cNvSpPr txBox="1"/>
          <p:nvPr/>
        </p:nvSpPr>
        <p:spPr>
          <a:xfrm>
            <a:off x="6949440" y="1600200"/>
            <a:ext cx="4419295" cy="420624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Fundamentals the textbooks stress</a:t>
            </a:r>
            <a:endParaRPr lang="en-US" sz="1400" dirty="0"/>
          </a:p>
          <a:p>
            <a:pPr marL="177800" indent="-177800">
              <a:spcAft>
                <a:spcPts val="800"/>
              </a:spcAft>
              <a:buSzPct val="100000"/>
              <a:buChar char="•"/>
            </a:pPr>
            <a:r>
              <a:rPr lang="en-US" sz="1500" dirty="0">
                <a:solidFill>
                  <a:schemeClr val="bg1"/>
                </a:solidFill>
              </a:rPr>
              <a:t>Structured education: DAFNE (T1D), DESMOND / X-PERT (T2D)</a:t>
            </a:r>
            <a:endParaRPr lang="en-US" sz="1400" dirty="0"/>
          </a:p>
          <a:p>
            <a:pPr marL="177800" indent="-177800">
              <a:spcAft>
                <a:spcPts val="800"/>
              </a:spcAft>
              <a:buSzPct val="100000"/>
              <a:buChar char="•"/>
            </a:pPr>
            <a:r>
              <a:rPr lang="en-US" sz="1500" dirty="0">
                <a:solidFill>
                  <a:schemeClr val="bg1"/>
                </a:solidFill>
              </a:rPr>
              <a:t>Multifactorial risk control: Steno-2 halved CV events with combined glucose, BP, lipid and aspirin therapy</a:t>
            </a:r>
            <a:endParaRPr lang="en-US" sz="1400" dirty="0"/>
          </a:p>
          <a:p>
            <a:pPr marL="177800" indent="-177800">
              <a:spcAft>
                <a:spcPts val="800"/>
              </a:spcAft>
              <a:buSzPct val="100000"/>
              <a:buChar char="•"/>
            </a:pPr>
            <a:r>
              <a:rPr lang="en-US" sz="1500" dirty="0">
                <a:solidFill>
                  <a:schemeClr val="bg1"/>
                </a:solidFill>
              </a:rPr>
              <a:t>Annual review: eyes, feet, kidneys, BP, lipids</a:t>
            </a:r>
            <a:endParaRPr lang="en-US" sz="1400" dirty="0"/>
          </a:p>
          <a:p>
            <a:pPr marL="177800" indent="-177800">
              <a:spcAft>
                <a:spcPts val="800"/>
              </a:spcAft>
              <a:buSzPct val="100000"/>
              <a:buChar char="•"/>
            </a:pPr>
            <a:r>
              <a:rPr lang="en-US" sz="1500" dirty="0">
                <a:solidFill>
                  <a:schemeClr val="bg1"/>
                </a:solidFill>
              </a:rPr>
              <a:t>Sick-day rules, DKA and hypoglycaemia education</a:t>
            </a:r>
            <a:endParaRPr lang="en-US" sz="1400" dirty="0"/>
          </a:p>
          <a:p>
            <a:pPr marL="177800" indent="-177800">
              <a:spcAft>
                <a:spcPts val="800"/>
              </a:spcAft>
              <a:buSzPct val="100000"/>
              <a:buChar char="•"/>
            </a:pPr>
            <a:r>
              <a:rPr lang="en-US" sz="1500" dirty="0">
                <a:solidFill>
                  <a:schemeClr val="bg1"/>
                </a:solidFill>
              </a:rPr>
              <a:t>Foot care and early referral prevent amputation</a:t>
            </a:r>
            <a:endParaRPr lang="en-US" sz="1400" dirty="0"/>
          </a:p>
        </p:txBody>
      </p:sp>
      <p:sp>
        <p:nvSpPr>
          <p:cNvPr id="7" name="text-23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Sections 6, 13 and 15; NICE NG28; Gæde et al. NEJM 2008 (Steno-2); Davidson's 24e; Kumar &amp; Clark 10e.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Global perspective: WHO and IDF</a:t>
            </a:r>
            <a:endParaRPr lang="en-US" sz="3400" dirty="0"/>
          </a:p>
        </p:txBody>
      </p:sp>
      <p:sp>
        <p:nvSpPr>
          <p:cNvPr id="3" name="timeline-231"/>
          <p:cNvSpPr/>
          <p:nvPr/>
        </p:nvSpPr>
        <p:spPr>
          <a:xfrm>
            <a:off x="914400" y="1965960"/>
            <a:ext cx="10362895" cy="0"/>
          </a:xfrm>
          <a:prstGeom prst="line">
            <a:avLst/>
          </a:prstGeom>
          <a:noFill/>
          <a:ln w="25400">
            <a:solidFill>
              <a:schemeClr val="accent5"/>
            </a:solidFill>
            <a:prstDash val="solid"/>
          </a:ln>
        </p:spPr>
      </p:sp>
      <p:sp>
        <p:nvSpPr>
          <p:cNvPr id="4" name="ring-232"/>
          <p:cNvSpPr/>
          <p:nvPr/>
        </p:nvSpPr>
        <p:spPr>
          <a:xfrm>
            <a:off x="1329652" y="1463040"/>
            <a:ext cx="1005840" cy="1005840"/>
          </a:xfrm>
          <a:prstGeom prst="ellipse">
            <a:avLst/>
          </a:prstGeom>
          <a:solidFill>
            <a:schemeClr val="bg1"/>
          </a:solidFill>
          <a:ln w="63500">
            <a:solidFill>
              <a:schemeClr val="accent1"/>
            </a:solidFill>
            <a:prstDash val="solid"/>
          </a:ln>
        </p:spPr>
      </p:sp>
      <p:sp>
        <p:nvSpPr>
          <p:cNvPr id="5" name="text-233"/>
          <p:cNvSpPr txBox="1"/>
          <p:nvPr/>
        </p:nvSpPr>
        <p:spPr>
          <a:xfrm>
            <a:off x="1329652" y="1463040"/>
            <a:ext cx="1005840" cy="1005840"/>
          </a:xfrm>
          <a:prstGeom prst="rect">
            <a:avLst/>
          </a:prstGeom>
          <a:noFill/>
          <a:ln/>
        </p:spPr>
        <p:txBody>
          <a:bodyPr wrap="square" lIns="0" tIns="0" rIns="0" bIns="0" rtlCol="0" anchor="ctr"/>
          <a:lstStyle/>
          <a:p>
            <a:pPr algn="ctr" indent="0" marL="0">
              <a:buNone/>
            </a:pPr>
            <a:r>
              <a:rPr lang="en-US" sz="1800" b="1" dirty="0">
                <a:solidFill>
                  <a:schemeClr val="tx1"/>
                </a:solidFill>
              </a:rPr>
              <a:t>2023</a:t>
            </a:r>
            <a:endParaRPr lang="en-US" sz="1800" dirty="0"/>
          </a:p>
        </p:txBody>
      </p:sp>
      <p:sp>
        <p:nvSpPr>
          <p:cNvPr id="6" name="text-234"/>
          <p:cNvSpPr txBox="1"/>
          <p:nvPr/>
        </p:nvSpPr>
        <p:spPr>
          <a:xfrm>
            <a:off x="548640" y="2651760"/>
            <a:ext cx="2567864" cy="1234440"/>
          </a:xfrm>
          <a:prstGeom prst="rect">
            <a:avLst/>
          </a:prstGeom>
          <a:noFill/>
          <a:ln/>
        </p:spPr>
        <p:txBody>
          <a:bodyPr wrap="square" lIns="0" tIns="0" rIns="0" bIns="0" rtlCol="0" anchor="t"/>
          <a:lstStyle/>
          <a:p>
            <a:pPr algn="ctr" indent="0" marL="0">
              <a:buNone/>
            </a:pPr>
            <a:r>
              <a:rPr lang="en-US" sz="1400" dirty="0">
                <a:solidFill>
                  <a:schemeClr val="tx1"/>
                </a:solidFill>
              </a:rPr>
              <a:t>WHO adds SGLT2 inhibitors to the Essential Medicines List</a:t>
            </a:r>
            <a:endParaRPr lang="en-US" sz="1400" dirty="0"/>
          </a:p>
        </p:txBody>
      </p:sp>
      <p:sp>
        <p:nvSpPr>
          <p:cNvPr id="7" name="ring-235"/>
          <p:cNvSpPr/>
          <p:nvPr/>
        </p:nvSpPr>
        <p:spPr>
          <a:xfrm>
            <a:off x="4171836" y="1463040"/>
            <a:ext cx="1005840" cy="1005840"/>
          </a:xfrm>
          <a:prstGeom prst="ellipse">
            <a:avLst/>
          </a:prstGeom>
          <a:solidFill>
            <a:schemeClr val="bg1"/>
          </a:solidFill>
          <a:ln w="63500">
            <a:solidFill>
              <a:schemeClr val="accent3"/>
            </a:solidFill>
            <a:prstDash val="solid"/>
          </a:ln>
        </p:spPr>
      </p:sp>
      <p:sp>
        <p:nvSpPr>
          <p:cNvPr id="8" name="text-236"/>
          <p:cNvSpPr txBox="1"/>
          <p:nvPr/>
        </p:nvSpPr>
        <p:spPr>
          <a:xfrm>
            <a:off x="4171836" y="1463040"/>
            <a:ext cx="1005840" cy="1005840"/>
          </a:xfrm>
          <a:prstGeom prst="rect">
            <a:avLst/>
          </a:prstGeom>
          <a:noFill/>
          <a:ln/>
        </p:spPr>
        <p:txBody>
          <a:bodyPr wrap="square" lIns="0" tIns="0" rIns="0" bIns="0" rtlCol="0" anchor="ctr"/>
          <a:lstStyle/>
          <a:p>
            <a:pPr algn="ctr" indent="0" marL="0">
              <a:buNone/>
            </a:pPr>
            <a:r>
              <a:rPr lang="en-US" sz="1800" b="1" dirty="0">
                <a:solidFill>
                  <a:schemeClr val="tx1"/>
                </a:solidFill>
              </a:rPr>
              <a:t>2025</a:t>
            </a:r>
            <a:endParaRPr lang="en-US" sz="1800" dirty="0"/>
          </a:p>
        </p:txBody>
      </p:sp>
      <p:sp>
        <p:nvSpPr>
          <p:cNvPr id="9" name="text-237"/>
          <p:cNvSpPr txBox="1"/>
          <p:nvPr/>
        </p:nvSpPr>
        <p:spPr>
          <a:xfrm>
            <a:off x="3390824" y="2651760"/>
            <a:ext cx="2567864" cy="1234440"/>
          </a:xfrm>
          <a:prstGeom prst="rect">
            <a:avLst/>
          </a:prstGeom>
          <a:noFill/>
          <a:ln/>
        </p:spPr>
        <p:txBody>
          <a:bodyPr wrap="square" lIns="0" tIns="0" rIns="0" bIns="0" rtlCol="0" anchor="t"/>
          <a:lstStyle/>
          <a:p>
            <a:pPr algn="ctr" indent="0" marL="0">
              <a:buNone/>
            </a:pPr>
            <a:r>
              <a:rPr lang="en-US" sz="1400" dirty="0">
                <a:solidFill>
                  <a:schemeClr val="tx1"/>
                </a:solidFill>
              </a:rPr>
              <a:t>WHO EML adds GLP-1 RAs and tirzepatide for T2D with CVD, CKD or obesity</a:t>
            </a:r>
            <a:endParaRPr lang="en-US" sz="1400" dirty="0"/>
          </a:p>
        </p:txBody>
      </p:sp>
      <p:sp>
        <p:nvSpPr>
          <p:cNvPr id="10" name="ring-238"/>
          <p:cNvSpPr/>
          <p:nvPr/>
        </p:nvSpPr>
        <p:spPr>
          <a:xfrm>
            <a:off x="7014019" y="1463040"/>
            <a:ext cx="1005840" cy="1005840"/>
          </a:xfrm>
          <a:prstGeom prst="ellipse">
            <a:avLst/>
          </a:prstGeom>
          <a:solidFill>
            <a:schemeClr val="bg1"/>
          </a:solidFill>
          <a:ln w="63500">
            <a:solidFill>
              <a:schemeClr val="accent2"/>
            </a:solidFill>
            <a:prstDash val="solid"/>
          </a:ln>
        </p:spPr>
      </p:sp>
      <p:sp>
        <p:nvSpPr>
          <p:cNvPr id="11" name="text-239"/>
          <p:cNvSpPr txBox="1"/>
          <p:nvPr/>
        </p:nvSpPr>
        <p:spPr>
          <a:xfrm>
            <a:off x="7014019" y="1463040"/>
            <a:ext cx="1005840" cy="1005840"/>
          </a:xfrm>
          <a:prstGeom prst="rect">
            <a:avLst/>
          </a:prstGeom>
          <a:noFill/>
          <a:ln/>
        </p:spPr>
        <p:txBody>
          <a:bodyPr wrap="square" lIns="0" tIns="0" rIns="0" bIns="0" rtlCol="0" anchor="ctr"/>
          <a:lstStyle/>
          <a:p>
            <a:pPr algn="ctr" indent="0" marL="0">
              <a:buNone/>
            </a:pPr>
            <a:r>
              <a:rPr lang="en-US" sz="1800" b="1" dirty="0">
                <a:solidFill>
                  <a:schemeClr val="tx1"/>
                </a:solidFill>
              </a:rPr>
              <a:t>2025</a:t>
            </a:r>
            <a:endParaRPr lang="en-US" sz="1800" dirty="0"/>
          </a:p>
        </p:txBody>
      </p:sp>
      <p:sp>
        <p:nvSpPr>
          <p:cNvPr id="12" name="text-240"/>
          <p:cNvSpPr txBox="1"/>
          <p:nvPr/>
        </p:nvSpPr>
        <p:spPr>
          <a:xfrm>
            <a:off x="6233008" y="2651760"/>
            <a:ext cx="2567864" cy="1234440"/>
          </a:xfrm>
          <a:prstGeom prst="rect">
            <a:avLst/>
          </a:prstGeom>
          <a:noFill/>
          <a:ln/>
        </p:spPr>
        <p:txBody>
          <a:bodyPr wrap="square" lIns="0" tIns="0" rIns="0" bIns="0" rtlCol="0" anchor="t"/>
          <a:lstStyle/>
          <a:p>
            <a:pPr algn="ctr" indent="0" marL="0">
              <a:buNone/>
            </a:pPr>
            <a:r>
              <a:rPr lang="en-US" sz="1400" dirty="0">
                <a:solidFill>
                  <a:schemeClr val="tx1"/>
                </a:solidFill>
              </a:rPr>
              <a:t>IDF recognises 'type 5' (malnutrition-related) diabetes in lean young people in LMICs</a:t>
            </a:r>
            <a:endParaRPr lang="en-US" sz="1400" dirty="0"/>
          </a:p>
        </p:txBody>
      </p:sp>
      <p:sp>
        <p:nvSpPr>
          <p:cNvPr id="13" name="ring-241"/>
          <p:cNvSpPr/>
          <p:nvPr/>
        </p:nvSpPr>
        <p:spPr>
          <a:xfrm>
            <a:off x="9856203" y="1463040"/>
            <a:ext cx="1005840" cy="1005840"/>
          </a:xfrm>
          <a:prstGeom prst="ellipse">
            <a:avLst/>
          </a:prstGeom>
          <a:solidFill>
            <a:schemeClr val="bg1"/>
          </a:solidFill>
          <a:ln w="63500">
            <a:solidFill>
              <a:schemeClr val="accent6"/>
            </a:solidFill>
            <a:prstDash val="solid"/>
          </a:ln>
        </p:spPr>
      </p:sp>
      <p:sp>
        <p:nvSpPr>
          <p:cNvPr id="14" name="text-242"/>
          <p:cNvSpPr txBox="1"/>
          <p:nvPr/>
        </p:nvSpPr>
        <p:spPr>
          <a:xfrm>
            <a:off x="9856203" y="1463040"/>
            <a:ext cx="1005840" cy="1005840"/>
          </a:xfrm>
          <a:prstGeom prst="rect">
            <a:avLst/>
          </a:prstGeom>
          <a:noFill/>
          <a:ln/>
        </p:spPr>
        <p:txBody>
          <a:bodyPr wrap="square" lIns="0" tIns="0" rIns="0" bIns="0" rtlCol="0" anchor="ctr"/>
          <a:lstStyle/>
          <a:p>
            <a:pPr algn="ctr" indent="0" marL="0">
              <a:buNone/>
            </a:pPr>
            <a:r>
              <a:rPr lang="en-US" sz="1800" b="1" dirty="0">
                <a:solidFill>
                  <a:schemeClr val="tx1"/>
                </a:solidFill>
              </a:rPr>
              <a:t>2030</a:t>
            </a:r>
            <a:endParaRPr lang="en-US" sz="1800" dirty="0"/>
          </a:p>
        </p:txBody>
      </p:sp>
      <p:sp>
        <p:nvSpPr>
          <p:cNvPr id="15" name="text-243"/>
          <p:cNvSpPr txBox="1"/>
          <p:nvPr/>
        </p:nvSpPr>
        <p:spPr>
          <a:xfrm>
            <a:off x="9075191" y="2651760"/>
            <a:ext cx="2567864" cy="1234440"/>
          </a:xfrm>
          <a:prstGeom prst="rect">
            <a:avLst/>
          </a:prstGeom>
          <a:noFill/>
          <a:ln/>
        </p:spPr>
        <p:txBody>
          <a:bodyPr wrap="square" lIns="0" tIns="0" rIns="0" bIns="0" rtlCol="0" anchor="t"/>
          <a:lstStyle/>
          <a:p>
            <a:pPr algn="ctr" indent="0" marL="0">
              <a:buNone/>
            </a:pPr>
            <a:r>
              <a:rPr lang="en-US" sz="1400" dirty="0">
                <a:solidFill>
                  <a:schemeClr val="tx1"/>
                </a:solidFill>
              </a:rPr>
              <a:t>WHO Global Diabetes Compact targets: 80% diagnosed, 80% controlled, 100% insulin access in T1D</a:t>
            </a:r>
            <a:endParaRPr lang="en-US" sz="1400" dirty="0"/>
          </a:p>
        </p:txBody>
      </p:sp>
      <p:sp>
        <p:nvSpPr>
          <p:cNvPr id="16" name="card-244"/>
          <p:cNvSpPr/>
          <p:nvPr/>
        </p:nvSpPr>
        <p:spPr>
          <a:xfrm>
            <a:off x="548640" y="4069080"/>
            <a:ext cx="11094415" cy="1920240"/>
          </a:xfrm>
          <a:prstGeom prst="roundRect">
            <a:avLst>
              <a:gd name="adj" fmla="val 5714"/>
            </a:avLst>
          </a:prstGeom>
          <a:solidFill>
            <a:schemeClr val="bg2"/>
          </a:solidFill>
          <a:ln/>
        </p:spPr>
      </p:sp>
      <p:sp>
        <p:nvSpPr>
          <p:cNvPr id="17" name="icon-circle-245"/>
          <p:cNvSpPr/>
          <p:nvPr/>
        </p:nvSpPr>
        <p:spPr>
          <a:xfrm>
            <a:off x="868680" y="4389120"/>
            <a:ext cx="777240" cy="777240"/>
          </a:xfrm>
          <a:prstGeom prst="ellipse">
            <a:avLst/>
          </a:prstGeom>
          <a:solidFill>
            <a:schemeClr val="accent1"/>
          </a:solidFill>
          <a:ln/>
        </p:spPr>
      </p:sp>
      <p:pic>
        <p:nvPicPr>
          <p:cNvPr id="18" name="icon-246" descr="preencoded.png">    </p:cNvPr>
          <p:cNvPicPr>
            <a:picLocks noChangeAspect="1"/>
          </p:cNvPicPr>
          <p:nvPr/>
        </p:nvPicPr>
        <p:blipFill>
          <a:blip r:embed="rId1"/>
          <a:stretch>
            <a:fillRect/>
          </a:stretch>
        </p:blipFill>
        <p:spPr>
          <a:xfrm>
            <a:off x="1062990" y="4583430"/>
            <a:ext cx="388620" cy="388620"/>
          </a:xfrm>
          <a:prstGeom prst="rect">
            <a:avLst/>
          </a:prstGeom>
        </p:spPr>
      </p:pic>
      <p:sp>
        <p:nvSpPr>
          <p:cNvPr id="19" name="text-247"/>
          <p:cNvSpPr txBox="1"/>
          <p:nvPr/>
        </p:nvSpPr>
        <p:spPr>
          <a:xfrm>
            <a:off x="1920240" y="4206240"/>
            <a:ext cx="9448495" cy="1691640"/>
          </a:xfrm>
          <a:prstGeom prst="rect">
            <a:avLst/>
          </a:prstGeom>
          <a:noFill/>
          <a:ln/>
        </p:spPr>
        <p:txBody>
          <a:bodyPr wrap="square" lIns="0" tIns="0" rIns="0" bIns="0" rtlCol="0" anchor="ctr"/>
          <a:lstStyle/>
          <a:p>
            <a:pPr indent="0" marL="0">
              <a:buNone/>
            </a:pPr>
            <a:r>
              <a:rPr lang="en-US" sz="1500" b="1" dirty="0">
                <a:solidFill>
                  <a:schemeClr val="tx1"/>
                </a:solidFill>
              </a:rPr>
              <a:t>The access gap: </a:t>
            </a:r>
            <a:pPr indent="0" marL="0">
              <a:buNone/>
            </a:pPr>
            <a:r>
              <a:rPr lang="en-US" sz="1500" dirty="0">
                <a:solidFill>
                  <a:schemeClr val="tx1"/>
                </a:solidFill>
              </a:rPr>
              <a:t>the newest drugs and devices remain unaffordable for most people with diabetes, who live in low- and middle-income countries. WHO's 2018 guidance still lists sulfonylureas and human insulin where newer agents are unavailable. Advances only matter if they reach patients: generics of SGLT2i and semaglutide, biosimilar insulins and task-sharing in primary care are the next frontier.</a:t>
            </a:r>
            <a:endParaRPr lang="en-US" sz="1500" dirty="0"/>
          </a:p>
        </p:txBody>
      </p:sp>
      <p:sp>
        <p:nvSpPr>
          <p:cNvPr id="20" name="text-248"/>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WHO Model List of Essential Medicines 2023 and 2025; IDF World Diabetes Congress 2025; WHO 2018 guidelines on second- and third-line medicines; WHO Global Diabetes Compact.</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Guidelines at a glance</a:t>
            </a:r>
            <a:endParaRPr lang="en-US" sz="3400" dirty="0"/>
          </a:p>
        </p:txBody>
      </p:sp>
      <p:graphicFrame>
        <p:nvGraphicFramePr>
          <p:cNvPr id="22" name="table-249"/>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00200"/>
                <a:gridCol w="1965960"/>
                <a:gridCol w="1874520"/>
                <a:gridCol w="1783080"/>
                <a:gridCol w="1783080"/>
                <a:gridCol w="2087575"/>
              </a:tblGrid>
              <a:tr h="594360">
                <a:tc>
                  <a:txBody>
                    <a:bodyPr/>
                    <a:lstStyle/>
                    <a:p>
                      <a:pPr algn="ctr" indent="0" marL="0">
                        <a:buNone/>
                      </a:pP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ADA</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EASD (ADA/EASD 2022)</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IDF</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WHO</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Davidson · Kumar &amp; Clark (UK)</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1051560">
                <a:tc>
                  <a:txBody>
                    <a:bodyPr/>
                    <a:lstStyle/>
                    <a:p>
                      <a:pPr indent="0" marL="0">
                        <a:buNone/>
                      </a:pPr>
                      <a:r>
                        <a:rPr lang="en-US" sz="1300" b="1" dirty="0">
                          <a:solidFill>
                            <a:schemeClr val="tx1"/>
                          </a:solidFill>
                        </a:rPr>
                        <a:t>First-line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Metformin and/or agent chosen for comorbidity</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Holistic choice; metformin not mandatory first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Lifestyle + metformin; affordable stepwise care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Metformin, then sulfonylurea; human insulin</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Lifestyle + metformin (NICE NG28)</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1051560">
                <a:tc>
                  <a:txBody>
                    <a:bodyPr/>
                    <a:lstStyle/>
                    <a:p>
                      <a:pPr indent="0" marL="0">
                        <a:buNone/>
                      </a:pPr>
                      <a:r>
                        <a:rPr lang="en-US" sz="1300" b="1" dirty="0">
                          <a:solidFill>
                            <a:schemeClr val="tx1"/>
                          </a:solidFill>
                        </a:rPr>
                        <a:t>Cardiorenal disease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SGLT2i / GLP-1 RA regardless of HbA1c</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SGLT2i / GLP-1 RA with proven benefit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Supports SGLT2i / GLP-1 RA where available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SGLT2i (2023) and GLP-1 RA (2025) on EML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Add SGLT2i if CVD, HF or high CV risk</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868680">
                <a:tc>
                  <a:txBody>
                    <a:bodyPr/>
                    <a:lstStyle/>
                    <a:p>
                      <a:pPr indent="0" marL="0">
                        <a:buNone/>
                      </a:pPr>
                      <a:r>
                        <a:rPr lang="en-US" sz="1300" b="1" dirty="0">
                          <a:solidFill>
                            <a:schemeClr val="tx1"/>
                          </a:solidFill>
                        </a:rPr>
                        <a:t>Weight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Primary target; high-efficacy agents, surgery</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Weight goals 5–15%+</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Weight management central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Population and primary-care measures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Weight loss; DiRECT-style remission</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960120">
                <a:tc>
                  <a:txBody>
                    <a:bodyPr/>
                    <a:lstStyle/>
                    <a:p>
                      <a:pPr indent="0" marL="0">
                        <a:buNone/>
                      </a:pPr>
                      <a:r>
                        <a:rPr lang="en-US" sz="1300" b="1" dirty="0">
                          <a:solidFill>
                            <a:schemeClr val="tx1"/>
                          </a:solidFill>
                        </a:rPr>
                        <a:t>Technology</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CGM for insulin users; AID for T1D</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TIR consensus co-endorsed</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Expand CGM access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Digital health strategy</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NICE: CGM for T1D; hybrid closed loop (TA943)</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text-25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Sources as on preceding slides.</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Take-home messages</a:t>
            </a:r>
            <a:endParaRPr lang="en-US" sz="3400" dirty="0"/>
          </a:p>
        </p:txBody>
      </p:sp>
      <p:sp>
        <p:nvSpPr>
          <p:cNvPr id="3" name="num-ring-251"/>
          <p:cNvSpPr/>
          <p:nvPr/>
        </p:nvSpPr>
        <p:spPr>
          <a:xfrm>
            <a:off x="548640" y="1325880"/>
            <a:ext cx="685800" cy="685800"/>
          </a:xfrm>
          <a:prstGeom prst="ellipse">
            <a:avLst/>
          </a:prstGeom>
          <a:ln w="50800">
            <a:solidFill>
              <a:schemeClr val="accent1"/>
            </a:solidFill>
            <a:prstDash val="solid"/>
          </a:ln>
        </p:spPr>
      </p:sp>
      <p:sp>
        <p:nvSpPr>
          <p:cNvPr id="4" name="text-252"/>
          <p:cNvSpPr txBox="1"/>
          <p:nvPr/>
        </p:nvSpPr>
        <p:spPr>
          <a:xfrm>
            <a:off x="548640" y="132588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1</a:t>
            </a:r>
            <a:endParaRPr lang="en-US" sz="2200" dirty="0"/>
          </a:p>
        </p:txBody>
      </p:sp>
      <p:sp>
        <p:nvSpPr>
          <p:cNvPr id="5" name="text-253"/>
          <p:cNvSpPr txBox="1"/>
          <p:nvPr/>
        </p:nvSpPr>
        <p:spPr>
          <a:xfrm>
            <a:off x="1508760" y="1325880"/>
            <a:ext cx="10134295" cy="685800"/>
          </a:xfrm>
          <a:prstGeom prst="rect">
            <a:avLst/>
          </a:prstGeom>
          <a:noFill/>
          <a:ln/>
        </p:spPr>
        <p:txBody>
          <a:bodyPr wrap="square" lIns="0" tIns="0" rIns="0" bIns="0" rtlCol="0" anchor="ctr"/>
          <a:lstStyle/>
          <a:p>
            <a:pPr indent="0" marL="0">
              <a:buNone/>
            </a:pPr>
            <a:r>
              <a:rPr lang="en-US" sz="1700" dirty="0">
                <a:solidFill>
                  <a:schemeClr val="tx1"/>
                </a:solidFill>
              </a:rPr>
              <a:t>Treat the person, not the HbA1c: choose drugs for heart, kidney and weight benefit.</a:t>
            </a:r>
            <a:endParaRPr lang="en-US" sz="1700" dirty="0"/>
          </a:p>
        </p:txBody>
      </p:sp>
      <p:sp>
        <p:nvSpPr>
          <p:cNvPr id="6" name="num-ring-254"/>
          <p:cNvSpPr/>
          <p:nvPr/>
        </p:nvSpPr>
        <p:spPr>
          <a:xfrm>
            <a:off x="548640" y="2267712"/>
            <a:ext cx="685800" cy="685800"/>
          </a:xfrm>
          <a:prstGeom prst="ellipse">
            <a:avLst/>
          </a:prstGeom>
          <a:ln w="50800">
            <a:solidFill>
              <a:schemeClr val="accent3"/>
            </a:solidFill>
            <a:prstDash val="solid"/>
          </a:ln>
        </p:spPr>
      </p:sp>
      <p:sp>
        <p:nvSpPr>
          <p:cNvPr id="7" name="text-255"/>
          <p:cNvSpPr txBox="1"/>
          <p:nvPr/>
        </p:nvSpPr>
        <p:spPr>
          <a:xfrm>
            <a:off x="548640" y="2267712"/>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2</a:t>
            </a:r>
            <a:endParaRPr lang="en-US" sz="2200" dirty="0"/>
          </a:p>
        </p:txBody>
      </p:sp>
      <p:sp>
        <p:nvSpPr>
          <p:cNvPr id="8" name="text-256"/>
          <p:cNvSpPr txBox="1"/>
          <p:nvPr/>
        </p:nvSpPr>
        <p:spPr>
          <a:xfrm>
            <a:off x="1508760" y="2267712"/>
            <a:ext cx="10134295" cy="685800"/>
          </a:xfrm>
          <a:prstGeom prst="rect">
            <a:avLst/>
          </a:prstGeom>
          <a:noFill/>
          <a:ln/>
        </p:spPr>
        <p:txBody>
          <a:bodyPr wrap="square" lIns="0" tIns="0" rIns="0" bIns="0" rtlCol="0" anchor="ctr"/>
          <a:lstStyle/>
          <a:p>
            <a:pPr indent="0" marL="0">
              <a:buNone/>
            </a:pPr>
            <a:r>
              <a:rPr lang="en-US" sz="1700" dirty="0">
                <a:solidFill>
                  <a:schemeClr val="tx1"/>
                </a:solidFill>
              </a:rPr>
              <a:t>SGLT2i and GLP-1 RA protect organs independent of glucose; use them early in CVD, HF and CKD.</a:t>
            </a:r>
            <a:endParaRPr lang="en-US" sz="1700" dirty="0"/>
          </a:p>
        </p:txBody>
      </p:sp>
      <p:sp>
        <p:nvSpPr>
          <p:cNvPr id="9" name="num-ring-257"/>
          <p:cNvSpPr/>
          <p:nvPr/>
        </p:nvSpPr>
        <p:spPr>
          <a:xfrm>
            <a:off x="548640" y="3209544"/>
            <a:ext cx="685800" cy="685800"/>
          </a:xfrm>
          <a:prstGeom prst="ellipse">
            <a:avLst/>
          </a:prstGeom>
          <a:ln w="50800">
            <a:solidFill>
              <a:schemeClr val="accent1"/>
            </a:solidFill>
            <a:prstDash val="solid"/>
          </a:ln>
        </p:spPr>
      </p:sp>
      <p:sp>
        <p:nvSpPr>
          <p:cNvPr id="10" name="text-258"/>
          <p:cNvSpPr txBox="1"/>
          <p:nvPr/>
        </p:nvSpPr>
        <p:spPr>
          <a:xfrm>
            <a:off x="548640" y="3209544"/>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1" name="text-259"/>
          <p:cNvSpPr txBox="1"/>
          <p:nvPr/>
        </p:nvSpPr>
        <p:spPr>
          <a:xfrm>
            <a:off x="1508760" y="3209544"/>
            <a:ext cx="10134295" cy="685800"/>
          </a:xfrm>
          <a:prstGeom prst="rect">
            <a:avLst/>
          </a:prstGeom>
          <a:noFill/>
          <a:ln/>
        </p:spPr>
        <p:txBody>
          <a:bodyPr wrap="square" lIns="0" tIns="0" rIns="0" bIns="0" rtlCol="0" anchor="ctr"/>
          <a:lstStyle/>
          <a:p>
            <a:pPr indent="0" marL="0">
              <a:buNone/>
            </a:pPr>
            <a:r>
              <a:rPr lang="en-US" sz="1700" dirty="0">
                <a:solidFill>
                  <a:schemeClr val="tx1"/>
                </a:solidFill>
              </a:rPr>
              <a:t>Incretin therapies (tirzepatide and successors) make 15–20% weight loss and remission realistic.</a:t>
            </a:r>
            <a:endParaRPr lang="en-US" sz="1700" dirty="0"/>
          </a:p>
        </p:txBody>
      </p:sp>
      <p:sp>
        <p:nvSpPr>
          <p:cNvPr id="12" name="num-ring-260"/>
          <p:cNvSpPr/>
          <p:nvPr/>
        </p:nvSpPr>
        <p:spPr>
          <a:xfrm>
            <a:off x="548640" y="4151376"/>
            <a:ext cx="685800" cy="685800"/>
          </a:xfrm>
          <a:prstGeom prst="ellipse">
            <a:avLst/>
          </a:prstGeom>
          <a:ln w="50800">
            <a:solidFill>
              <a:schemeClr val="accent3"/>
            </a:solidFill>
            <a:prstDash val="solid"/>
          </a:ln>
        </p:spPr>
      </p:sp>
      <p:sp>
        <p:nvSpPr>
          <p:cNvPr id="13" name="text-261"/>
          <p:cNvSpPr txBox="1"/>
          <p:nvPr/>
        </p:nvSpPr>
        <p:spPr>
          <a:xfrm>
            <a:off x="548640" y="4151376"/>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4</a:t>
            </a:r>
            <a:endParaRPr lang="en-US" sz="2200" dirty="0"/>
          </a:p>
        </p:txBody>
      </p:sp>
      <p:sp>
        <p:nvSpPr>
          <p:cNvPr id="14" name="text-262"/>
          <p:cNvSpPr txBox="1"/>
          <p:nvPr/>
        </p:nvSpPr>
        <p:spPr>
          <a:xfrm>
            <a:off x="1508760" y="4151376"/>
            <a:ext cx="10134295" cy="685800"/>
          </a:xfrm>
          <a:prstGeom prst="rect">
            <a:avLst/>
          </a:prstGeom>
          <a:noFill/>
          <a:ln/>
        </p:spPr>
        <p:txBody>
          <a:bodyPr wrap="square" lIns="0" tIns="0" rIns="0" bIns="0" rtlCol="0" anchor="ctr"/>
          <a:lstStyle/>
          <a:p>
            <a:pPr indent="0" marL="0">
              <a:buNone/>
            </a:pPr>
            <a:r>
              <a:rPr lang="en-US" sz="1700" dirty="0">
                <a:solidFill>
                  <a:schemeClr val="tx1"/>
                </a:solidFill>
              </a:rPr>
              <a:t>CGM, time in range and automated insulin delivery are now standard care, especially in T1D.</a:t>
            </a:r>
            <a:endParaRPr lang="en-US" sz="1700" dirty="0"/>
          </a:p>
        </p:txBody>
      </p:sp>
      <p:sp>
        <p:nvSpPr>
          <p:cNvPr id="15" name="num-ring-263"/>
          <p:cNvSpPr/>
          <p:nvPr/>
        </p:nvSpPr>
        <p:spPr>
          <a:xfrm>
            <a:off x="548640" y="5093208"/>
            <a:ext cx="685800" cy="685800"/>
          </a:xfrm>
          <a:prstGeom prst="ellipse">
            <a:avLst/>
          </a:prstGeom>
          <a:ln w="50800">
            <a:solidFill>
              <a:schemeClr val="accent1"/>
            </a:solidFill>
            <a:prstDash val="solid"/>
          </a:ln>
        </p:spPr>
      </p:sp>
      <p:sp>
        <p:nvSpPr>
          <p:cNvPr id="16" name="text-264"/>
          <p:cNvSpPr txBox="1"/>
          <p:nvPr/>
        </p:nvSpPr>
        <p:spPr>
          <a:xfrm>
            <a:off x="548640" y="5093208"/>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5</a:t>
            </a:r>
            <a:endParaRPr lang="en-US" sz="2200" dirty="0"/>
          </a:p>
        </p:txBody>
      </p:sp>
      <p:sp>
        <p:nvSpPr>
          <p:cNvPr id="17" name="text-265"/>
          <p:cNvSpPr txBox="1"/>
          <p:nvPr/>
        </p:nvSpPr>
        <p:spPr>
          <a:xfrm>
            <a:off x="1508760" y="5093208"/>
            <a:ext cx="10134295" cy="685800"/>
          </a:xfrm>
          <a:prstGeom prst="rect">
            <a:avLst/>
          </a:prstGeom>
          <a:noFill/>
          <a:ln/>
        </p:spPr>
        <p:txBody>
          <a:bodyPr wrap="square" lIns="0" tIns="0" rIns="0" bIns="0" rtlCol="0" anchor="ctr"/>
          <a:lstStyle/>
          <a:p>
            <a:pPr indent="0" marL="0">
              <a:buNone/>
            </a:pPr>
            <a:r>
              <a:rPr lang="en-US" sz="1700" dirty="0">
                <a:solidFill>
                  <a:schemeClr val="tx1"/>
                </a:solidFill>
              </a:rPr>
              <a:t>Fundamentals and access still decide outcomes: education, annual review and affordable medicines.</a:t>
            </a:r>
            <a:endParaRPr lang="en-US" sz="17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Key references</a:t>
            </a:r>
            <a:endParaRPr lang="en-US" sz="3400" dirty="0"/>
          </a:p>
        </p:txBody>
      </p:sp>
      <p:sp>
        <p:nvSpPr>
          <p:cNvPr id="3" name="text-266"/>
          <p:cNvSpPr txBox="1"/>
          <p:nvPr/>
        </p:nvSpPr>
        <p:spPr>
          <a:xfrm>
            <a:off x="548640" y="1325880"/>
            <a:ext cx="5364328" cy="466344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American Diabetes Association. Standards of Care in Diabetes (2025 and 2026). Diabetes Care.</a:t>
            </a:r>
            <a:endParaRPr lang="en-US" sz="1400" dirty="0"/>
          </a:p>
          <a:p>
            <a:pPr indent="0" marL="0">
              <a:spcAft>
                <a:spcPts val="600"/>
              </a:spcAft>
              <a:buNone/>
            </a:pPr>
            <a:r>
              <a:rPr lang="en-US" sz="1200" dirty="0">
                <a:solidFill>
                  <a:schemeClr val="tx1"/>
                </a:solidFill>
              </a:rPr>
              <a:t>Davies MJ, et al. Management of hyperglycaemia in type 2 diabetes, 2022. ADA/EASD Consensus Report. Diabetologia 2022;65:1925–66.</a:t>
            </a:r>
            <a:endParaRPr lang="en-US" sz="1400" dirty="0"/>
          </a:p>
          <a:p>
            <a:pPr indent="0" marL="0">
              <a:spcAft>
                <a:spcPts val="600"/>
              </a:spcAft>
              <a:buNone/>
            </a:pPr>
            <a:r>
              <a:rPr lang="en-US" sz="1200" dirty="0">
                <a:solidFill>
                  <a:schemeClr val="tx1"/>
                </a:solidFill>
              </a:rPr>
              <a:t>Riddle MC, et al. Consensus report: definition and interpretation of remission in type 2 diabetes. Diabetologia 2021.</a:t>
            </a:r>
            <a:endParaRPr lang="en-US" sz="1400" dirty="0"/>
          </a:p>
          <a:p>
            <a:pPr indent="0" marL="0">
              <a:spcAft>
                <a:spcPts val="600"/>
              </a:spcAft>
              <a:buNone/>
            </a:pPr>
            <a:r>
              <a:rPr lang="en-US" sz="1200" dirty="0">
                <a:solidFill>
                  <a:schemeClr val="tx1"/>
                </a:solidFill>
              </a:rPr>
              <a:t>Battelino T, et al. International consensus on time in range. Diabetes Care 2019;42:1593–603.</a:t>
            </a:r>
            <a:endParaRPr lang="en-US" sz="1400" dirty="0"/>
          </a:p>
          <a:p>
            <a:pPr indent="0" marL="0">
              <a:spcAft>
                <a:spcPts val="600"/>
              </a:spcAft>
              <a:buNone/>
            </a:pPr>
            <a:r>
              <a:rPr lang="en-US" sz="1200" dirty="0">
                <a:solidFill>
                  <a:schemeClr val="tx1"/>
                </a:solidFill>
              </a:rPr>
              <a:t>KDIGO 2022 Clinical Practice Guideline for Diabetes Management in CKD; ADA–KDIGO consensus 2022.</a:t>
            </a:r>
            <a:endParaRPr lang="en-US" sz="1400" dirty="0"/>
          </a:p>
          <a:p>
            <a:pPr indent="0" marL="0">
              <a:spcAft>
                <a:spcPts val="600"/>
              </a:spcAft>
              <a:buNone/>
            </a:pPr>
            <a:r>
              <a:rPr lang="en-US" sz="1200" dirty="0">
                <a:solidFill>
                  <a:schemeClr val="tx1"/>
                </a:solidFill>
              </a:rPr>
              <a:t>International Diabetes Federation. IDF Diabetes Atlas, 11th ed., 2025.</a:t>
            </a:r>
            <a:endParaRPr lang="en-US" sz="1400" dirty="0"/>
          </a:p>
          <a:p>
            <a:pPr indent="0" marL="0">
              <a:spcAft>
                <a:spcPts val="600"/>
              </a:spcAft>
              <a:buNone/>
            </a:pPr>
            <a:r>
              <a:rPr lang="en-US" sz="1200" dirty="0">
                <a:solidFill>
                  <a:schemeClr val="tx1"/>
                </a:solidFill>
              </a:rPr>
              <a:t>WHO. Guidelines on second- and third-line medicines for diabetes, 2018; Model List of Essential Medicines, 2023 and 2025.</a:t>
            </a:r>
            <a:endParaRPr lang="en-US" sz="1400" dirty="0"/>
          </a:p>
          <a:p>
            <a:pPr indent="0" marL="0">
              <a:spcAft>
                <a:spcPts val="600"/>
              </a:spcAft>
              <a:buNone/>
            </a:pPr>
            <a:r>
              <a:rPr lang="en-US" sz="1200" dirty="0">
                <a:solidFill>
                  <a:schemeClr val="tx1"/>
                </a:solidFill>
              </a:rPr>
              <a:t>Penman ID, et al. (eds). Davidson's Principles and Practice of Medicine, 24th ed. Elsevier, 2022.</a:t>
            </a:r>
            <a:endParaRPr lang="en-US" sz="1400" dirty="0"/>
          </a:p>
        </p:txBody>
      </p:sp>
      <p:sp>
        <p:nvSpPr>
          <p:cNvPr id="4" name="text-267"/>
          <p:cNvSpPr txBox="1"/>
          <p:nvPr/>
        </p:nvSpPr>
        <p:spPr>
          <a:xfrm>
            <a:off x="6278728" y="1325880"/>
            <a:ext cx="5364328" cy="466344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Feather A, et al. (eds). Kumar &amp; Clark's Clinical Medicine, 10th ed. Elsevier, 2020.</a:t>
            </a:r>
            <a:endParaRPr lang="en-US" sz="1400" dirty="0"/>
          </a:p>
          <a:p>
            <a:pPr indent="0" marL="0">
              <a:spcAft>
                <a:spcPts val="600"/>
              </a:spcAft>
              <a:buNone/>
            </a:pPr>
            <a:r>
              <a:rPr lang="en-US" sz="1200" dirty="0">
                <a:solidFill>
                  <a:schemeClr val="tx1"/>
                </a:solidFill>
              </a:rPr>
              <a:t>NICE NG28: Type 2 diabetes in adults: management; NICE TA943: Hybrid closed loop systems (2023).</a:t>
            </a:r>
            <a:endParaRPr lang="en-US" sz="1400" dirty="0"/>
          </a:p>
          <a:p>
            <a:pPr indent="0" marL="0">
              <a:spcAft>
                <a:spcPts val="600"/>
              </a:spcAft>
              <a:buNone/>
            </a:pPr>
            <a:r>
              <a:rPr lang="en-US" sz="1200" dirty="0">
                <a:solidFill>
                  <a:schemeClr val="tx1"/>
                </a:solidFill>
              </a:rPr>
              <a:t>Zinman B, et al. EMPA-REG OUTCOME. NEJM 2015. Heerspink HJL, et al. DAPA-CKD. NEJM 2020.</a:t>
            </a:r>
            <a:endParaRPr lang="en-US" sz="1400" dirty="0"/>
          </a:p>
          <a:p>
            <a:pPr indent="0" marL="0">
              <a:spcAft>
                <a:spcPts val="600"/>
              </a:spcAft>
              <a:buNone/>
            </a:pPr>
            <a:r>
              <a:rPr lang="en-US" sz="1200" dirty="0">
                <a:solidFill>
                  <a:schemeClr val="tx1"/>
                </a:solidFill>
              </a:rPr>
              <a:t>Marso SP, et al. LEADER and SUSTAIN-6. NEJM 2016. Perkovic V, et al. FLOW. NEJM 2024.</a:t>
            </a:r>
            <a:endParaRPr lang="en-US" sz="1400" dirty="0"/>
          </a:p>
          <a:p>
            <a:pPr indent="0" marL="0">
              <a:spcAft>
                <a:spcPts val="600"/>
              </a:spcAft>
              <a:buNone/>
            </a:pPr>
            <a:r>
              <a:rPr lang="en-US" sz="1200" dirty="0">
                <a:solidFill>
                  <a:schemeClr val="tx1"/>
                </a:solidFill>
              </a:rPr>
              <a:t>Frías JP, et al. SURPASS-2. NEJM 2021. Agarwal R, et al. FIDELITY. Eur Heart J 2022.</a:t>
            </a:r>
            <a:endParaRPr lang="en-US" sz="1400" dirty="0"/>
          </a:p>
          <a:p>
            <a:pPr indent="0" marL="0">
              <a:spcAft>
                <a:spcPts val="600"/>
              </a:spcAft>
              <a:buNone/>
            </a:pPr>
            <a:r>
              <a:rPr lang="en-US" sz="1200" dirty="0">
                <a:solidFill>
                  <a:schemeClr val="tx1"/>
                </a:solidFill>
              </a:rPr>
              <a:t>Herold KC, et al. Teplizumab. NEJM 2019. Reichman TW, et al. Zimislecel. NEJM 2025.</a:t>
            </a:r>
            <a:endParaRPr lang="en-US" sz="1400" dirty="0"/>
          </a:p>
          <a:p>
            <a:pPr indent="0" marL="0">
              <a:spcAft>
                <a:spcPts val="600"/>
              </a:spcAft>
              <a:buNone/>
            </a:pPr>
            <a:r>
              <a:rPr lang="en-US" sz="1200" dirty="0">
                <a:solidFill>
                  <a:schemeClr val="tx1"/>
                </a:solidFill>
              </a:rPr>
              <a:t>Lean MEJ, et al. DiRECT. Lancet 2018. Schauer PR, et al. STAMPEDE. NEJM 2017.</a:t>
            </a:r>
            <a:endParaRPr lang="en-US" sz="1400" dirty="0"/>
          </a:p>
          <a:p>
            <a:pPr indent="0" marL="0">
              <a:spcAft>
                <a:spcPts val="600"/>
              </a:spcAft>
              <a:buNone/>
            </a:pPr>
            <a:r>
              <a:rPr lang="en-US" sz="1200" dirty="0">
                <a:solidFill>
                  <a:schemeClr val="tx1"/>
                </a:solidFill>
              </a:rPr>
              <a:t>Gæde P, et al. Steno-2. NEJM 2008.</a:t>
            </a:r>
            <a:endParaRPr lang="en-US" sz="14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DISCUSSION</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Thank you</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Questions and discussion</a:t>
            </a:r>
            <a:endParaRPr lang="en-US" sz="1800" dirty="0"/>
          </a:p>
        </p:txBody>
      </p:sp>
    </p:spTree>
  </p:cSld>
  <p:clrMapOvr>
    <a:masterClrMapping/>
  </p:clrMapOvr>
</p:sld>
</file>

<file path=ppt/theme/theme1.xml><?xml version="1.0" encoding="utf-8"?>
<a:theme xmlns:a="http://schemas.openxmlformats.org/drawingml/2006/main" name="Blue Circle Clinical">
  <a:themeElements>
    <a:clrScheme name="Blue Circle Clinical">
      <a:dk1>
        <a:srgbClr val="1B2A41"/>
      </a:dk1>
      <a:lt1>
        <a:srgbClr val="FFFFFF"/>
      </a:lt1>
      <a:dk2>
        <a:srgbClr val="0F4C5C"/>
      </a:dk2>
      <a:lt2>
        <a:srgbClr val="EEF3F7"/>
      </a:lt2>
      <a:accent1>
        <a:srgbClr val="1F78B4"/>
      </a:accent1>
      <a:accent2>
        <a:srgbClr val="E4572E"/>
      </a:accent2>
      <a:accent3>
        <a:srgbClr val="17A398"/>
      </a:accent3>
      <a:accent4>
        <a:srgbClr val="F2A541"/>
      </a:accent4>
      <a:accent5>
        <a:srgbClr val="6C7A89"/>
      </a:accent5>
      <a:accent6>
        <a:srgbClr val="5B6C8F"/>
      </a:accent6>
      <a:hlink>
        <a:srgbClr val="1F78B4"/>
      </a:hlink>
      <a:folHlink>
        <a:srgbClr val="5B6C8F"/>
      </a:folHlink>
    </a:clrScheme>
    <a:fontScheme name="Blue Circle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Recent Advances in the Management of Diabetes</dc:title>
  <dc:subject>Symposium talk: recent advances in diabetes management</dc:subject>
  <dc:creator>PptxGenJS</dc:creator>
  <cp:lastModifiedBy>PptxGenJS</cp:lastModifiedBy>
  <cp:revision>1</cp:revision>
  <dcterms:created xsi:type="dcterms:W3CDTF">2026-10-03T03:16:19Z</dcterms:created>
  <dcterms:modified xsi:type="dcterms:W3CDTF">2026-10-03T03:16:19Z</dcterms:modified>
</cp:coreProperties>
</file>