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a13bfe-8178-a9f4-4873-f44a7b0392d6}">
          <p14:sldIdLst>
            <p14:sldId id="256"/>
            <p14:sldId id="257"/>
            <p14:sldId id="258"/>
          </p14:sldIdLst>
        </p14:section>
        <p14:section name="Screening" id="{08aa6f97-39de-26ee-442a-a08fe7e1bdc4}">
          <p14:sldIdLst>
            <p14:sldId id="259"/>
            <p14:sldId id="260"/>
            <p14:sldId id="261"/>
            <p14:sldId id="262"/>
            <p14:sldId id="263"/>
            <p14:sldId id="264"/>
            <p14:sldId id="265"/>
            <p14:sldId id="266"/>
          </p14:sldIdLst>
        </p14:section>
        <p14:section name="Prevention" id="{ef38f7ba-0101-9e0b-5eda-2f9aec8c234d}">
          <p14:sldIdLst>
            <p14:sldId id="267"/>
            <p14:sldId id="268"/>
            <p14:sldId id="269"/>
            <p14:sldId id="270"/>
            <p14:sldId id="271"/>
            <p14:sldId id="272"/>
          </p14:sldIdLst>
        </p14:section>
        <p14:section name="Summary" id="{8c45d4c7-e9a8-ee1e-a088-73abe8705e62}">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Relative reduction in incident T2D vs control</a:t>
            </a:r>
          </a:p>
        </c:rich>
      </c:tx>
      <c:layout/>
      <c:overlay val="0"/>
    </c:title>
    <c:autoTitleDeleted val="0"/>
    <c:plotArea>
      <c:layout/>
      <c:barChart>
        <c:barDir val="bar"/>
        <c:grouping val="clustered"/>
        <c:varyColors val="0"/>
        <c:ser>
          <c:idx val="0"/>
          <c:order val="0"/>
          <c:tx>
            <c:strRef>
              <c:f>Sheet1!$B$1</c:f>
              <c:strCache>
                <c:ptCount val="1"/>
                <c:pt idx="0">
                  <c:v>Risk reduction</c:v>
                </c:pt>
              </c:strCache>
            </c:strRef>
          </c:tx>
          <c:spPr>
            <a:solidFill>
              <a:srgbClr val="17A398"/>
            </a:solidFill>
            <a:effectLst/>
          </c:spPr>
          <c:invertIfNegative val="0"/>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7A398"/>
              </a:solidFill>
              <a:effectLst/>
            </c:spPr>
          </c:dPt>
          <c:dPt>
            <c:idx val="1"/>
            <c:invertIfNegative val="0"/>
            <c:bubble3D val="0"/>
            <c:spPr>
              <a:solidFill>
                <a:srgbClr val="17A398"/>
              </a:solidFill>
              <a:effectLst/>
            </c:spPr>
          </c:dPt>
          <c:dPt>
            <c:idx val="2"/>
            <c:invertIfNegative val="0"/>
            <c:bubble3D val="0"/>
            <c:spPr>
              <a:solidFill>
                <a:srgbClr val="17A398"/>
              </a:solidFill>
              <a:effectLst/>
            </c:spPr>
          </c:dPt>
          <c:dPt>
            <c:idx val="3"/>
            <c:invertIfNegative val="0"/>
            <c:bubble3D val="0"/>
            <c:spPr>
              <a:solidFill>
                <a:srgbClr val="17A398"/>
              </a:solidFill>
              <a:effectLst/>
            </c:spPr>
          </c:dPt>
          <c:dPt>
            <c:idx val="4"/>
            <c:invertIfNegative val="0"/>
            <c:bubble3D val="0"/>
            <c:spPr>
              <a:solidFill>
                <a:srgbClr val="1F78B4"/>
              </a:solidFill>
              <a:effectLst/>
            </c:spPr>
          </c:dPt>
          <c:dPt>
            <c:idx val="5"/>
            <c:invertIfNegative val="0"/>
            <c:bubble3D val="0"/>
            <c:spPr>
              <a:solidFill>
                <a:srgbClr val="1F78B4"/>
              </a:solidFill>
              <a:effectLst/>
            </c:spPr>
          </c:dPt>
          <c:dPt>
            <c:idx val="6"/>
            <c:invertIfNegative val="0"/>
            <c:bubble3D val="0"/>
            <c:spPr>
              <a:solidFill>
                <a:srgbClr val="1F78B4"/>
              </a:solidFill>
              <a:effectLst/>
            </c:spPr>
          </c:dPt>
          <c:dPt>
            <c:idx val="7"/>
            <c:invertIfNegative val="0"/>
            <c:bubble3D val="0"/>
            <c:spPr>
              <a:solidFill>
                <a:srgbClr val="1F78B4"/>
              </a:solidFill>
              <a:effectLst/>
            </c:spPr>
          </c:dPt>
          <c:dPt>
            <c:idx val="8"/>
            <c:invertIfNegative val="0"/>
            <c:bubble3D val="0"/>
            <c:spPr>
              <a:solidFill>
                <a:srgbClr val="1F78B4"/>
              </a:solidFill>
              <a:effectLst/>
            </c:spPr>
          </c:dPt>
          <c:dPt>
            <c:idx val="9"/>
            <c:invertIfNegative val="0"/>
            <c:bubble3D val="0"/>
            <c:spPr>
              <a:solidFill>
                <a:srgbClr val="1F78B4"/>
              </a:solidFill>
              <a:effectLst/>
            </c:spPr>
          </c:dPt>
          <c:cat>
            <c:multiLvlStrRef>
              <c:f>Sheet1!$A$2:$A$11</c:f>
              <c:multiLvlStrCache>
                <c:ptCount val="10"/>
                <c:lvl>
                  <c:pt idx="0">
                    <c:v>DPP: lifestyle (2.8 y)</c:v>
                  </c:pt>
                  <c:pt idx="1">
                    <c:v>Finnish DPS: lifestyle (3.2 y)</c:v>
                  </c:pt>
                  <c:pt idx="2">
                    <c:v>Da Qing: diet + exercise (6 y)</c:v>
                  </c:pt>
                  <c:pt idx="3">
                    <c:v>IDPP-1: lifestyle (2.5 y)</c:v>
                  </c:pt>
                  <c:pt idx="4">
                    <c:v>DPP: metformin (2.8 y)</c:v>
                  </c:pt>
                  <c:pt idx="5">
                    <c:v>STOP-NIDDM: acarbose (3.3 y)</c:v>
                  </c:pt>
                  <c:pt idx="6">
                    <c:v>XENDOS: orlistat (4 y)</c:v>
                  </c:pt>
                  <c:pt idx="7">
                    <c:v>ACT NOW: pioglitazone (2.4 y)</c:v>
                  </c:pt>
                  <c:pt idx="8">
                    <c:v>SCALE: liraglutide 3 mg (3 y)</c:v>
                  </c:pt>
                  <c:pt idx="9">
                    <c:v>SURMOUNT-1: tirzepatide (3 y)</c:v>
                  </c:pt>
                </c:lvl>
              </c:multiLvlStrCache>
            </c:multiLvlStrRef>
          </c:cat>
          <c:val>
            <c:numRef>
              <c:f>Sheet1!$B$2:$B$11</c:f>
              <c:numCache>
                <c:formatCode>General</c:formatCode>
                <c:ptCount val="10"/>
                <c:pt idx="0">
                  <c:v>58</c:v>
                </c:pt>
                <c:pt idx="1">
                  <c:v>58</c:v>
                </c:pt>
                <c:pt idx="2">
                  <c:v>51</c:v>
                </c:pt>
                <c:pt idx="3">
                  <c:v>29</c:v>
                </c:pt>
                <c:pt idx="4">
                  <c:v>31</c:v>
                </c:pt>
                <c:pt idx="5">
                  <c:v>25</c:v>
                </c:pt>
                <c:pt idx="6">
                  <c:v>37</c:v>
                </c:pt>
                <c:pt idx="7">
                  <c:v>72</c:v>
                </c:pt>
                <c:pt idx="8">
                  <c:v>79</c:v>
                </c:pt>
                <c:pt idx="9">
                  <c:v>94</c:v>
                </c:pt>
              </c:numCache>
            </c:numRef>
          </c:val>
        </c:ser>
        <c:dLbls>
          <c:numFmt formatCode="0&quot;%&quot;"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the next 25 minutes I will cover two linked questions: who should we screen for diabetes and how, and what actually works to prevent or delay it. I will compare the American Diabetes Association Standards of Care, the European Association for the Study of Diabetes (with the ESC), the International Diabetes Federation and WHO, and anchor these in the teaching of Davidson's Principles and Practice of Medicine and Kumar &amp; Clark's Clinical Medicine. Timing guide: about 1 to 1.5 minutes per slide, leaving 3 to 4 minutes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scale. The IDF Diabetes Atlas 11th edition estimates 589 million adults aged 20 to 79 with diabetes, rising to 853 million by 2050. Critically, around four in ten are undiagnosed, roughly 252 million people, and most live in low- and middle-income countries. Diabetes caused about 3.4 million deaths in 2024 and health spending exceeds one trillion US dollars. Type 2 diabetes makes up more than 90 percent of cases. The undiagnosed fraction is the core argument for screening: you cannot treat or prevent what you have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2 diabetes develops along a continuum. Genetic susceptibility plus obesity and inactivity produce insulin resistance; diabetes appears only when beta cells can no longer compensate. Both Davidson and Kumar &amp; Clark emphasise this dual defect. Between normal glucose and diabetes lies prediabetes: impaired fasting glucose and impaired glucose tolerance. About 5 to 10 percent progress each year and up to 70 percent eventually. UKPDS showed that by diagnosis beta-cell function has already halved and up to half of patients have complications such as retinopathy. Prediabetes is our window: progression here is still modifiable.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screening. Principles, diagnostic thresholds, who to test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the classic Wilson and Jungner criteria, type 2 diabetes looks ideal for screening: common and serious, long latent phase, cheap tests, and interventions that work. But the ADDITION-Cambridge trial is an important reality check: screening around 20,000 high-risk adults did not reduce mortality at about ten years. This is why WHO, IDF, ADA, EASD and the UK textbooks all favour targeted, risk-based screening linked to a care pathway, rather than mass population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diabetes thresholds are now harmonised: fasting 7.0, 2-hour 11.1, HbA1c 6.5 percent or 48 mmol/mol, or a random 11.1 with symptoms. The differences lie in the intermediate range. ADA sets impaired fasting glucose at 5.6; WHO and IDF at 6.1. ADA prediabetes by HbA1c is 5.7 to 6.4 percent, whereas UK practice, reflected in Davidson and Kumar &amp; Clark via NICE, uses 42 to 47 mmol/mol, i.e. 6.0 to 6.4 percent. WHO never defined an HbA1c prediabetes range. New in 2024, IDF proposes the 1-hour post-load glucose: 8.6 or more for intermediate hyperglycaemia and 11.6 or more for diabetes, because it detects risk earlier than the 2-hour value. Remember confirmation in asymptomatic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 Standards are the most prescriptive. Since 2022, all adults are tested from age 35, the threshold lowered from 45 after the USPSTF review. At any age, test those with overweight, BMI 25 or more, or 23 in Asian ancestry, plus one risk factor: family history, high-risk ethnicity, CVD, hypertension, dyslipidaemia, PCOS, inactivity, markers of insulin resistance, and fatty liver disease. Repeat every three years if normal; yearly in prediabetes; at least three-yearly lifelong after gestational diabetes. Also test people with HIV, after pancreatitis, on diabetogenic drugs, and at-risk children from age 10 or puberty. Please check the current year's Standards, as ADA updates them every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bodies converge on targeted screening but differ in method. WHO, focused on resource-limited settings, recommends opportunistic screening of high-risk adults in primary care through its PEN and HEARTS-D packages, and advises against mass screening. IDF uses a three-step model: identify with a questionnaire, measure glucose, then intervene; in 2024 it added the 1-hour glucose. EASD, through the joint 2019 ESC/EASD guideline, recommends screening every patient with cardiovascular disease using HbA1c and fasting glucose, with an OGTT if inconclusive, and favours risk scores like FINDRISC in the general population. Davidson and Kumar &amp; Clark follow the UK NICE approach: risk score first, then HbA1c or fasting glucose, from 40, or from 25 in high-risk ethnic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test is perfect. Fasting glucose is cheap but misses isolated IGT, which is common in South Asians. HbA1c needs no fasting and is now the preferred test in UK primary care, but it is less sensitive and misleading in haemoglobinopathies, anaemia, pregnancy, CKD, after transfusion and in rapidly evolving type 1 diabetes, a point both Davidson and Kumar &amp; Clark stress. The OGTT is most sensitive and is the standard in pregnancy, but cumbersome. A practical approach is a two-step strategy: a validated risk score such as the ADA risk test, FINDRISC, the Indian Diabetes Risk Score or the Leicester score, then blood testing of those at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pragmatic pathway that fits all four guidelines. Step one: identify people by age, risk factors or a risk score. Step two: test with HbA1c or fasting glucose, using an OGTT when results are borderline, discordant or HbA1c is unreliable. Then act on the result. Normal: re-screen within three years. Prediabetes: this is the prevention opportunity, with an intensive lifestyle programme, metformin in selected people, yearly glucose testing and cardiovascular risk management, since prediabetes itself raises CV risk. Diabetes range: confirm and start full care. Screening without this follow-through is what ADDITION showed to be ineffective.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need special attention. In pregnancy, test early if at risk, then the 75 gram OGTT at 24 to 28 weeks using WHO 2013 or IADPSG cut-offs, and never forget the postpartum OGTT: women with GDM carry a roughly sevenfold lifetime risk of type 2 diabetes. For type 1 diabetes, autoantibody screening, mainly of relatives, can now identify presymptomatic stages 1 and 2, and teplizumab can delay clinical onset by around two to three years. For children, ADA screens from age 10 or puberty if overweight with a risk factor. And for South Asians, highly relevant to many of us, diabetes appears about a decade earlier at lower BMI, so we use BMI 23 and ethnic-specific waist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prevention. What the trials show, and how guidelines translate this into lifestyle, drug and population-level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base is strong. The US DPP and the Finnish DPS both showed a 58 percent reduction with intensive lifestyle change; Da Qing in China about half; the Indian DPP about 29 percent, with metformin similar at 26 percent, in a leaner Asian population. Metformin in DPP gave 31 percent. Other drugs, acarbose, orlistat and pioglitazone, also work but carry side effects. The newest data are striking: liraglutide 3 mg cut incident diabetes by about 79 percent and tirzepatide by about 94 percent over three years in SURMOUNT-1, driven by weight loss, with some catch-up after stopping. Note that these trials differ in design and are not head-to-head comparisons. The unifying message, reflected in Davidson and Kumar &amp; Clark, is that weight loss is the main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prevention compelling is durability. In the Da Qing 30-year follow-up, six years of lifestyle intervention produced 39 percent less diabetes, 26 percent fewer cardiovascular events, 26 percent lower all-cause mortality and about 1.4 extra years of life. DPPOS at 15 years still showed 27 percent less diabetes with lifestyle and 18 percent with metformin. The Finnish DPS maintained a 43 percent reduction years after counselling stopped. This legacy effect means a few years of effort buys decades of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Translating trials into a prescription: aim for 5 to 7 percent weight loss, ADA says at least 7 percent; at least 150 minutes of moderate activity weekly plus resistance training, and breaking up prolonged sitting. Diet quality matters as well as calories: the EASD Diabetes and Nutrition Study Group endorses Mediterranean, Nordic, DASH and plant-based patterns rich in whole grains, legumes, nuts and fibre. Cut sugary drinks and processed meat. Address sleep, sleep apnoea and smoking. Above all, deliver it as a structured programme; the DPP curriculum used 16 sessions over 24 weeks, and group or digital delivery makes it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Drugs are an adjunct, not a replacement. Metformin has the longest safety record and is endorsed by ADA for high-risk prediabetes, particularly younger adults with BMI 35 or more, higher fasting glucose or HbA1c, and women with prior GDM; NICE reserves it for when glucose rises despite lifestyle. Monitor B12. GLP-1 receptor agonists and tirzepatide show the largest effects, but they are prescribed for obesity, and cost and access limit their population impact. Pioglitazone is effective but has side effects. Metabolic surgery in the Swedish Obese Subjects study cut incidence by about 80 percent. Remember that metformin for prevention is off-label in most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programmes alone cannot match the scale of the epidemic. WHO's Global Diabetes Compact sets five targets for 2030: 80 percent diagnosed, the screening target, 80 percent with good glycaemic control, 80 percent with good blood pressure control, 60 percent of over-40s on statins, and universal access to insulin for type 1. WHO best-buy policies such as sugary-drink taxes, food labelling and restrictions on marketing to children shift the whole population curve, which is the population strategy in the IDF model. At health-system level, national programmes like the NHS DPP and CDC National DPP, and low-cost models like the Kerala peer-support programme and SMS coaching in India, show prevention can be delivered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comparison for reference; I will not read it out. The key point: the bodies agree on diagnostic thresholds for diabetes, on targeted rather than mass screening, and on lifestyle as first-line prevention. They differ on the starting age, the definition of the intermediate range and the role of drugs. Locally, choose the framework that matches your resources: ADA where testing is easy, a risk-score-first approach in the WHO, IDF and NICE tradition where resources are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five messages. One: nearly half of diabetes is undiagnosed, and all guidelines support targeted screening. Two: use a two-step approach, risk first, then glucose testing. Three: know the thresholds and where the guidelines differ. Four: lifestyle intervention with modest weight loss halves incidence and has lasting effects, including on mortality. Five: add drugs selectively, and remember that population policy shifts the whole curve. Prevention is a long game, and the time to start is at prediabetes, or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for anyone who wants to follow up. Please check the latest annual ADA Standards and the current editions of Davidson and Kumar &amp; Clark before presenting, as these are updated regularly.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2" type="title" hasCustomPrompt="1"/>
          </p:nvPr>
        </p:nvSpPr>
        <p:spPr>
          <a:xfrm>
            <a:off x="731520" y="1737360"/>
            <a:ext cx="73152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3" type="body" hasCustomPrompt="1"/>
          </p:nvPr>
        </p:nvSpPr>
        <p:spPr>
          <a:xfrm>
            <a:off x="731520" y="3703320"/>
            <a:ext cx="69494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4" type="body" hasCustomPrompt="1"/>
          </p:nvPr>
        </p:nvSpPr>
        <p:spPr>
          <a:xfrm>
            <a:off x="731520" y="5120640"/>
            <a:ext cx="6949440" cy="8229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lstStyle>
            <a:lvl1pPr algn="l" indent="0" marL="0">
              <a:buNone/>
              <a:defRPr lang="en-US" sz="1800" b="1" dirty="0">
                <a:solidFill>
                  <a:schemeClr val="accent3"/>
                </a:solidFill>
              </a:defRPr>
            </a:lvl1pPr>
          </a:lstStyle>
          <a:p>
            <a:pPr algn="l" indent="0" marL="0">
              <a:buNone/>
            </a:pP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749808" y="6391656"/>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Screening &amp; Prevention of Diabetes</a:t>
            </a:r>
            <a:endParaRPr lang="en-US" sz="1000" dirty="0"/>
          </a:p>
        </p:txBody>
      </p:sp>
      <p:sp>
        <p:nvSpPr>
          <p:cNvPr id="3" name="Text 1"/>
          <p:cNvSpPr/>
          <p:nvPr>
            <p:ph idx="102" type="title" hasCustomPrompt="1"/>
          </p:nvPr>
        </p:nvSpPr>
        <p:spPr>
          <a:xfrm>
            <a:off x="548640" y="27432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731520" y="1737360"/>
            <a:ext cx="7315200" cy="1828800"/>
          </a:xfrm>
          <a:prstGeom prst="rect">
            <a:avLst/>
          </a:prstGeom>
          <a:noFill/>
          <a:ln/>
        </p:spPr>
        <p:txBody>
          <a:bodyPr wrap="square" rtlCol="0" anchor="b"/>
          <a:lstStyle/>
          <a:p>
            <a:pPr algn="l" indent="0" marL="0">
              <a:buNone/>
            </a:pPr>
            <a:r>
              <a:rPr lang="en-US" sz="4400" b="1" dirty="0">
                <a:solidFill>
                  <a:schemeClr val="bg1"/>
                </a:solidFill>
              </a:rPr>
              <a:t>Screening and Prevention of Diabetes</a:t>
            </a:r>
            <a:endParaRPr lang="en-US" sz="4400" dirty="0"/>
          </a:p>
        </p:txBody>
      </p:sp>
      <p:sp>
        <p:nvSpPr>
          <p:cNvPr id="3" name="Text 0"/>
          <p:cNvSpPr/>
          <p:nvPr>
            <p:ph idx="103" type="body" hasCustomPrompt="1"/>
          </p:nvPr>
        </p:nvSpPr>
        <p:spPr>
          <a:xfrm>
            <a:off x="731520" y="3703320"/>
            <a:ext cx="6949440" cy="914400"/>
          </a:xfrm>
          <a:prstGeom prst="rect">
            <a:avLst/>
          </a:prstGeom>
          <a:noFill/>
          <a:ln/>
        </p:spPr>
        <p:txBody>
          <a:bodyPr wrap="square" rtlCol="0" anchor="t"/>
          <a:lstStyle/>
          <a:p>
            <a:pPr algn="l" indent="0" marL="0">
              <a:buNone/>
            </a:pPr>
            <a:r>
              <a:rPr lang="en-US" sz="2000" dirty="0">
                <a:solidFill>
                  <a:schemeClr val="bg2"/>
                </a:solidFill>
              </a:rPr>
              <a:t>From guidelines to practice: ADA, EASD, IDF and WHO, with Davidson's and Kumar &amp; Clark's perspectives</a:t>
            </a:r>
            <a:endParaRPr lang="en-US" sz="2000" dirty="0"/>
          </a:p>
        </p:txBody>
      </p:sp>
      <p:sp>
        <p:nvSpPr>
          <p:cNvPr id="4" name="Text 0"/>
          <p:cNvSpPr/>
          <p:nvPr>
            <p:ph idx="104" type="body" hasCustomPrompt="1"/>
          </p:nvPr>
        </p:nvSpPr>
        <p:spPr>
          <a:xfrm>
            <a:off x="731520" y="5120640"/>
            <a:ext cx="6949440" cy="822960"/>
          </a:xfrm>
          <a:prstGeom prst="rect">
            <a:avLst/>
          </a:prstGeom>
          <a:noFill/>
          <a:ln/>
        </p:spPr>
        <p:txBody>
          <a:bodyPr wrap="square" rtlCol="0" anchor="t"/>
          <a:lstStyle/>
          <a:p>
            <a:pPr algn="l" indent="0" marL="0">
              <a:buNone/>
            </a:pPr>
            <a:r>
              <a:rPr lang="en-US" sz="1400" dirty="0">
                <a:solidFill>
                  <a:schemeClr val="bg2"/>
                </a:solidFill>
              </a:rPr>
              <a:t>Symposium presentation  ·  25 minutes</a:t>
            </a:r>
            <a:endParaRPr lang="en-US" sz="1400" dirty="0"/>
          </a:p>
          <a:p>
            <a:pPr algn="l" indent="0" marL="0">
              <a:buNone/>
            </a:pPr>
            <a:r>
              <a:rPr lang="en-US" sz="1400" dirty="0">
                <a:solidFill>
                  <a:schemeClr val="bg2"/>
                </a:solidFill>
              </a:rPr>
              <a:t>[Presenter name, designation, institution]</a:t>
            </a:r>
            <a:endParaRPr lang="en-US" sz="14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growing, largely hidden epidemic</a:t>
            </a:r>
            <a:endParaRPr lang="en-US" sz="3400" dirty="0"/>
          </a:p>
        </p:txBody>
      </p:sp>
      <p:sp>
        <p:nvSpPr>
          <p:cNvPr id="3" name="a2-card-1"/>
          <p:cNvSpPr/>
          <p:nvPr/>
        </p:nvSpPr>
        <p:spPr>
          <a:xfrm>
            <a:off x="548640" y="1417320"/>
            <a:ext cx="2567864" cy="2514600"/>
          </a:xfrm>
          <a:prstGeom prst="roundRect">
            <a:avLst>
              <a:gd name="adj" fmla="val 4364"/>
            </a:avLst>
          </a:prstGeom>
          <a:solidFill>
            <a:schemeClr val="bg2"/>
          </a:solidFill>
          <a:ln/>
        </p:spPr>
      </p:sp>
      <p:sp>
        <p:nvSpPr>
          <p:cNvPr id="4" name="a2-text-2"/>
          <p:cNvSpPr txBox="1"/>
          <p:nvPr/>
        </p:nvSpPr>
        <p:spPr>
          <a:xfrm>
            <a:off x="777240" y="1645920"/>
            <a:ext cx="2110664"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589M</a:t>
            </a:r>
            <a:endParaRPr lang="en-US" sz="4800" dirty="0"/>
          </a:p>
        </p:txBody>
      </p:sp>
      <p:sp>
        <p:nvSpPr>
          <p:cNvPr id="5" name="a2-text-3"/>
          <p:cNvSpPr txBox="1"/>
          <p:nvPr/>
        </p:nvSpPr>
        <p:spPr>
          <a:xfrm>
            <a:off x="777240" y="2651760"/>
            <a:ext cx="2110664" cy="1097280"/>
          </a:xfrm>
          <a:prstGeom prst="rect">
            <a:avLst/>
          </a:prstGeom>
          <a:noFill/>
          <a:ln/>
        </p:spPr>
        <p:txBody>
          <a:bodyPr wrap="square" lIns="0" tIns="0" rIns="0" bIns="0" rtlCol="0" anchor="t"/>
          <a:lstStyle/>
          <a:p>
            <a:pPr indent="0" marL="0">
              <a:buNone/>
            </a:pPr>
            <a:r>
              <a:rPr lang="en-US" sz="1500" dirty="0">
                <a:solidFill>
                  <a:schemeClr val="tx1"/>
                </a:solidFill>
              </a:rPr>
              <a:t>adults (20–79 y) living with diabetes in 2024: 1 in 9</a:t>
            </a:r>
            <a:endParaRPr lang="en-US" sz="1500" dirty="0"/>
          </a:p>
        </p:txBody>
      </p:sp>
      <p:sp>
        <p:nvSpPr>
          <p:cNvPr id="6" name="a3-card-4"/>
          <p:cNvSpPr/>
          <p:nvPr/>
        </p:nvSpPr>
        <p:spPr>
          <a:xfrm>
            <a:off x="3390824" y="1417320"/>
            <a:ext cx="2567864" cy="2514600"/>
          </a:xfrm>
          <a:prstGeom prst="roundRect">
            <a:avLst>
              <a:gd name="adj" fmla="val 4364"/>
            </a:avLst>
          </a:prstGeom>
          <a:solidFill>
            <a:schemeClr val="bg2"/>
          </a:solidFill>
          <a:ln/>
        </p:spPr>
      </p:sp>
      <p:sp>
        <p:nvSpPr>
          <p:cNvPr id="7" name="a3-text-5"/>
          <p:cNvSpPr txBox="1"/>
          <p:nvPr/>
        </p:nvSpPr>
        <p:spPr>
          <a:xfrm>
            <a:off x="3619424" y="1645920"/>
            <a:ext cx="2110664"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853M</a:t>
            </a:r>
            <a:endParaRPr lang="en-US" sz="4800" dirty="0"/>
          </a:p>
        </p:txBody>
      </p:sp>
      <p:sp>
        <p:nvSpPr>
          <p:cNvPr id="8" name="a3-text-6"/>
          <p:cNvSpPr txBox="1"/>
          <p:nvPr/>
        </p:nvSpPr>
        <p:spPr>
          <a:xfrm>
            <a:off x="3619424" y="2651760"/>
            <a:ext cx="2110664" cy="1097280"/>
          </a:xfrm>
          <a:prstGeom prst="rect">
            <a:avLst/>
          </a:prstGeom>
          <a:noFill/>
          <a:ln/>
        </p:spPr>
        <p:txBody>
          <a:bodyPr wrap="square" lIns="0" tIns="0" rIns="0" bIns="0" rtlCol="0" anchor="t"/>
          <a:lstStyle/>
          <a:p>
            <a:pPr indent="0" marL="0">
              <a:buNone/>
            </a:pPr>
            <a:r>
              <a:rPr lang="en-US" sz="1500" dirty="0">
                <a:solidFill>
                  <a:schemeClr val="tx1"/>
                </a:solidFill>
              </a:rPr>
              <a:t>projected by 2050, a 46% increase</a:t>
            </a:r>
            <a:endParaRPr lang="en-US" sz="1500" dirty="0"/>
          </a:p>
        </p:txBody>
      </p:sp>
      <p:sp>
        <p:nvSpPr>
          <p:cNvPr id="9" name="a4-card-7"/>
          <p:cNvSpPr/>
          <p:nvPr/>
        </p:nvSpPr>
        <p:spPr>
          <a:xfrm>
            <a:off x="6233008" y="1417320"/>
            <a:ext cx="2567864" cy="2514600"/>
          </a:xfrm>
          <a:prstGeom prst="roundRect">
            <a:avLst>
              <a:gd name="adj" fmla="val 4364"/>
            </a:avLst>
          </a:prstGeom>
          <a:solidFill>
            <a:schemeClr val="bg2"/>
          </a:solidFill>
          <a:ln/>
        </p:spPr>
      </p:sp>
      <p:sp>
        <p:nvSpPr>
          <p:cNvPr id="10" name="a4-text-8"/>
          <p:cNvSpPr txBox="1"/>
          <p:nvPr/>
        </p:nvSpPr>
        <p:spPr>
          <a:xfrm>
            <a:off x="6461608" y="1645920"/>
            <a:ext cx="2110664"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43%</a:t>
            </a:r>
            <a:endParaRPr lang="en-US" sz="4800" dirty="0"/>
          </a:p>
        </p:txBody>
      </p:sp>
      <p:sp>
        <p:nvSpPr>
          <p:cNvPr id="11" name="a4-text-9"/>
          <p:cNvSpPr txBox="1"/>
          <p:nvPr/>
        </p:nvSpPr>
        <p:spPr>
          <a:xfrm>
            <a:off x="6461608" y="2651760"/>
            <a:ext cx="2110664" cy="1097280"/>
          </a:xfrm>
          <a:prstGeom prst="rect">
            <a:avLst/>
          </a:prstGeom>
          <a:noFill/>
          <a:ln/>
        </p:spPr>
        <p:txBody>
          <a:bodyPr wrap="square" lIns="0" tIns="0" rIns="0" bIns="0" rtlCol="0" anchor="t"/>
          <a:lstStyle/>
          <a:p>
            <a:pPr indent="0" marL="0">
              <a:buNone/>
            </a:pPr>
            <a:r>
              <a:rPr lang="en-US" sz="1500" dirty="0">
                <a:solidFill>
                  <a:schemeClr val="tx1"/>
                </a:solidFill>
              </a:rPr>
              <a:t>of adults with diabetes are undiagnosed (~252 million)</a:t>
            </a:r>
            <a:endParaRPr lang="en-US" sz="1500" dirty="0"/>
          </a:p>
        </p:txBody>
      </p:sp>
      <p:sp>
        <p:nvSpPr>
          <p:cNvPr id="12" name="a5-card-10"/>
          <p:cNvSpPr/>
          <p:nvPr/>
        </p:nvSpPr>
        <p:spPr>
          <a:xfrm>
            <a:off x="9075191" y="1417320"/>
            <a:ext cx="2567864" cy="2514600"/>
          </a:xfrm>
          <a:prstGeom prst="roundRect">
            <a:avLst>
              <a:gd name="adj" fmla="val 4364"/>
            </a:avLst>
          </a:prstGeom>
          <a:solidFill>
            <a:schemeClr val="bg2"/>
          </a:solidFill>
          <a:ln/>
        </p:spPr>
      </p:sp>
      <p:sp>
        <p:nvSpPr>
          <p:cNvPr id="13" name="a5-text-11"/>
          <p:cNvSpPr txBox="1"/>
          <p:nvPr/>
        </p:nvSpPr>
        <p:spPr>
          <a:xfrm>
            <a:off x="9303791" y="1645920"/>
            <a:ext cx="2110664"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3.4M</a:t>
            </a:r>
            <a:endParaRPr lang="en-US" sz="4800" dirty="0"/>
          </a:p>
        </p:txBody>
      </p:sp>
      <p:sp>
        <p:nvSpPr>
          <p:cNvPr id="14" name="a5-text-12"/>
          <p:cNvSpPr txBox="1"/>
          <p:nvPr/>
        </p:nvSpPr>
        <p:spPr>
          <a:xfrm>
            <a:off x="9303791" y="2651760"/>
            <a:ext cx="2110664" cy="1097280"/>
          </a:xfrm>
          <a:prstGeom prst="rect">
            <a:avLst/>
          </a:prstGeom>
          <a:noFill/>
          <a:ln/>
        </p:spPr>
        <p:txBody>
          <a:bodyPr wrap="square" lIns="0" tIns="0" rIns="0" bIns="0" rtlCol="0" anchor="t"/>
          <a:lstStyle/>
          <a:p>
            <a:pPr indent="0" marL="0">
              <a:buNone/>
            </a:pPr>
            <a:r>
              <a:rPr lang="en-US" sz="1500" dirty="0">
                <a:solidFill>
                  <a:schemeClr val="tx1"/>
                </a:solidFill>
              </a:rPr>
              <a:t>deaths attributed to diabetes in 2024</a:t>
            </a:r>
            <a:endParaRPr lang="en-US" sz="1500" dirty="0"/>
          </a:p>
        </p:txBody>
      </p:sp>
      <p:sp>
        <p:nvSpPr>
          <p:cNvPr id="15" name="a6-card-13"/>
          <p:cNvSpPr/>
          <p:nvPr/>
        </p:nvSpPr>
        <p:spPr>
          <a:xfrm>
            <a:off x="548640" y="4251960"/>
            <a:ext cx="11094415" cy="1600200"/>
          </a:xfrm>
          <a:prstGeom prst="roundRect">
            <a:avLst>
              <a:gd name="adj" fmla="val 6857"/>
            </a:avLst>
          </a:prstGeom>
          <a:solidFill>
            <a:schemeClr val="tx1"/>
          </a:solidFill>
          <a:ln/>
        </p:spPr>
      </p:sp>
      <p:sp>
        <p:nvSpPr>
          <p:cNvPr id="16" name="a6-icon-circle-14"/>
          <p:cNvSpPr/>
          <p:nvPr/>
        </p:nvSpPr>
        <p:spPr>
          <a:xfrm>
            <a:off x="868680" y="4553712"/>
            <a:ext cx="1005840" cy="1005840"/>
          </a:xfrm>
          <a:prstGeom prst="ellipse">
            <a:avLst/>
          </a:prstGeom>
          <a:solidFill>
            <a:schemeClr val="accent1"/>
          </a:solidFill>
          <a:ln/>
        </p:spPr>
      </p:sp>
      <p:pic>
        <p:nvPicPr>
          <p:cNvPr id="17" name="a6-icon-15" descr="preencoded.png">    </p:cNvPr>
          <p:cNvPicPr>
            <a:picLocks noChangeAspect="1"/>
          </p:cNvPicPr>
          <p:nvPr/>
        </p:nvPicPr>
        <p:blipFill>
          <a:blip r:embed="rId1"/>
          <a:stretch>
            <a:fillRect/>
          </a:stretch>
        </p:blipFill>
        <p:spPr>
          <a:xfrm>
            <a:off x="1120140" y="4805172"/>
            <a:ext cx="502920" cy="502920"/>
          </a:xfrm>
          <a:prstGeom prst="rect">
            <a:avLst/>
          </a:prstGeom>
        </p:spPr>
      </p:pic>
      <p:sp>
        <p:nvSpPr>
          <p:cNvPr id="18" name="a6-text-16"/>
          <p:cNvSpPr txBox="1"/>
          <p:nvPr/>
        </p:nvSpPr>
        <p:spPr>
          <a:xfrm>
            <a:off x="2148840" y="4434840"/>
            <a:ext cx="9174175" cy="1234440"/>
          </a:xfrm>
          <a:prstGeom prst="rect">
            <a:avLst/>
          </a:prstGeom>
          <a:noFill/>
          <a:ln/>
        </p:spPr>
        <p:txBody>
          <a:bodyPr wrap="square" lIns="0" tIns="0" rIns="0" bIns="0" rtlCol="0" anchor="ctr"/>
          <a:lstStyle/>
          <a:p>
            <a:pPr indent="0" marL="0">
              <a:buNone/>
            </a:pPr>
            <a:r>
              <a:rPr lang="en-US" sz="1800" b="1" dirty="0">
                <a:solidFill>
                  <a:schemeClr val="bg1"/>
                </a:solidFill>
              </a:rPr>
              <a:t>Why screening matters: </a:t>
            </a:r>
            <a:pPr indent="0" marL="0">
              <a:buNone/>
            </a:pPr>
            <a:r>
              <a:rPr lang="en-US" sz="1600" dirty="0">
                <a:solidFill>
                  <a:schemeClr val="bg1"/>
                </a:solidFill>
              </a:rPr>
              <a:t>type 2 diabetes accounts for &gt;90% of cases and has a long silent phase. Undiagnosed people accumulate micro- and macrovascular damage, and those with prediabetes miss the window in which progression is still reversible.</a:t>
            </a:r>
            <a:endParaRPr lang="en-US" sz="1400" dirty="0"/>
          </a:p>
        </p:txBody>
      </p:sp>
      <p:sp>
        <p:nvSpPr>
          <p:cNvPr id="19"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 IDF Diabetes Atlas, 11th edition (2025).</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4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4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71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71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7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99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99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99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127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127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127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127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Natural history: the window of opportunity</a:t>
            </a:r>
            <a:endParaRPr lang="en-US" sz="3400" dirty="0"/>
          </a:p>
        </p:txBody>
      </p:sp>
      <p:sp>
        <p:nvSpPr>
          <p:cNvPr id="3" name="a8-card-18"/>
          <p:cNvSpPr/>
          <p:nvPr/>
        </p:nvSpPr>
        <p:spPr>
          <a:xfrm>
            <a:off x="6986016" y="1325880"/>
            <a:ext cx="2560320" cy="457200"/>
          </a:xfrm>
          <a:prstGeom prst="roundRect">
            <a:avLst>
              <a:gd name="adj" fmla="val 24000"/>
            </a:avLst>
          </a:prstGeom>
          <a:solidFill>
            <a:schemeClr val="bg2"/>
          </a:solidFill>
          <a:ln/>
        </p:spPr>
      </p:sp>
      <p:sp>
        <p:nvSpPr>
          <p:cNvPr id="4" name="a8-text-19"/>
          <p:cNvSpPr txBox="1"/>
          <p:nvPr/>
        </p:nvSpPr>
        <p:spPr>
          <a:xfrm>
            <a:off x="6986016" y="1325880"/>
            <a:ext cx="2560320" cy="457200"/>
          </a:xfrm>
          <a:prstGeom prst="rect">
            <a:avLst/>
          </a:prstGeom>
          <a:noFill/>
          <a:ln/>
        </p:spPr>
        <p:txBody>
          <a:bodyPr wrap="square" lIns="0" tIns="0" rIns="0" bIns="0" rtlCol="0" anchor="ctr"/>
          <a:lstStyle/>
          <a:p>
            <a:pPr algn="ctr" indent="0" marL="0">
              <a:buNone/>
            </a:pPr>
            <a:r>
              <a:rPr lang="en-US" sz="1400" b="1" dirty="0">
                <a:solidFill>
                  <a:schemeClr val="tx2"/>
                </a:solidFill>
              </a:rPr>
              <a:t>Window for prevention</a:t>
            </a:r>
            <a:endParaRPr lang="en-US" sz="1400" dirty="0"/>
          </a:p>
        </p:txBody>
      </p:sp>
      <p:sp>
        <p:nvSpPr>
          <p:cNvPr id="5" name="a9-chevron-20"/>
          <p:cNvSpPr/>
          <p:nvPr/>
        </p:nvSpPr>
        <p:spPr>
          <a:xfrm>
            <a:off x="548640" y="1920240"/>
            <a:ext cx="2377440" cy="1143000"/>
          </a:xfrm>
          <a:prstGeom prst="chevron">
            <a:avLst/>
          </a:prstGeom>
          <a:solidFill>
            <a:schemeClr val="accent6"/>
          </a:solidFill>
          <a:ln/>
        </p:spPr>
      </p:sp>
      <p:sp>
        <p:nvSpPr>
          <p:cNvPr id="6" name="a9-text-21"/>
          <p:cNvSpPr txBox="1"/>
          <p:nvPr/>
        </p:nvSpPr>
        <p:spPr>
          <a:xfrm>
            <a:off x="1005840" y="1920240"/>
            <a:ext cx="1508760" cy="1143000"/>
          </a:xfrm>
          <a:prstGeom prst="rect">
            <a:avLst/>
          </a:prstGeom>
          <a:noFill/>
          <a:ln/>
        </p:spPr>
        <p:txBody>
          <a:bodyPr wrap="square" lIns="0" tIns="0" rIns="0" bIns="0" rtlCol="0" anchor="ctr"/>
          <a:lstStyle/>
          <a:p>
            <a:pPr algn="ctr" indent="0" marL="0">
              <a:buNone/>
            </a:pPr>
            <a:r>
              <a:rPr lang="en-US" sz="1400" b="1" dirty="0">
                <a:solidFill>
                  <a:schemeClr val="bg1"/>
                </a:solidFill>
              </a:rPr>
              <a:t>Genetic &amp; lifestyle risk</a:t>
            </a:r>
            <a:endParaRPr lang="en-US" sz="1400" dirty="0"/>
          </a:p>
        </p:txBody>
      </p:sp>
      <p:sp>
        <p:nvSpPr>
          <p:cNvPr id="7" name="a10-chevron-22"/>
          <p:cNvSpPr/>
          <p:nvPr/>
        </p:nvSpPr>
        <p:spPr>
          <a:xfrm>
            <a:off x="2724912" y="1920240"/>
            <a:ext cx="2377440" cy="1143000"/>
          </a:xfrm>
          <a:prstGeom prst="chevron">
            <a:avLst/>
          </a:prstGeom>
          <a:solidFill>
            <a:schemeClr val="accent6"/>
          </a:solidFill>
          <a:ln/>
        </p:spPr>
      </p:sp>
      <p:sp>
        <p:nvSpPr>
          <p:cNvPr id="8" name="a10-text-23"/>
          <p:cNvSpPr txBox="1"/>
          <p:nvPr/>
        </p:nvSpPr>
        <p:spPr>
          <a:xfrm>
            <a:off x="3182112" y="1920240"/>
            <a:ext cx="1508760" cy="1143000"/>
          </a:xfrm>
          <a:prstGeom prst="rect">
            <a:avLst/>
          </a:prstGeom>
          <a:noFill/>
          <a:ln/>
        </p:spPr>
        <p:txBody>
          <a:bodyPr wrap="square" lIns="0" tIns="0" rIns="0" bIns="0" rtlCol="0" anchor="ctr"/>
          <a:lstStyle/>
          <a:p>
            <a:pPr algn="ctr" indent="0" marL="0">
              <a:buNone/>
            </a:pPr>
            <a:r>
              <a:rPr lang="en-US" sz="1400" b="1" dirty="0">
                <a:solidFill>
                  <a:schemeClr val="bg1"/>
                </a:solidFill>
              </a:rPr>
              <a:t>Insulin resistance</a:t>
            </a:r>
            <a:endParaRPr lang="en-US" sz="1400" dirty="0"/>
          </a:p>
        </p:txBody>
      </p:sp>
      <p:sp>
        <p:nvSpPr>
          <p:cNvPr id="9" name="a11-chevron-24"/>
          <p:cNvSpPr/>
          <p:nvPr/>
        </p:nvSpPr>
        <p:spPr>
          <a:xfrm>
            <a:off x="4901184" y="1920240"/>
            <a:ext cx="2377440" cy="1143000"/>
          </a:xfrm>
          <a:prstGeom prst="chevron">
            <a:avLst/>
          </a:prstGeom>
          <a:solidFill>
            <a:schemeClr val="accent1"/>
          </a:solidFill>
          <a:ln/>
        </p:spPr>
      </p:sp>
      <p:sp>
        <p:nvSpPr>
          <p:cNvPr id="10" name="a11-text-25"/>
          <p:cNvSpPr txBox="1"/>
          <p:nvPr/>
        </p:nvSpPr>
        <p:spPr>
          <a:xfrm>
            <a:off x="5358384" y="1920240"/>
            <a:ext cx="1508760" cy="1143000"/>
          </a:xfrm>
          <a:prstGeom prst="rect">
            <a:avLst/>
          </a:prstGeom>
          <a:noFill/>
          <a:ln/>
        </p:spPr>
        <p:txBody>
          <a:bodyPr wrap="square" lIns="0" tIns="0" rIns="0" bIns="0" rtlCol="0" anchor="ctr"/>
          <a:lstStyle/>
          <a:p>
            <a:pPr algn="ctr" indent="0" marL="0">
              <a:buNone/>
            </a:pPr>
            <a:r>
              <a:rPr lang="en-US" sz="1400" b="1" dirty="0">
                <a:solidFill>
                  <a:schemeClr val="bg1"/>
                </a:solidFill>
              </a:rPr>
              <a:t>β-cell dysfunction</a:t>
            </a:r>
            <a:endParaRPr lang="en-US" sz="1400" dirty="0"/>
          </a:p>
        </p:txBody>
      </p:sp>
      <p:sp>
        <p:nvSpPr>
          <p:cNvPr id="11" name="a12-chevron-26"/>
          <p:cNvSpPr/>
          <p:nvPr/>
        </p:nvSpPr>
        <p:spPr>
          <a:xfrm>
            <a:off x="7077456" y="1920240"/>
            <a:ext cx="2377440" cy="1143000"/>
          </a:xfrm>
          <a:prstGeom prst="chevron">
            <a:avLst/>
          </a:prstGeom>
          <a:solidFill>
            <a:schemeClr val="accent3"/>
          </a:solidFill>
          <a:ln/>
        </p:spPr>
      </p:sp>
      <p:sp>
        <p:nvSpPr>
          <p:cNvPr id="12" name="a12-text-27"/>
          <p:cNvSpPr txBox="1"/>
          <p:nvPr/>
        </p:nvSpPr>
        <p:spPr>
          <a:xfrm>
            <a:off x="7534656" y="1920240"/>
            <a:ext cx="1508760" cy="1143000"/>
          </a:xfrm>
          <a:prstGeom prst="rect">
            <a:avLst/>
          </a:prstGeom>
          <a:noFill/>
          <a:ln/>
        </p:spPr>
        <p:txBody>
          <a:bodyPr wrap="square" lIns="0" tIns="0" rIns="0" bIns="0" rtlCol="0" anchor="ctr"/>
          <a:lstStyle/>
          <a:p>
            <a:pPr algn="ctr" indent="0" marL="0">
              <a:buNone/>
            </a:pPr>
            <a:r>
              <a:rPr lang="en-US" sz="1400" b="1" dirty="0">
                <a:solidFill>
                  <a:schemeClr val="bg1"/>
                </a:solidFill>
              </a:rPr>
              <a:t>Prediabetes (IFG / IGT)</a:t>
            </a:r>
            <a:endParaRPr lang="en-US" sz="1400" dirty="0"/>
          </a:p>
        </p:txBody>
      </p:sp>
      <p:sp>
        <p:nvSpPr>
          <p:cNvPr id="13" name="a13-chevron-28"/>
          <p:cNvSpPr/>
          <p:nvPr/>
        </p:nvSpPr>
        <p:spPr>
          <a:xfrm>
            <a:off x="9253728" y="1920240"/>
            <a:ext cx="2377440" cy="1143000"/>
          </a:xfrm>
          <a:prstGeom prst="chevron">
            <a:avLst/>
          </a:prstGeom>
          <a:solidFill>
            <a:schemeClr val="accent2"/>
          </a:solidFill>
          <a:ln/>
        </p:spPr>
      </p:sp>
      <p:sp>
        <p:nvSpPr>
          <p:cNvPr id="14" name="a13-text-29"/>
          <p:cNvSpPr txBox="1"/>
          <p:nvPr/>
        </p:nvSpPr>
        <p:spPr>
          <a:xfrm>
            <a:off x="9710928" y="1920240"/>
            <a:ext cx="1508760" cy="1143000"/>
          </a:xfrm>
          <a:prstGeom prst="rect">
            <a:avLst/>
          </a:prstGeom>
          <a:noFill/>
          <a:ln/>
        </p:spPr>
        <p:txBody>
          <a:bodyPr wrap="square" lIns="0" tIns="0" rIns="0" bIns="0" rtlCol="0" anchor="ctr"/>
          <a:lstStyle/>
          <a:p>
            <a:pPr algn="ctr" indent="0" marL="0">
              <a:buNone/>
            </a:pPr>
            <a:r>
              <a:rPr lang="en-US" sz="1400" b="1" dirty="0">
                <a:solidFill>
                  <a:schemeClr val="bg1"/>
                </a:solidFill>
              </a:rPr>
              <a:t>Type 2 diabetes</a:t>
            </a:r>
            <a:endParaRPr lang="en-US" sz="1400" dirty="0"/>
          </a:p>
        </p:txBody>
      </p:sp>
      <p:sp>
        <p:nvSpPr>
          <p:cNvPr id="15" name="a13-text-30"/>
          <p:cNvSpPr txBox="1"/>
          <p:nvPr/>
        </p:nvSpPr>
        <p:spPr>
          <a:xfrm>
            <a:off x="548640" y="3246120"/>
            <a:ext cx="11094415" cy="411480"/>
          </a:xfrm>
          <a:prstGeom prst="rect">
            <a:avLst/>
          </a:prstGeom>
          <a:noFill/>
          <a:ln/>
        </p:spPr>
        <p:txBody>
          <a:bodyPr wrap="square" lIns="0" tIns="0" rIns="0" bIns="0" rtlCol="0" anchor="t"/>
          <a:lstStyle/>
          <a:p>
            <a:pPr indent="0" marL="0">
              <a:buNone/>
            </a:pPr>
            <a:r>
              <a:rPr lang="en-US" sz="1500" i="1" dirty="0">
                <a:solidFill>
                  <a:schemeClr val="tx2"/>
                </a:solidFill>
              </a:rPr>
              <a:t>Hyperglycaemia is typically present for 4–7 years before clinical diagnosis; screening shortens this silent phase.</a:t>
            </a:r>
            <a:endParaRPr lang="en-US" sz="1500" dirty="0"/>
          </a:p>
        </p:txBody>
      </p:sp>
      <p:sp>
        <p:nvSpPr>
          <p:cNvPr id="16" name="a14-card-31"/>
          <p:cNvSpPr/>
          <p:nvPr/>
        </p:nvSpPr>
        <p:spPr>
          <a:xfrm>
            <a:off x="548640" y="3840480"/>
            <a:ext cx="3515258" cy="2057400"/>
          </a:xfrm>
          <a:prstGeom prst="roundRect">
            <a:avLst>
              <a:gd name="adj" fmla="val 5333"/>
            </a:avLst>
          </a:prstGeom>
          <a:solidFill>
            <a:schemeClr val="bg2"/>
          </a:solidFill>
          <a:ln/>
        </p:spPr>
      </p:sp>
      <p:sp>
        <p:nvSpPr>
          <p:cNvPr id="17" name="a14-text-32"/>
          <p:cNvSpPr txBox="1"/>
          <p:nvPr/>
        </p:nvSpPr>
        <p:spPr>
          <a:xfrm>
            <a:off x="822960" y="3977640"/>
            <a:ext cx="2966618"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5–10%</a:t>
            </a:r>
            <a:endParaRPr lang="en-US" sz="4000" dirty="0"/>
          </a:p>
        </p:txBody>
      </p:sp>
      <p:sp>
        <p:nvSpPr>
          <p:cNvPr id="18" name="a14-text-33"/>
          <p:cNvSpPr txBox="1"/>
          <p:nvPr/>
        </p:nvSpPr>
        <p:spPr>
          <a:xfrm>
            <a:off x="822960" y="4800600"/>
            <a:ext cx="2966618" cy="1005840"/>
          </a:xfrm>
          <a:prstGeom prst="rect">
            <a:avLst/>
          </a:prstGeom>
          <a:noFill/>
          <a:ln/>
        </p:spPr>
        <p:txBody>
          <a:bodyPr wrap="square" lIns="0" tIns="0" rIns="0" bIns="0" rtlCol="0" anchor="t"/>
          <a:lstStyle/>
          <a:p>
            <a:pPr indent="0" marL="0">
              <a:buNone/>
            </a:pPr>
            <a:r>
              <a:rPr lang="en-US" sz="1500" dirty="0">
                <a:solidFill>
                  <a:schemeClr val="tx1"/>
                </a:solidFill>
              </a:rPr>
              <a:t>of people with prediabetes progress to diabetes each year</a:t>
            </a:r>
            <a:endParaRPr lang="en-US" sz="1500" dirty="0"/>
          </a:p>
        </p:txBody>
      </p:sp>
      <p:sp>
        <p:nvSpPr>
          <p:cNvPr id="19" name="a15-card-34"/>
          <p:cNvSpPr/>
          <p:nvPr/>
        </p:nvSpPr>
        <p:spPr>
          <a:xfrm>
            <a:off x="4338218" y="3840480"/>
            <a:ext cx="3515258" cy="2057400"/>
          </a:xfrm>
          <a:prstGeom prst="roundRect">
            <a:avLst>
              <a:gd name="adj" fmla="val 5333"/>
            </a:avLst>
          </a:prstGeom>
          <a:solidFill>
            <a:schemeClr val="bg2"/>
          </a:solidFill>
          <a:ln/>
        </p:spPr>
      </p:sp>
      <p:sp>
        <p:nvSpPr>
          <p:cNvPr id="20" name="a15-text-35"/>
          <p:cNvSpPr txBox="1"/>
          <p:nvPr/>
        </p:nvSpPr>
        <p:spPr>
          <a:xfrm>
            <a:off x="4612538" y="3977640"/>
            <a:ext cx="2966618"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Up to 70%</a:t>
            </a:r>
            <a:endParaRPr lang="en-US" sz="4000" dirty="0"/>
          </a:p>
        </p:txBody>
      </p:sp>
      <p:sp>
        <p:nvSpPr>
          <p:cNvPr id="21" name="a15-text-36"/>
          <p:cNvSpPr txBox="1"/>
          <p:nvPr/>
        </p:nvSpPr>
        <p:spPr>
          <a:xfrm>
            <a:off x="4612538" y="4800600"/>
            <a:ext cx="2966618" cy="1005840"/>
          </a:xfrm>
          <a:prstGeom prst="rect">
            <a:avLst/>
          </a:prstGeom>
          <a:noFill/>
          <a:ln/>
        </p:spPr>
        <p:txBody>
          <a:bodyPr wrap="square" lIns="0" tIns="0" rIns="0" bIns="0" rtlCol="0" anchor="t"/>
          <a:lstStyle/>
          <a:p>
            <a:pPr indent="0" marL="0">
              <a:buNone/>
            </a:pPr>
            <a:r>
              <a:rPr lang="en-US" sz="1500" dirty="0">
                <a:solidFill>
                  <a:schemeClr val="tx1"/>
                </a:solidFill>
              </a:rPr>
              <a:t>of people with prediabetes eventually develop diabetes</a:t>
            </a:r>
            <a:endParaRPr lang="en-US" sz="1500" dirty="0"/>
          </a:p>
        </p:txBody>
      </p:sp>
      <p:sp>
        <p:nvSpPr>
          <p:cNvPr id="22" name="a16-card-37"/>
          <p:cNvSpPr/>
          <p:nvPr/>
        </p:nvSpPr>
        <p:spPr>
          <a:xfrm>
            <a:off x="8127797" y="3840480"/>
            <a:ext cx="3515258" cy="2057400"/>
          </a:xfrm>
          <a:prstGeom prst="roundRect">
            <a:avLst>
              <a:gd name="adj" fmla="val 5333"/>
            </a:avLst>
          </a:prstGeom>
          <a:solidFill>
            <a:schemeClr val="bg2"/>
          </a:solidFill>
          <a:ln/>
        </p:spPr>
      </p:sp>
      <p:sp>
        <p:nvSpPr>
          <p:cNvPr id="23" name="a16-text-38"/>
          <p:cNvSpPr txBox="1"/>
          <p:nvPr/>
        </p:nvSpPr>
        <p:spPr>
          <a:xfrm>
            <a:off x="8402117" y="3977640"/>
            <a:ext cx="2966618"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~50%</a:t>
            </a:r>
            <a:endParaRPr lang="en-US" sz="4000" dirty="0"/>
          </a:p>
        </p:txBody>
      </p:sp>
      <p:sp>
        <p:nvSpPr>
          <p:cNvPr id="24" name="a16-text-39"/>
          <p:cNvSpPr txBox="1"/>
          <p:nvPr/>
        </p:nvSpPr>
        <p:spPr>
          <a:xfrm>
            <a:off x="8402117" y="4800600"/>
            <a:ext cx="2966618" cy="1005840"/>
          </a:xfrm>
          <a:prstGeom prst="rect">
            <a:avLst/>
          </a:prstGeom>
          <a:noFill/>
          <a:ln/>
        </p:spPr>
        <p:txBody>
          <a:bodyPr wrap="square" lIns="0" tIns="0" rIns="0" bIns="0" rtlCol="0" anchor="t"/>
          <a:lstStyle/>
          <a:p>
            <a:pPr indent="0" marL="0">
              <a:buNone/>
            </a:pPr>
            <a:r>
              <a:rPr lang="en-US" sz="1500" dirty="0">
                <a:solidFill>
                  <a:schemeClr val="tx1"/>
                </a:solidFill>
              </a:rPr>
              <a:t>already have complications, and β-cell function is ~50% of normal, at diagnosis (UKPDS)</a:t>
            </a:r>
            <a:endParaRPr lang="en-US" sz="1500" dirty="0"/>
          </a:p>
        </p:txBody>
      </p:sp>
      <p:sp>
        <p:nvSpPr>
          <p:cNvPr id="25"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Sources: ADA Standards of Care, Section 3; Tabák et al. Lancet 2012; UKPDS; Davidson's 24e and Kumar &amp; Clark 10e (pathophysiology chapters).</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70"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22" presetClass="entr" presetSubtype="8" fill="hold" grpId="0" nodeType="withEffect">
                                  <p:stCondLst>
                                    <p:cond delay="43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700"/>
                                        <p:tgtEl>
                                          <p:spTgt spid="5"/>
                                        </p:tgtEl>
                                      </p:cBhvr>
                                    </p:animEffect>
                                  </p:childTnLst>
                                </p:cTn>
                              </p:par>
                              <p:par>
                                <p:cTn id="12" presetID="10" presetClass="entr" presetSubtype="0" fill="hold" grpId="0" nodeType="withEffect">
                                  <p:stCondLst>
                                    <p:cond delay="4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22" presetClass="entr" presetSubtype="8" fill="hold" grpId="0" nodeType="withEffect">
                                  <p:stCondLst>
                                    <p:cond delay="71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700"/>
                                        <p:tgtEl>
                                          <p:spTgt spid="7"/>
                                        </p:tgtEl>
                                      </p:cBhvr>
                                    </p:animEffect>
                                  </p:childTnLst>
                                </p:cTn>
                              </p:par>
                              <p:par>
                                <p:cTn id="18" presetID="10" presetClass="entr" presetSubtype="0" fill="hold" grpId="0" nodeType="withEffect">
                                  <p:stCondLst>
                                    <p:cond delay="71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22" presetClass="entr" presetSubtype="8" fill="hold" grpId="0" nodeType="withEffect">
                                  <p:stCondLst>
                                    <p:cond delay="99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700"/>
                                        <p:tgtEl>
                                          <p:spTgt spid="9"/>
                                        </p:tgtEl>
                                      </p:cBhvr>
                                    </p:animEffect>
                                  </p:childTnLst>
                                </p:cTn>
                              </p:par>
                              <p:par>
                                <p:cTn id="24" presetID="10" presetClass="entr" presetSubtype="0" fill="hold" grpId="0" nodeType="withEffect">
                                  <p:stCondLst>
                                    <p:cond delay="9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22" presetClass="entr" presetSubtype="8" fill="hold" grpId="0" nodeType="withEffect">
                                  <p:stCondLst>
                                    <p:cond delay="127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700"/>
                                        <p:tgtEl>
                                          <p:spTgt spid="11"/>
                                        </p:tgtEl>
                                      </p:cBhvr>
                                    </p:animEffect>
                                  </p:childTnLst>
                                </p:cTn>
                              </p:par>
                              <p:par>
                                <p:cTn id="30" presetID="10" presetClass="entr" presetSubtype="0" fill="hold" grpId="0" nodeType="withEffect">
                                  <p:stCondLst>
                                    <p:cond delay="127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22" presetClass="entr" presetSubtype="8" fill="hold" grpId="0" nodeType="withEffect">
                                  <p:stCondLst>
                                    <p:cond delay="1550"/>
                                  </p:stCondLst>
                                  <p:childTnLst>
                                    <p:set>
                                      <p:cBhvr>
                                        <p:cTn id="34" dur="1" fill="hold">
                                          <p:stCondLst>
                                            <p:cond delay="0"/>
                                          </p:stCondLst>
                                        </p:cTn>
                                        <p:tgtEl>
                                          <p:spTgt spid="13"/>
                                        </p:tgtEl>
                                        <p:attrNameLst>
                                          <p:attrName>style.visibility</p:attrName>
                                        </p:attrNameLst>
                                      </p:cBhvr>
                                      <p:to>
                                        <p:strVal val="visible"/>
                                      </p:to>
                                    </p:set>
                                    <p:animEffect transition="in" filter="wipe(right)">
                                      <p:cBhvr>
                                        <p:cTn id="35" dur="700"/>
                                        <p:tgtEl>
                                          <p:spTgt spid="13"/>
                                        </p:tgtEl>
                                      </p:cBhvr>
                                    </p:animEffect>
                                  </p:childTnLst>
                                </p:cTn>
                              </p:par>
                              <p:par>
                                <p:cTn id="36" presetID="10" presetClass="entr" presetSubtype="0" fill="hold" grpId="0" nodeType="withEffect">
                                  <p:stCondLst>
                                    <p:cond delay="15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15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183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183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183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211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211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211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239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239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239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PART 1</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Screening</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Principles, diagnostic thresholds, who to test, and how</a:t>
            </a:r>
            <a:endParaRPr lang="en-US" sz="18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Does type 2 diabetes justify screening?</a:t>
            </a:r>
            <a:endParaRPr lang="en-US" sz="3400" dirty="0"/>
          </a:p>
        </p:txBody>
      </p:sp>
      <p:sp>
        <p:nvSpPr>
          <p:cNvPr id="3" name="a18-card-41"/>
          <p:cNvSpPr/>
          <p:nvPr/>
        </p:nvSpPr>
        <p:spPr>
          <a:xfrm>
            <a:off x="548640" y="1371600"/>
            <a:ext cx="3383280" cy="2194560"/>
          </a:xfrm>
          <a:prstGeom prst="roundRect">
            <a:avLst>
              <a:gd name="adj" fmla="val 5000"/>
            </a:avLst>
          </a:prstGeom>
          <a:solidFill>
            <a:schemeClr val="bg2"/>
          </a:solidFill>
          <a:ln/>
        </p:spPr>
      </p:sp>
      <p:sp>
        <p:nvSpPr>
          <p:cNvPr id="4" name="a18-icon-circle-42"/>
          <p:cNvSpPr/>
          <p:nvPr/>
        </p:nvSpPr>
        <p:spPr>
          <a:xfrm>
            <a:off x="822960" y="1645920"/>
            <a:ext cx="640080" cy="640080"/>
          </a:xfrm>
          <a:prstGeom prst="ellipse">
            <a:avLst/>
          </a:prstGeom>
          <a:solidFill>
            <a:schemeClr val="accent3"/>
          </a:solidFill>
          <a:ln/>
        </p:spPr>
      </p:sp>
      <p:pic>
        <p:nvPicPr>
          <p:cNvPr id="5" name="a18-icon-43"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a18-text-44"/>
          <p:cNvSpPr txBox="1"/>
          <p:nvPr/>
        </p:nvSpPr>
        <p:spPr>
          <a:xfrm>
            <a:off x="822960" y="2423160"/>
            <a:ext cx="2834640" cy="1005840"/>
          </a:xfrm>
          <a:prstGeom prst="rect">
            <a:avLst/>
          </a:prstGeom>
          <a:noFill/>
          <a:ln/>
        </p:spPr>
        <p:txBody>
          <a:bodyPr wrap="square" lIns="0" tIns="0" rIns="0" bIns="0" rtlCol="0" anchor="t"/>
          <a:lstStyle/>
          <a:p>
            <a:pPr indent="0" marL="0">
              <a:buNone/>
            </a:pPr>
            <a:r>
              <a:rPr lang="en-US" sz="1700" b="1" dirty="0">
                <a:solidFill>
                  <a:schemeClr val="tx1"/>
                </a:solidFill>
              </a:rPr>
              <a:t>Important health problem</a:t>
            </a:r>
            <a:endParaRPr lang="en-US" sz="1400" dirty="0"/>
          </a:p>
          <a:p>
            <a:pPr indent="0" marL="0">
              <a:buNone/>
            </a:pPr>
            <a:r>
              <a:rPr lang="en-US" sz="1400" dirty="0">
                <a:solidFill>
                  <a:schemeClr val="tx1"/>
                </a:solidFill>
              </a:rPr>
              <a:t>High prevalence, high morbidity and mortality, rising costs</a:t>
            </a:r>
            <a:endParaRPr lang="en-US" sz="1400" dirty="0"/>
          </a:p>
        </p:txBody>
      </p:sp>
      <p:sp>
        <p:nvSpPr>
          <p:cNvPr id="7" name="a19-card-45"/>
          <p:cNvSpPr/>
          <p:nvPr/>
        </p:nvSpPr>
        <p:spPr>
          <a:xfrm>
            <a:off x="4206240" y="1371600"/>
            <a:ext cx="3383280" cy="2194560"/>
          </a:xfrm>
          <a:prstGeom prst="roundRect">
            <a:avLst>
              <a:gd name="adj" fmla="val 5000"/>
            </a:avLst>
          </a:prstGeom>
          <a:solidFill>
            <a:schemeClr val="bg2"/>
          </a:solidFill>
          <a:ln/>
        </p:spPr>
      </p:sp>
      <p:sp>
        <p:nvSpPr>
          <p:cNvPr id="8" name="a19-icon-circle-46"/>
          <p:cNvSpPr/>
          <p:nvPr/>
        </p:nvSpPr>
        <p:spPr>
          <a:xfrm>
            <a:off x="4480560" y="1645920"/>
            <a:ext cx="640080" cy="640080"/>
          </a:xfrm>
          <a:prstGeom prst="ellipse">
            <a:avLst/>
          </a:prstGeom>
          <a:solidFill>
            <a:schemeClr val="accent3"/>
          </a:solidFill>
          <a:ln/>
        </p:spPr>
      </p:sp>
      <p:pic>
        <p:nvPicPr>
          <p:cNvPr id="9" name="a19-icon-47" descr="preencoded.png">    </p:cNvPr>
          <p:cNvPicPr>
            <a:picLocks noChangeAspect="1"/>
          </p:cNvPicPr>
          <p:nvPr/>
        </p:nvPicPr>
        <p:blipFill>
          <a:blip r:embed="rId2"/>
          <a:stretch>
            <a:fillRect/>
          </a:stretch>
        </p:blipFill>
        <p:spPr>
          <a:xfrm>
            <a:off x="4640580" y="1805940"/>
            <a:ext cx="320040" cy="320040"/>
          </a:xfrm>
          <a:prstGeom prst="rect">
            <a:avLst/>
          </a:prstGeom>
        </p:spPr>
      </p:pic>
      <p:sp>
        <p:nvSpPr>
          <p:cNvPr id="10" name="a19-text-48"/>
          <p:cNvSpPr txBox="1"/>
          <p:nvPr/>
        </p:nvSpPr>
        <p:spPr>
          <a:xfrm>
            <a:off x="4480560" y="2423160"/>
            <a:ext cx="2834640" cy="1005840"/>
          </a:xfrm>
          <a:prstGeom prst="rect">
            <a:avLst/>
          </a:prstGeom>
          <a:noFill/>
          <a:ln/>
        </p:spPr>
        <p:txBody>
          <a:bodyPr wrap="square" lIns="0" tIns="0" rIns="0" bIns="0" rtlCol="0" anchor="t"/>
          <a:lstStyle/>
          <a:p>
            <a:pPr indent="0" marL="0">
              <a:buNone/>
            </a:pPr>
            <a:r>
              <a:rPr lang="en-US" sz="1700" b="1" dirty="0">
                <a:solidFill>
                  <a:schemeClr val="tx1"/>
                </a:solidFill>
              </a:rPr>
              <a:t>Long latent phase</a:t>
            </a:r>
            <a:endParaRPr lang="en-US" sz="1400" dirty="0"/>
          </a:p>
          <a:p>
            <a:pPr indent="0" marL="0">
              <a:buNone/>
            </a:pPr>
            <a:r>
              <a:rPr lang="en-US" sz="1400" dirty="0">
                <a:solidFill>
                  <a:schemeClr val="tx1"/>
                </a:solidFill>
              </a:rPr>
              <a:t>Years of asymptomatic hyperglycaemia and prediabetes</a:t>
            </a:r>
            <a:endParaRPr lang="en-US" sz="1400" dirty="0"/>
          </a:p>
        </p:txBody>
      </p:sp>
      <p:sp>
        <p:nvSpPr>
          <p:cNvPr id="11" name="a20-card-49"/>
          <p:cNvSpPr/>
          <p:nvPr/>
        </p:nvSpPr>
        <p:spPr>
          <a:xfrm>
            <a:off x="548640" y="3840480"/>
            <a:ext cx="3383280" cy="2194560"/>
          </a:xfrm>
          <a:prstGeom prst="roundRect">
            <a:avLst>
              <a:gd name="adj" fmla="val 5000"/>
            </a:avLst>
          </a:prstGeom>
          <a:solidFill>
            <a:schemeClr val="bg2"/>
          </a:solidFill>
          <a:ln/>
        </p:spPr>
      </p:sp>
      <p:sp>
        <p:nvSpPr>
          <p:cNvPr id="12" name="a20-icon-circle-50"/>
          <p:cNvSpPr/>
          <p:nvPr/>
        </p:nvSpPr>
        <p:spPr>
          <a:xfrm>
            <a:off x="822960" y="4114800"/>
            <a:ext cx="640080" cy="640080"/>
          </a:xfrm>
          <a:prstGeom prst="ellipse">
            <a:avLst/>
          </a:prstGeom>
          <a:solidFill>
            <a:schemeClr val="accent3"/>
          </a:solidFill>
          <a:ln/>
        </p:spPr>
      </p:sp>
      <p:pic>
        <p:nvPicPr>
          <p:cNvPr id="13" name="a20-icon-51" descr="preencoded.png">    </p:cNvPr>
          <p:cNvPicPr>
            <a:picLocks noChangeAspect="1"/>
          </p:cNvPicPr>
          <p:nvPr/>
        </p:nvPicPr>
        <p:blipFill>
          <a:blip r:embed="rId3"/>
          <a:stretch>
            <a:fillRect/>
          </a:stretch>
        </p:blipFill>
        <p:spPr>
          <a:xfrm>
            <a:off x="982980" y="4274820"/>
            <a:ext cx="320040" cy="320040"/>
          </a:xfrm>
          <a:prstGeom prst="rect">
            <a:avLst/>
          </a:prstGeom>
        </p:spPr>
      </p:pic>
      <p:sp>
        <p:nvSpPr>
          <p:cNvPr id="14" name="a20-text-52"/>
          <p:cNvSpPr txBox="1"/>
          <p:nvPr/>
        </p:nvSpPr>
        <p:spPr>
          <a:xfrm>
            <a:off x="822960" y="4892040"/>
            <a:ext cx="2834640" cy="1005840"/>
          </a:xfrm>
          <a:prstGeom prst="rect">
            <a:avLst/>
          </a:prstGeom>
          <a:noFill/>
          <a:ln/>
        </p:spPr>
        <p:txBody>
          <a:bodyPr wrap="square" lIns="0" tIns="0" rIns="0" bIns="0" rtlCol="0" anchor="t"/>
          <a:lstStyle/>
          <a:p>
            <a:pPr indent="0" marL="0">
              <a:buNone/>
            </a:pPr>
            <a:r>
              <a:rPr lang="en-US" sz="1700" b="1" dirty="0">
                <a:solidFill>
                  <a:schemeClr val="tx1"/>
                </a:solidFill>
              </a:rPr>
              <a:t>Simple, acceptable tests</a:t>
            </a:r>
            <a:endParaRPr lang="en-US" sz="1400" dirty="0"/>
          </a:p>
          <a:p>
            <a:pPr indent="0" marL="0">
              <a:buNone/>
            </a:pPr>
            <a:r>
              <a:rPr lang="en-US" sz="1400" dirty="0">
                <a:solidFill>
                  <a:schemeClr val="tx1"/>
                </a:solidFill>
              </a:rPr>
              <a:t>FPG and HbA1c are cheap, reliable and widely available</a:t>
            </a:r>
            <a:endParaRPr lang="en-US" sz="1400" dirty="0"/>
          </a:p>
        </p:txBody>
      </p:sp>
      <p:sp>
        <p:nvSpPr>
          <p:cNvPr id="15" name="a21-card-53"/>
          <p:cNvSpPr/>
          <p:nvPr/>
        </p:nvSpPr>
        <p:spPr>
          <a:xfrm>
            <a:off x="4206240" y="3840480"/>
            <a:ext cx="3383280" cy="2194560"/>
          </a:xfrm>
          <a:prstGeom prst="roundRect">
            <a:avLst>
              <a:gd name="adj" fmla="val 5000"/>
            </a:avLst>
          </a:prstGeom>
          <a:solidFill>
            <a:schemeClr val="bg2"/>
          </a:solidFill>
          <a:ln/>
        </p:spPr>
      </p:sp>
      <p:sp>
        <p:nvSpPr>
          <p:cNvPr id="16" name="a21-icon-circle-54"/>
          <p:cNvSpPr/>
          <p:nvPr/>
        </p:nvSpPr>
        <p:spPr>
          <a:xfrm>
            <a:off x="4480560" y="4114800"/>
            <a:ext cx="640080" cy="640080"/>
          </a:xfrm>
          <a:prstGeom prst="ellipse">
            <a:avLst/>
          </a:prstGeom>
          <a:solidFill>
            <a:schemeClr val="accent3"/>
          </a:solidFill>
          <a:ln/>
        </p:spPr>
      </p:sp>
      <p:pic>
        <p:nvPicPr>
          <p:cNvPr id="17" name="a21-icon-55" descr="preencoded.png">    </p:cNvPr>
          <p:cNvPicPr>
            <a:picLocks noChangeAspect="1"/>
          </p:cNvPicPr>
          <p:nvPr/>
        </p:nvPicPr>
        <p:blipFill>
          <a:blip r:embed="rId4"/>
          <a:stretch>
            <a:fillRect/>
          </a:stretch>
        </p:blipFill>
        <p:spPr>
          <a:xfrm>
            <a:off x="4640580" y="4274820"/>
            <a:ext cx="320040" cy="320040"/>
          </a:xfrm>
          <a:prstGeom prst="rect">
            <a:avLst/>
          </a:prstGeom>
        </p:spPr>
      </p:pic>
      <p:sp>
        <p:nvSpPr>
          <p:cNvPr id="18" name="a21-text-56"/>
          <p:cNvSpPr txBox="1"/>
          <p:nvPr/>
        </p:nvSpPr>
        <p:spPr>
          <a:xfrm>
            <a:off x="4480560" y="4892040"/>
            <a:ext cx="2834640" cy="1005840"/>
          </a:xfrm>
          <a:prstGeom prst="rect">
            <a:avLst/>
          </a:prstGeom>
          <a:noFill/>
          <a:ln/>
        </p:spPr>
        <p:txBody>
          <a:bodyPr wrap="square" lIns="0" tIns="0" rIns="0" bIns="0" rtlCol="0" anchor="t"/>
          <a:lstStyle/>
          <a:p>
            <a:pPr indent="0" marL="0">
              <a:buNone/>
            </a:pPr>
            <a:r>
              <a:rPr lang="en-US" sz="1700" b="1" dirty="0">
                <a:solidFill>
                  <a:schemeClr val="tx1"/>
                </a:solidFill>
              </a:rPr>
              <a:t>Effective early action</a:t>
            </a:r>
            <a:endParaRPr lang="en-US" sz="1400" dirty="0"/>
          </a:p>
          <a:p>
            <a:pPr indent="0" marL="0">
              <a:buNone/>
            </a:pPr>
            <a:r>
              <a:rPr lang="en-US" sz="1400" dirty="0">
                <a:solidFill>
                  <a:schemeClr val="tx1"/>
                </a:solidFill>
              </a:rPr>
              <a:t>Lifestyle and drugs delay diabetes; early control reduces complications</a:t>
            </a:r>
            <a:endParaRPr lang="en-US" sz="1400" dirty="0"/>
          </a:p>
        </p:txBody>
      </p:sp>
      <p:sp>
        <p:nvSpPr>
          <p:cNvPr id="19" name="a22-card-57"/>
          <p:cNvSpPr/>
          <p:nvPr/>
        </p:nvSpPr>
        <p:spPr>
          <a:xfrm>
            <a:off x="7863840" y="1371600"/>
            <a:ext cx="3779215" cy="4663440"/>
          </a:xfrm>
          <a:prstGeom prst="roundRect">
            <a:avLst>
              <a:gd name="adj" fmla="val 2903"/>
            </a:avLst>
          </a:prstGeom>
          <a:solidFill>
            <a:schemeClr val="tx1"/>
          </a:solidFill>
          <a:ln/>
        </p:spPr>
      </p:sp>
      <p:sp>
        <p:nvSpPr>
          <p:cNvPr id="20" name="a22-icon-circle-58"/>
          <p:cNvSpPr/>
          <p:nvPr/>
        </p:nvSpPr>
        <p:spPr>
          <a:xfrm>
            <a:off x="8138160" y="1645920"/>
            <a:ext cx="640080" cy="640080"/>
          </a:xfrm>
          <a:prstGeom prst="ellipse">
            <a:avLst/>
          </a:prstGeom>
          <a:solidFill>
            <a:schemeClr val="accent2"/>
          </a:solidFill>
          <a:ln/>
        </p:spPr>
      </p:sp>
      <p:pic>
        <p:nvPicPr>
          <p:cNvPr id="21" name="a22-icon-59" descr="preencoded.png">    </p:cNvPr>
          <p:cNvPicPr>
            <a:picLocks noChangeAspect="1"/>
          </p:cNvPicPr>
          <p:nvPr/>
        </p:nvPicPr>
        <p:blipFill>
          <a:blip r:embed="rId5"/>
          <a:stretch>
            <a:fillRect/>
          </a:stretch>
        </p:blipFill>
        <p:spPr>
          <a:xfrm>
            <a:off x="8298180" y="1805940"/>
            <a:ext cx="320040" cy="320040"/>
          </a:xfrm>
          <a:prstGeom prst="rect">
            <a:avLst/>
          </a:prstGeom>
        </p:spPr>
      </p:pic>
      <p:sp>
        <p:nvSpPr>
          <p:cNvPr id="22" name="a22-text-60"/>
          <p:cNvSpPr txBox="1"/>
          <p:nvPr/>
        </p:nvSpPr>
        <p:spPr>
          <a:xfrm>
            <a:off x="8138160" y="2514600"/>
            <a:ext cx="3246120" cy="3383280"/>
          </a:xfrm>
          <a:prstGeom prst="rect">
            <a:avLst/>
          </a:prstGeom>
          <a:noFill/>
          <a:ln/>
        </p:spPr>
        <p:txBody>
          <a:bodyPr wrap="square" lIns="0" tIns="0" rIns="0" bIns="0" rtlCol="0" anchor="t"/>
          <a:lstStyle/>
          <a:p>
            <a:pPr indent="0" marL="0">
              <a:spcAft>
                <a:spcPts val="800"/>
              </a:spcAft>
              <a:buNone/>
            </a:pPr>
            <a:r>
              <a:rPr lang="en-US" sz="2000" b="1" dirty="0">
                <a:solidFill>
                  <a:schemeClr val="bg1"/>
                </a:solidFill>
              </a:rPr>
              <a:t>The caveat</a:t>
            </a:r>
            <a:endParaRPr lang="en-US" sz="1400" dirty="0"/>
          </a:p>
          <a:p>
            <a:pPr indent="0" marL="0">
              <a:spcAft>
                <a:spcPts val="1000"/>
              </a:spcAft>
              <a:buNone/>
            </a:pPr>
            <a:r>
              <a:rPr lang="en-US" sz="1500" dirty="0">
                <a:solidFill>
                  <a:schemeClr val="bg1"/>
                </a:solidFill>
              </a:rPr>
              <a:t>ADDITION-Cambridge: population screening of 20,000 adults did not reduce all-cause or CV mortality over ~10 years.</a:t>
            </a:r>
            <a:endParaRPr lang="en-US" sz="1400" dirty="0"/>
          </a:p>
          <a:p>
            <a:pPr indent="0" marL="0">
              <a:buNone/>
            </a:pPr>
            <a:r>
              <a:rPr lang="en-US" sz="1500" dirty="0">
                <a:solidFill>
                  <a:schemeClr val="bg2"/>
                </a:solidFill>
              </a:rPr>
              <a:t>Therefore every guideline recommends targeted (risk-based) screening, not mass population screening, and linking screening to effective follow-up care.</a:t>
            </a:r>
            <a:endParaRPr lang="en-US" sz="1400" dirty="0"/>
          </a:p>
        </p:txBody>
      </p:sp>
      <p:sp>
        <p:nvSpPr>
          <p:cNvPr id="23"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Wilson &amp; Jungner criteria (WHO, 1968); Simmons et al. Lancet 2012 (ADDITION-Cambridge); WHO 2003 consultation on screening for T2D.</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cond evt="onBegin" delay="0">
                          <p:tn val="2"/>
                        </p:cond>
                      </p:stCondLst>
                      <p:childTnLst>
                        <p:par>
                          <p:cTn id="64"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4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7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7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99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99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99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127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127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127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127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8"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Diagnostic thresholds across guidelines</a:t>
            </a:r>
            <a:endParaRPr lang="en-US" sz="3400" dirty="0"/>
          </a:p>
        </p:txBody>
      </p:sp>
      <p:graphicFrame>
        <p:nvGraphicFramePr>
          <p:cNvPr id="7" name="a24-table-62"/>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48840"/>
                <a:gridCol w="2423160"/>
                <a:gridCol w="2103120"/>
                <a:gridCol w="2286000"/>
                <a:gridCol w="2133295"/>
              </a:tblGrid>
              <a:tr h="594360">
                <a:tc>
                  <a:txBody>
                    <a:bodyPr/>
                    <a:lstStyle/>
                    <a:p>
                      <a:pPr indent="0" marL="0">
                        <a:buNone/>
                      </a:pPr>
                      <a:r>
                        <a:rPr lang="en-US" sz="1300" b="1" dirty="0">
                          <a:solidFill>
                            <a:schemeClr val="bg1"/>
                          </a:solidFill>
                        </a:rPr>
                        <a:t>Test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Diabetes (ADA, WHO, IDF, EASD)</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Prediabetes: ADA</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Intermediate hyperglycaemia: WHO / IDF</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High risk: UK / NICE (Davidson, K&amp;C)</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tx1"/>
                          </a:solidFill>
                        </a:rPr>
                        <a:t>Fasting plasma glucose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≥7.0 mmol/L (126 mg/dL)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IFG 5.6–6.9 mmol/L (100–125)</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IFG 6.1–6.9 mmol/L (110–125)</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5.5–6.9 mmol/L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66928">
                <a:tc>
                  <a:txBody>
                    <a:bodyPr/>
                    <a:lstStyle/>
                    <a:p>
                      <a:pPr indent="0" marL="0">
                        <a:buNone/>
                      </a:pPr>
                      <a:r>
                        <a:rPr lang="en-US" sz="1300" b="1" dirty="0">
                          <a:solidFill>
                            <a:schemeClr val="tx1"/>
                          </a:solidFill>
                        </a:rPr>
                        <a:t>2-h PG, 75 g OGTT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≥11.1 mmol/L (200 mg/dL)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IGT 7.8–11.0 (140–199)</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IGT 7.8–11.0 (140–199)</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IGT 7.8–11.0</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66928">
                <a:tc>
                  <a:txBody>
                    <a:bodyPr/>
                    <a:lstStyle/>
                    <a:p>
                      <a:pPr indent="0" marL="0">
                        <a:buNone/>
                      </a:pPr>
                      <a:r>
                        <a:rPr lang="en-US" sz="1300" b="1" dirty="0">
                          <a:solidFill>
                            <a:schemeClr val="tx1"/>
                          </a:solidFill>
                        </a:rPr>
                        <a:t>HbA1c</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≥6.5% (48 mmol/mol)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5.7–6.4% (39–47)</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Not defined by WHO; ≥6.5% diagnostic (2011)</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6.0–6.4% (42–47)</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66928">
                <a:tc>
                  <a:txBody>
                    <a:bodyPr/>
                    <a:lstStyle/>
                    <a:p>
                      <a:pPr indent="0" marL="0">
                        <a:buNone/>
                      </a:pPr>
                      <a:r>
                        <a:rPr lang="en-US" sz="1300" b="1" dirty="0">
                          <a:solidFill>
                            <a:schemeClr val="tx1"/>
                          </a:solidFill>
                        </a:rPr>
                        <a:t>Random PG</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≥11.1 mmol/L + classic symptoms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66928">
                <a:tc>
                  <a:txBody>
                    <a:bodyPr/>
                    <a:lstStyle/>
                    <a:p>
                      <a:pPr indent="0" marL="0">
                        <a:buNone/>
                      </a:pPr>
                      <a:r>
                        <a:rPr lang="en-US" sz="1300" b="1" dirty="0">
                          <a:solidFill>
                            <a:schemeClr val="tx1"/>
                          </a:solidFill>
                        </a:rPr>
                        <a:t>1-h PG, 75 g OGTT (IDF 2024)</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≥11.6 mmol/L (209 mg/dL)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≥8.6 mmol/L (155 mg/dL)</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a25-card-63"/>
          <p:cNvSpPr/>
          <p:nvPr/>
        </p:nvSpPr>
        <p:spPr>
          <a:xfrm>
            <a:off x="548640" y="4983480"/>
            <a:ext cx="11094415" cy="960120"/>
          </a:xfrm>
          <a:prstGeom prst="roundRect">
            <a:avLst>
              <a:gd name="adj" fmla="val 11429"/>
            </a:avLst>
          </a:prstGeom>
          <a:solidFill>
            <a:schemeClr val="bg2"/>
          </a:solidFill>
          <a:ln/>
        </p:spPr>
      </p:sp>
      <p:sp>
        <p:nvSpPr>
          <p:cNvPr id="5" name="a25-text-64"/>
          <p:cNvSpPr txBox="1"/>
          <p:nvPr/>
        </p:nvSpPr>
        <p:spPr>
          <a:xfrm>
            <a:off x="822960" y="5029200"/>
            <a:ext cx="10545775" cy="868680"/>
          </a:xfrm>
          <a:prstGeom prst="rect">
            <a:avLst/>
          </a:prstGeom>
          <a:noFill/>
          <a:ln/>
        </p:spPr>
        <p:txBody>
          <a:bodyPr wrap="square" lIns="0" tIns="0" rIns="0" bIns="0" rtlCol="0" anchor="ctr"/>
          <a:lstStyle/>
          <a:p>
            <a:pPr indent="0" marL="0">
              <a:buNone/>
            </a:pPr>
            <a:r>
              <a:rPr lang="en-US" sz="1500" b="1" dirty="0">
                <a:solidFill>
                  <a:schemeClr val="tx1"/>
                </a:solidFill>
              </a:rPr>
              <a:t>Confirm in asymptomatic people: </a:t>
            </a:r>
            <a:pPr indent="0" marL="0">
              <a:buNone/>
            </a:pPr>
            <a:r>
              <a:rPr lang="en-US" sz="1500" dirty="0">
                <a:solidFill>
                  <a:schemeClr val="tx1"/>
                </a:solidFill>
              </a:rPr>
              <a:t>two abnormal results from the same sample (e.g. FPG + HbA1c) or the same test on two occasions. HbA1c &lt;6.5% does not exclude diabetes diagnosed by glucose (WHO).</a:t>
            </a:r>
            <a:endParaRPr lang="en-US" sz="1500" dirty="0"/>
          </a:p>
        </p:txBody>
      </p:sp>
      <p:sp>
        <p:nvSpPr>
          <p:cNvPr id="6"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of Care, Section 2; WHO/IDF 2006 and WHO 2011 HbA1c report; IDF 1-hour PG position statement 2024; NICE PH38.</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grpId="0" nodeType="withEffect">
                                  <p:stCondLst>
                                    <p:cond delay="4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4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ADA: who should be tested?</a:t>
            </a:r>
            <a:endParaRPr lang="en-US" sz="3400" dirty="0"/>
          </a:p>
        </p:txBody>
      </p:sp>
      <p:sp>
        <p:nvSpPr>
          <p:cNvPr id="3" name="a27-card-66"/>
          <p:cNvSpPr/>
          <p:nvPr/>
        </p:nvSpPr>
        <p:spPr>
          <a:xfrm>
            <a:off x="548640" y="1371600"/>
            <a:ext cx="3108960" cy="4572000"/>
          </a:xfrm>
          <a:prstGeom prst="roundRect">
            <a:avLst>
              <a:gd name="adj" fmla="val 3529"/>
            </a:avLst>
          </a:prstGeom>
          <a:solidFill>
            <a:schemeClr val="tx1"/>
          </a:solidFill>
          <a:ln/>
        </p:spPr>
      </p:sp>
      <p:sp>
        <p:nvSpPr>
          <p:cNvPr id="4" name="a27-text-67"/>
          <p:cNvSpPr txBox="1"/>
          <p:nvPr/>
        </p:nvSpPr>
        <p:spPr>
          <a:xfrm>
            <a:off x="822960" y="1600200"/>
            <a:ext cx="2560320" cy="1280160"/>
          </a:xfrm>
          <a:prstGeom prst="rect">
            <a:avLst/>
          </a:prstGeom>
          <a:noFill/>
          <a:ln/>
        </p:spPr>
        <p:txBody>
          <a:bodyPr wrap="square" lIns="0" tIns="0" rIns="0" bIns="0" rtlCol="0" anchor="ctr"/>
          <a:lstStyle/>
          <a:p>
            <a:pPr indent="0" marL="0">
              <a:buNone/>
            </a:pPr>
            <a:r>
              <a:rPr lang="en-US" sz="8000" b="1" dirty="0">
                <a:solidFill>
                  <a:schemeClr val="bg1"/>
                </a:solidFill>
                <a:latin typeface="Cambria" pitchFamily="34" charset="0"/>
                <a:ea typeface="Cambria" pitchFamily="34" charset="-122"/>
                <a:cs typeface="Cambria" pitchFamily="34" charset="-120"/>
              </a:rPr>
              <a:t>≥35</a:t>
            </a:r>
            <a:endParaRPr lang="en-US" sz="8000" dirty="0"/>
          </a:p>
        </p:txBody>
      </p:sp>
      <p:sp>
        <p:nvSpPr>
          <p:cNvPr id="5" name="a27-text-68"/>
          <p:cNvSpPr txBox="1"/>
          <p:nvPr/>
        </p:nvSpPr>
        <p:spPr>
          <a:xfrm>
            <a:off x="822960" y="3017520"/>
            <a:ext cx="2560320" cy="2743200"/>
          </a:xfrm>
          <a:prstGeom prst="rect">
            <a:avLst/>
          </a:prstGeom>
          <a:noFill/>
          <a:ln/>
        </p:spPr>
        <p:txBody>
          <a:bodyPr wrap="square" lIns="0" tIns="0" rIns="0" bIns="0" rtlCol="0" anchor="t"/>
          <a:lstStyle/>
          <a:p>
            <a:pPr indent="0" marL="0">
              <a:spcAft>
                <a:spcPts val="1000"/>
              </a:spcAft>
              <a:buNone/>
            </a:pPr>
            <a:r>
              <a:rPr lang="en-US" sz="1800" b="1" dirty="0">
                <a:solidFill>
                  <a:schemeClr val="bg1"/>
                </a:solidFill>
              </a:rPr>
              <a:t>Test ALL adults from age 35</a:t>
            </a:r>
            <a:endParaRPr lang="en-US" sz="1400" dirty="0"/>
          </a:p>
          <a:p>
            <a:pPr indent="0" marL="0">
              <a:buNone/>
            </a:pPr>
            <a:r>
              <a:rPr lang="en-US" sz="1500" dirty="0">
                <a:solidFill>
                  <a:schemeClr val="bg2"/>
                </a:solidFill>
              </a:rPr>
              <a:t>If results are normal, repeat at least every 3 years; sooner if risk changes.</a:t>
            </a:r>
            <a:endParaRPr lang="en-US" sz="1400" dirty="0"/>
          </a:p>
        </p:txBody>
      </p:sp>
      <p:sp>
        <p:nvSpPr>
          <p:cNvPr id="6" name="a28-text-69"/>
          <p:cNvSpPr txBox="1"/>
          <p:nvPr/>
        </p:nvSpPr>
        <p:spPr>
          <a:xfrm>
            <a:off x="3931920" y="1371600"/>
            <a:ext cx="7711135" cy="411480"/>
          </a:xfrm>
          <a:prstGeom prst="rect">
            <a:avLst/>
          </a:prstGeom>
          <a:noFill/>
          <a:ln/>
        </p:spPr>
        <p:txBody>
          <a:bodyPr wrap="square" lIns="0" tIns="0" rIns="0" bIns="0" rtlCol="0" anchor="t"/>
          <a:lstStyle/>
          <a:p>
            <a:pPr indent="0" marL="0">
              <a:buNone/>
            </a:pPr>
            <a:r>
              <a:rPr lang="en-US" sz="1800" b="1" dirty="0">
                <a:solidFill>
                  <a:schemeClr val="tx2"/>
                </a:solidFill>
              </a:rPr>
              <a:t>Any age: BMI ≥25 kg/m² (≥23 Asian) + ≥1 risk factor</a:t>
            </a:r>
            <a:endParaRPr lang="en-US" sz="1800" dirty="0"/>
          </a:p>
        </p:txBody>
      </p:sp>
      <p:sp>
        <p:nvSpPr>
          <p:cNvPr id="7" name="a28-text-70"/>
          <p:cNvSpPr txBox="1"/>
          <p:nvPr/>
        </p:nvSpPr>
        <p:spPr>
          <a:xfrm>
            <a:off x="3931920" y="1874520"/>
            <a:ext cx="3718408" cy="21031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First-degree relative with diabetes</a:t>
            </a:r>
            <a:endParaRPr lang="en-US" sz="1400" dirty="0"/>
          </a:p>
          <a:p>
            <a:pPr marL="177800" indent="-177800">
              <a:spcAft>
                <a:spcPts val="600"/>
              </a:spcAft>
              <a:buSzPct val="100000"/>
              <a:buChar char="•"/>
            </a:pPr>
            <a:r>
              <a:rPr lang="en-US" sz="1500" dirty="0">
                <a:solidFill>
                  <a:schemeClr val="tx1"/>
                </a:solidFill>
              </a:rPr>
              <a:t>High-risk race / ethnicity</a:t>
            </a:r>
            <a:endParaRPr lang="en-US" sz="1400" dirty="0"/>
          </a:p>
          <a:p>
            <a:pPr marL="177800" indent="-177800">
              <a:spcAft>
                <a:spcPts val="600"/>
              </a:spcAft>
              <a:buSzPct val="100000"/>
              <a:buChar char="•"/>
            </a:pPr>
            <a:r>
              <a:rPr lang="en-US" sz="1500" dirty="0">
                <a:solidFill>
                  <a:schemeClr val="tx1"/>
                </a:solidFill>
              </a:rPr>
              <a:t>History of cardiovascular disease</a:t>
            </a:r>
            <a:endParaRPr lang="en-US" sz="1400" dirty="0"/>
          </a:p>
          <a:p>
            <a:pPr marL="177800" indent="-177800">
              <a:spcAft>
                <a:spcPts val="600"/>
              </a:spcAft>
              <a:buSzPct val="100000"/>
              <a:buChar char="•"/>
            </a:pPr>
            <a:r>
              <a:rPr lang="en-US" sz="1500" dirty="0">
                <a:solidFill>
                  <a:schemeClr val="tx1"/>
                </a:solidFill>
              </a:rPr>
              <a:t>Hypertension ≥130/80 mmHg or on therapy</a:t>
            </a:r>
            <a:endParaRPr lang="en-US" sz="1400" dirty="0"/>
          </a:p>
          <a:p>
            <a:pPr marL="177800" indent="-177800">
              <a:spcAft>
                <a:spcPts val="600"/>
              </a:spcAft>
              <a:buSzPct val="100000"/>
              <a:buChar char="•"/>
            </a:pPr>
            <a:r>
              <a:rPr lang="en-US" sz="1500" dirty="0">
                <a:solidFill>
                  <a:schemeClr val="tx1"/>
                </a:solidFill>
              </a:rPr>
              <a:t>HDL &lt;0.9 mmol/L and/or TG &gt;2.8 mmol/L</a:t>
            </a:r>
            <a:endParaRPr lang="en-US" sz="1400" dirty="0"/>
          </a:p>
        </p:txBody>
      </p:sp>
      <p:sp>
        <p:nvSpPr>
          <p:cNvPr id="8" name="a28-text-71"/>
          <p:cNvSpPr txBox="1"/>
          <p:nvPr/>
        </p:nvSpPr>
        <p:spPr>
          <a:xfrm>
            <a:off x="7924648" y="1874520"/>
            <a:ext cx="3718408" cy="21031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Polycystic ovary syndrome</a:t>
            </a:r>
            <a:endParaRPr lang="en-US" sz="1400" dirty="0"/>
          </a:p>
          <a:p>
            <a:pPr marL="177800" indent="-177800">
              <a:spcAft>
                <a:spcPts val="600"/>
              </a:spcAft>
              <a:buSzPct val="100000"/>
              <a:buChar char="•"/>
            </a:pPr>
            <a:r>
              <a:rPr lang="en-US" sz="1500" dirty="0">
                <a:solidFill>
                  <a:schemeClr val="tx1"/>
                </a:solidFill>
              </a:rPr>
              <a:t>Physical inactivity</a:t>
            </a:r>
            <a:endParaRPr lang="en-US" sz="1400" dirty="0"/>
          </a:p>
          <a:p>
            <a:pPr marL="177800" indent="-177800">
              <a:spcAft>
                <a:spcPts val="600"/>
              </a:spcAft>
              <a:buSzPct val="100000"/>
              <a:buChar char="•"/>
            </a:pPr>
            <a:r>
              <a:rPr lang="en-US" sz="1500" dirty="0">
                <a:solidFill>
                  <a:schemeClr val="tx1"/>
                </a:solidFill>
              </a:rPr>
              <a:t>Insulin resistance: severe obesity, acanthosis nigricans</a:t>
            </a:r>
            <a:endParaRPr lang="en-US" sz="1400" dirty="0"/>
          </a:p>
          <a:p>
            <a:pPr marL="177800" indent="-177800">
              <a:spcAft>
                <a:spcPts val="600"/>
              </a:spcAft>
              <a:buSzPct val="100000"/>
              <a:buChar char="•"/>
            </a:pPr>
            <a:r>
              <a:rPr lang="en-US" sz="1500" dirty="0">
                <a:solidFill>
                  <a:schemeClr val="tx1"/>
                </a:solidFill>
              </a:rPr>
              <a:t>MASLD (fatty liver disease)</a:t>
            </a:r>
            <a:endParaRPr lang="en-US" sz="1400" dirty="0"/>
          </a:p>
        </p:txBody>
      </p:sp>
      <p:sp>
        <p:nvSpPr>
          <p:cNvPr id="9" name="a29-card-72"/>
          <p:cNvSpPr/>
          <p:nvPr/>
        </p:nvSpPr>
        <p:spPr>
          <a:xfrm>
            <a:off x="3931920" y="4206240"/>
            <a:ext cx="1756334" cy="1737360"/>
          </a:xfrm>
          <a:prstGeom prst="roundRect">
            <a:avLst>
              <a:gd name="adj" fmla="val 6316"/>
            </a:avLst>
          </a:prstGeom>
          <a:solidFill>
            <a:schemeClr val="bg2"/>
          </a:solidFill>
          <a:ln/>
        </p:spPr>
      </p:sp>
      <p:sp>
        <p:nvSpPr>
          <p:cNvPr id="10" name="a29-text-73"/>
          <p:cNvSpPr txBox="1"/>
          <p:nvPr/>
        </p:nvSpPr>
        <p:spPr>
          <a:xfrm>
            <a:off x="4096512" y="4343400"/>
            <a:ext cx="1427150" cy="150876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Prediabetes</a:t>
            </a:r>
            <a:endParaRPr lang="en-US" sz="1400" dirty="0"/>
          </a:p>
          <a:p>
            <a:pPr indent="0" marL="0">
              <a:buNone/>
            </a:pPr>
            <a:r>
              <a:rPr lang="en-US" sz="1400" dirty="0">
                <a:solidFill>
                  <a:schemeClr val="tx1"/>
                </a:solidFill>
              </a:rPr>
              <a:t>Test every year</a:t>
            </a:r>
            <a:endParaRPr lang="en-US" sz="1400" dirty="0"/>
          </a:p>
        </p:txBody>
      </p:sp>
      <p:sp>
        <p:nvSpPr>
          <p:cNvPr id="11" name="a30-card-74"/>
          <p:cNvSpPr/>
          <p:nvPr/>
        </p:nvSpPr>
        <p:spPr>
          <a:xfrm>
            <a:off x="5916854" y="4206240"/>
            <a:ext cx="1756334" cy="1737360"/>
          </a:xfrm>
          <a:prstGeom prst="roundRect">
            <a:avLst>
              <a:gd name="adj" fmla="val 6316"/>
            </a:avLst>
          </a:prstGeom>
          <a:solidFill>
            <a:schemeClr val="bg2"/>
          </a:solidFill>
          <a:ln/>
        </p:spPr>
      </p:sp>
      <p:sp>
        <p:nvSpPr>
          <p:cNvPr id="12" name="a30-text-75"/>
          <p:cNvSpPr txBox="1"/>
          <p:nvPr/>
        </p:nvSpPr>
        <p:spPr>
          <a:xfrm>
            <a:off x="6081446" y="4343400"/>
            <a:ext cx="1427150" cy="150876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Prior GDM</a:t>
            </a:r>
            <a:endParaRPr lang="en-US" sz="1400" dirty="0"/>
          </a:p>
          <a:p>
            <a:pPr indent="0" marL="0">
              <a:buNone/>
            </a:pPr>
            <a:r>
              <a:rPr lang="en-US" sz="1400" dirty="0">
                <a:solidFill>
                  <a:schemeClr val="tx1"/>
                </a:solidFill>
              </a:rPr>
              <a:t>At least every 3 years, lifelong</a:t>
            </a:r>
            <a:endParaRPr lang="en-US" sz="1400" dirty="0"/>
          </a:p>
        </p:txBody>
      </p:sp>
      <p:sp>
        <p:nvSpPr>
          <p:cNvPr id="13" name="a31-card-76"/>
          <p:cNvSpPr/>
          <p:nvPr/>
        </p:nvSpPr>
        <p:spPr>
          <a:xfrm>
            <a:off x="7901788" y="4206240"/>
            <a:ext cx="1756334" cy="1737360"/>
          </a:xfrm>
          <a:prstGeom prst="roundRect">
            <a:avLst>
              <a:gd name="adj" fmla="val 6316"/>
            </a:avLst>
          </a:prstGeom>
          <a:solidFill>
            <a:schemeClr val="bg2"/>
          </a:solidFill>
          <a:ln/>
        </p:spPr>
      </p:sp>
      <p:sp>
        <p:nvSpPr>
          <p:cNvPr id="14" name="a31-text-77"/>
          <p:cNvSpPr txBox="1"/>
          <p:nvPr/>
        </p:nvSpPr>
        <p:spPr>
          <a:xfrm>
            <a:off x="8066380" y="4343400"/>
            <a:ext cx="1427150" cy="150876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Other groups</a:t>
            </a:r>
            <a:endParaRPr lang="en-US" sz="1400" dirty="0"/>
          </a:p>
          <a:p>
            <a:pPr indent="0" marL="0">
              <a:buNone/>
            </a:pPr>
            <a:r>
              <a:rPr lang="en-US" sz="1400" dirty="0">
                <a:solidFill>
                  <a:schemeClr val="tx1"/>
                </a:solidFill>
              </a:rPr>
              <a:t>HIV, pancreatitis, steroids, antipsychotics</a:t>
            </a:r>
            <a:endParaRPr lang="en-US" sz="1400" dirty="0"/>
          </a:p>
        </p:txBody>
      </p:sp>
      <p:sp>
        <p:nvSpPr>
          <p:cNvPr id="15" name="a32-card-78"/>
          <p:cNvSpPr/>
          <p:nvPr/>
        </p:nvSpPr>
        <p:spPr>
          <a:xfrm>
            <a:off x="9886721" y="4206240"/>
            <a:ext cx="1756334" cy="1737360"/>
          </a:xfrm>
          <a:prstGeom prst="roundRect">
            <a:avLst>
              <a:gd name="adj" fmla="val 6316"/>
            </a:avLst>
          </a:prstGeom>
          <a:solidFill>
            <a:schemeClr val="bg2"/>
          </a:solidFill>
          <a:ln/>
        </p:spPr>
      </p:sp>
      <p:sp>
        <p:nvSpPr>
          <p:cNvPr id="16" name="a32-text-79"/>
          <p:cNvSpPr txBox="1"/>
          <p:nvPr/>
        </p:nvSpPr>
        <p:spPr>
          <a:xfrm>
            <a:off x="10051313" y="4343400"/>
            <a:ext cx="1427150" cy="150876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Children ≥10 y / puberty</a:t>
            </a:r>
            <a:endParaRPr lang="en-US" sz="1400" dirty="0"/>
          </a:p>
          <a:p>
            <a:pPr indent="0" marL="0">
              <a:buNone/>
            </a:pPr>
            <a:r>
              <a:rPr lang="en-US" sz="1400" dirty="0">
                <a:solidFill>
                  <a:schemeClr val="tx1"/>
                </a:solidFill>
              </a:rPr>
              <a:t>Overweight + ≥1 risk factor</a:t>
            </a:r>
            <a:endParaRPr lang="en-US" sz="1400" dirty="0"/>
          </a:p>
        </p:txBody>
      </p:sp>
      <p:sp>
        <p:nvSpPr>
          <p:cNvPr id="17"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of Care in Diabetes (2025–2026), Section 2, screening criteria for asymptomatic adults. Use the latest annual update.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cond evt="onBegin" delay="0">
                          <p:tn val="2"/>
                        </p:cond>
                      </p:stCondLst>
                      <p:childTnLst>
                        <p:par>
                          <p:cTn id="46"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4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4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71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71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99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99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127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127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15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15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2" grpId="0" animBg="1"/>
      <p:bldP spid="14"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WHO, IDF, EASD and UK approaches</a:t>
            </a:r>
            <a:endParaRPr lang="en-US" sz="3400" dirty="0"/>
          </a:p>
        </p:txBody>
      </p:sp>
      <p:sp>
        <p:nvSpPr>
          <p:cNvPr id="3" name="a34-card-81"/>
          <p:cNvSpPr/>
          <p:nvPr/>
        </p:nvSpPr>
        <p:spPr>
          <a:xfrm>
            <a:off x="548640" y="1371600"/>
            <a:ext cx="2567864" cy="4572000"/>
          </a:xfrm>
          <a:prstGeom prst="roundRect">
            <a:avLst>
              <a:gd name="adj" fmla="val 4273"/>
            </a:avLst>
          </a:prstGeom>
          <a:solidFill>
            <a:schemeClr val="bg2"/>
          </a:solidFill>
          <a:ln/>
        </p:spPr>
      </p:sp>
      <p:sp>
        <p:nvSpPr>
          <p:cNvPr id="4" name="a34-icon-circle-82"/>
          <p:cNvSpPr/>
          <p:nvPr/>
        </p:nvSpPr>
        <p:spPr>
          <a:xfrm>
            <a:off x="777240" y="1600200"/>
            <a:ext cx="685800" cy="685800"/>
          </a:xfrm>
          <a:prstGeom prst="ellipse">
            <a:avLst/>
          </a:prstGeom>
          <a:solidFill>
            <a:schemeClr val="accent1"/>
          </a:solidFill>
          <a:ln/>
        </p:spPr>
      </p:sp>
      <p:pic>
        <p:nvPicPr>
          <p:cNvPr id="5" name="a34-icon-83" descr="preencoded.png">    </p:cNvPr>
          <p:cNvPicPr>
            <a:picLocks noChangeAspect="1"/>
          </p:cNvPicPr>
          <p:nvPr/>
        </p:nvPicPr>
        <p:blipFill>
          <a:blip r:embed="rId1"/>
          <a:stretch>
            <a:fillRect/>
          </a:stretch>
        </p:blipFill>
        <p:spPr>
          <a:xfrm>
            <a:off x="948690" y="1771650"/>
            <a:ext cx="342900" cy="342900"/>
          </a:xfrm>
          <a:prstGeom prst="rect">
            <a:avLst/>
          </a:prstGeom>
        </p:spPr>
      </p:pic>
      <p:sp>
        <p:nvSpPr>
          <p:cNvPr id="6" name="a34-text-84"/>
          <p:cNvSpPr txBox="1"/>
          <p:nvPr/>
        </p:nvSpPr>
        <p:spPr>
          <a:xfrm>
            <a:off x="777240" y="2423160"/>
            <a:ext cx="2110664" cy="685800"/>
          </a:xfrm>
          <a:prstGeom prst="rect">
            <a:avLst/>
          </a:prstGeom>
          <a:noFill/>
          <a:ln/>
        </p:spPr>
        <p:txBody>
          <a:bodyPr wrap="square" lIns="0" tIns="0" rIns="0" bIns="0" rtlCol="0" anchor="ctr"/>
          <a:lstStyle/>
          <a:p>
            <a:pPr indent="0" marL="0">
              <a:buNone/>
            </a:pPr>
            <a:r>
              <a:rPr lang="en-US" sz="1800" b="1" dirty="0">
                <a:solidFill>
                  <a:schemeClr val="tx1"/>
                </a:solidFill>
              </a:rPr>
              <a:t>WHO</a:t>
            </a:r>
            <a:endParaRPr lang="en-US" sz="1800" dirty="0"/>
          </a:p>
        </p:txBody>
      </p:sp>
      <p:sp>
        <p:nvSpPr>
          <p:cNvPr id="7" name="a34-text-85"/>
          <p:cNvSpPr txBox="1"/>
          <p:nvPr/>
        </p:nvSpPr>
        <p:spPr>
          <a:xfrm>
            <a:off x="777240" y="3154680"/>
            <a:ext cx="2110664"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Targeted, opportunistic screening in primary care (PEN / HEARTS-D)</a:t>
            </a:r>
            <a:endParaRPr lang="en-US" sz="1400" dirty="0"/>
          </a:p>
          <a:p>
            <a:pPr marL="177800" indent="-177800">
              <a:spcAft>
                <a:spcPts val="800"/>
              </a:spcAft>
              <a:buSzPct val="100000"/>
              <a:buChar char="•"/>
            </a:pPr>
            <a:r>
              <a:rPr lang="en-US" sz="1400" dirty="0">
                <a:solidFill>
                  <a:schemeClr val="tx1"/>
                </a:solidFill>
              </a:rPr>
              <a:t>Prioritise age ≥40, obesity, family history, hypertension, prior GDM</a:t>
            </a:r>
            <a:endParaRPr lang="en-US" sz="1400" dirty="0"/>
          </a:p>
          <a:p>
            <a:pPr marL="177800" indent="-177800">
              <a:spcAft>
                <a:spcPts val="800"/>
              </a:spcAft>
              <a:buSzPct val="100000"/>
              <a:buChar char="•"/>
            </a:pPr>
            <a:r>
              <a:rPr lang="en-US" sz="1400" dirty="0">
                <a:solidFill>
                  <a:schemeClr val="tx1"/>
                </a:solidFill>
              </a:rPr>
              <a:t>No mass population screening</a:t>
            </a:r>
            <a:endParaRPr lang="en-US" sz="1400" dirty="0"/>
          </a:p>
        </p:txBody>
      </p:sp>
      <p:sp>
        <p:nvSpPr>
          <p:cNvPr id="8" name="a35-card-86"/>
          <p:cNvSpPr/>
          <p:nvPr/>
        </p:nvSpPr>
        <p:spPr>
          <a:xfrm>
            <a:off x="3390824" y="1371600"/>
            <a:ext cx="2567864" cy="4572000"/>
          </a:xfrm>
          <a:prstGeom prst="roundRect">
            <a:avLst>
              <a:gd name="adj" fmla="val 4273"/>
            </a:avLst>
          </a:prstGeom>
          <a:solidFill>
            <a:schemeClr val="bg2"/>
          </a:solidFill>
          <a:ln/>
        </p:spPr>
      </p:sp>
      <p:sp>
        <p:nvSpPr>
          <p:cNvPr id="9" name="a35-icon-circle-87"/>
          <p:cNvSpPr/>
          <p:nvPr/>
        </p:nvSpPr>
        <p:spPr>
          <a:xfrm>
            <a:off x="3619424" y="1600200"/>
            <a:ext cx="685800" cy="685800"/>
          </a:xfrm>
          <a:prstGeom prst="ellipse">
            <a:avLst/>
          </a:prstGeom>
          <a:solidFill>
            <a:schemeClr val="accent3"/>
          </a:solidFill>
          <a:ln/>
        </p:spPr>
      </p:sp>
      <p:pic>
        <p:nvPicPr>
          <p:cNvPr id="10" name="a35-icon-88" descr="preencoded.png">    </p:cNvPr>
          <p:cNvPicPr>
            <a:picLocks noChangeAspect="1"/>
          </p:cNvPicPr>
          <p:nvPr/>
        </p:nvPicPr>
        <p:blipFill>
          <a:blip r:embed="rId2"/>
          <a:stretch>
            <a:fillRect/>
          </a:stretch>
        </p:blipFill>
        <p:spPr>
          <a:xfrm>
            <a:off x="3790874" y="1771650"/>
            <a:ext cx="342900" cy="342900"/>
          </a:xfrm>
          <a:prstGeom prst="rect">
            <a:avLst/>
          </a:prstGeom>
        </p:spPr>
      </p:pic>
      <p:sp>
        <p:nvSpPr>
          <p:cNvPr id="11" name="a35-text-89"/>
          <p:cNvSpPr txBox="1"/>
          <p:nvPr/>
        </p:nvSpPr>
        <p:spPr>
          <a:xfrm>
            <a:off x="3619424" y="2423160"/>
            <a:ext cx="2110664" cy="685800"/>
          </a:xfrm>
          <a:prstGeom prst="rect">
            <a:avLst/>
          </a:prstGeom>
          <a:noFill/>
          <a:ln/>
        </p:spPr>
        <p:txBody>
          <a:bodyPr wrap="square" lIns="0" tIns="0" rIns="0" bIns="0" rtlCol="0" anchor="ctr"/>
          <a:lstStyle/>
          <a:p>
            <a:pPr indent="0" marL="0">
              <a:buNone/>
            </a:pPr>
            <a:r>
              <a:rPr lang="en-US" sz="1800" b="1" dirty="0">
                <a:solidFill>
                  <a:schemeClr val="tx1"/>
                </a:solidFill>
              </a:rPr>
              <a:t>IDF</a:t>
            </a:r>
            <a:endParaRPr lang="en-US" sz="1800" dirty="0"/>
          </a:p>
        </p:txBody>
      </p:sp>
      <p:sp>
        <p:nvSpPr>
          <p:cNvPr id="12" name="a35-text-90"/>
          <p:cNvSpPr txBox="1"/>
          <p:nvPr/>
        </p:nvSpPr>
        <p:spPr>
          <a:xfrm>
            <a:off x="3619424" y="3154680"/>
            <a:ext cx="2110664"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Three-step model: identify, measure, intervene</a:t>
            </a:r>
            <a:endParaRPr lang="en-US" sz="1400" dirty="0"/>
          </a:p>
          <a:p>
            <a:pPr marL="177800" indent="-177800">
              <a:spcAft>
                <a:spcPts val="800"/>
              </a:spcAft>
              <a:buSzPct val="100000"/>
              <a:buChar char="•"/>
            </a:pPr>
            <a:r>
              <a:rPr lang="en-US" sz="1400" dirty="0">
                <a:solidFill>
                  <a:schemeClr val="tx1"/>
                </a:solidFill>
              </a:rPr>
              <a:t>Risk questionnaire first (e.g. FINDRISC), then FPG / OGTT</a:t>
            </a:r>
            <a:endParaRPr lang="en-US" sz="1400" dirty="0"/>
          </a:p>
          <a:p>
            <a:pPr marL="177800" indent="-177800">
              <a:spcAft>
                <a:spcPts val="800"/>
              </a:spcAft>
              <a:buSzPct val="100000"/>
              <a:buChar char="•"/>
            </a:pPr>
            <a:r>
              <a:rPr lang="en-US" sz="1400" dirty="0">
                <a:solidFill>
                  <a:schemeClr val="tx1"/>
                </a:solidFill>
              </a:rPr>
              <a:t>2024: 1-h PG on OGTT for earlier detection of high risk</a:t>
            </a:r>
            <a:endParaRPr lang="en-US" sz="1400" dirty="0"/>
          </a:p>
        </p:txBody>
      </p:sp>
      <p:sp>
        <p:nvSpPr>
          <p:cNvPr id="13" name="a36-card-91"/>
          <p:cNvSpPr/>
          <p:nvPr/>
        </p:nvSpPr>
        <p:spPr>
          <a:xfrm>
            <a:off x="6233008" y="1371600"/>
            <a:ext cx="2567864" cy="4572000"/>
          </a:xfrm>
          <a:prstGeom prst="roundRect">
            <a:avLst>
              <a:gd name="adj" fmla="val 4273"/>
            </a:avLst>
          </a:prstGeom>
          <a:solidFill>
            <a:schemeClr val="bg2"/>
          </a:solidFill>
          <a:ln/>
        </p:spPr>
      </p:sp>
      <p:sp>
        <p:nvSpPr>
          <p:cNvPr id="14" name="a36-icon-circle-92"/>
          <p:cNvSpPr/>
          <p:nvPr/>
        </p:nvSpPr>
        <p:spPr>
          <a:xfrm>
            <a:off x="6461608" y="1600200"/>
            <a:ext cx="685800" cy="685800"/>
          </a:xfrm>
          <a:prstGeom prst="ellipse">
            <a:avLst/>
          </a:prstGeom>
          <a:solidFill>
            <a:schemeClr val="accent2"/>
          </a:solidFill>
          <a:ln/>
        </p:spPr>
      </p:sp>
      <p:pic>
        <p:nvPicPr>
          <p:cNvPr id="15" name="a36-icon-93" descr="preencoded.png">    </p:cNvPr>
          <p:cNvPicPr>
            <a:picLocks noChangeAspect="1"/>
          </p:cNvPicPr>
          <p:nvPr/>
        </p:nvPicPr>
        <p:blipFill>
          <a:blip r:embed="rId3"/>
          <a:stretch>
            <a:fillRect/>
          </a:stretch>
        </p:blipFill>
        <p:spPr>
          <a:xfrm>
            <a:off x="6633058" y="1771650"/>
            <a:ext cx="342900" cy="342900"/>
          </a:xfrm>
          <a:prstGeom prst="rect">
            <a:avLst/>
          </a:prstGeom>
        </p:spPr>
      </p:pic>
      <p:sp>
        <p:nvSpPr>
          <p:cNvPr id="16" name="a36-text-94"/>
          <p:cNvSpPr txBox="1"/>
          <p:nvPr/>
        </p:nvSpPr>
        <p:spPr>
          <a:xfrm>
            <a:off x="6461608" y="2423160"/>
            <a:ext cx="2110664" cy="685800"/>
          </a:xfrm>
          <a:prstGeom prst="rect">
            <a:avLst/>
          </a:prstGeom>
          <a:noFill/>
          <a:ln/>
        </p:spPr>
        <p:txBody>
          <a:bodyPr wrap="square" lIns="0" tIns="0" rIns="0" bIns="0" rtlCol="0" anchor="ctr"/>
          <a:lstStyle/>
          <a:p>
            <a:pPr indent="0" marL="0">
              <a:buNone/>
            </a:pPr>
            <a:r>
              <a:rPr lang="en-US" sz="1800" b="1" dirty="0">
                <a:solidFill>
                  <a:schemeClr val="tx1"/>
                </a:solidFill>
              </a:rPr>
              <a:t>EASD / ESC</a:t>
            </a:r>
            <a:endParaRPr lang="en-US" sz="1800" dirty="0"/>
          </a:p>
        </p:txBody>
      </p:sp>
      <p:sp>
        <p:nvSpPr>
          <p:cNvPr id="17" name="a36-text-95"/>
          <p:cNvSpPr txBox="1"/>
          <p:nvPr/>
        </p:nvSpPr>
        <p:spPr>
          <a:xfrm>
            <a:off x="6461608" y="3154680"/>
            <a:ext cx="2110664"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Screen all patients with CVD: HbA1c + FPG; add OGTT if inconclusive (2019 ESC/EASD)</a:t>
            </a:r>
            <a:endParaRPr lang="en-US" sz="1400" dirty="0"/>
          </a:p>
          <a:p>
            <a:pPr marL="177800" indent="-177800">
              <a:spcAft>
                <a:spcPts val="800"/>
              </a:spcAft>
              <a:buSzPct val="100000"/>
              <a:buChar char="•"/>
            </a:pPr>
            <a:r>
              <a:rPr lang="en-US" sz="1400" dirty="0">
                <a:solidFill>
                  <a:schemeClr val="tx1"/>
                </a:solidFill>
              </a:rPr>
              <a:t>General population: risk scores such as FINDRISC (≥15 = high risk)</a:t>
            </a:r>
            <a:endParaRPr lang="en-US" sz="1400" dirty="0"/>
          </a:p>
        </p:txBody>
      </p:sp>
      <p:sp>
        <p:nvSpPr>
          <p:cNvPr id="18" name="a37-card-96"/>
          <p:cNvSpPr/>
          <p:nvPr/>
        </p:nvSpPr>
        <p:spPr>
          <a:xfrm>
            <a:off x="9075191" y="1371600"/>
            <a:ext cx="2567864" cy="4572000"/>
          </a:xfrm>
          <a:prstGeom prst="roundRect">
            <a:avLst>
              <a:gd name="adj" fmla="val 4273"/>
            </a:avLst>
          </a:prstGeom>
          <a:solidFill>
            <a:schemeClr val="bg2"/>
          </a:solidFill>
          <a:ln/>
        </p:spPr>
      </p:sp>
      <p:sp>
        <p:nvSpPr>
          <p:cNvPr id="19" name="a37-icon-circle-97"/>
          <p:cNvSpPr/>
          <p:nvPr/>
        </p:nvSpPr>
        <p:spPr>
          <a:xfrm>
            <a:off x="9303791" y="1600200"/>
            <a:ext cx="685800" cy="685800"/>
          </a:xfrm>
          <a:prstGeom prst="ellipse">
            <a:avLst/>
          </a:prstGeom>
          <a:solidFill>
            <a:schemeClr val="accent6"/>
          </a:solidFill>
          <a:ln/>
        </p:spPr>
      </p:sp>
      <p:pic>
        <p:nvPicPr>
          <p:cNvPr id="20" name="a37-icon-98" descr="preencoded.png">    </p:cNvPr>
          <p:cNvPicPr>
            <a:picLocks noChangeAspect="1"/>
          </p:cNvPicPr>
          <p:nvPr/>
        </p:nvPicPr>
        <p:blipFill>
          <a:blip r:embed="rId4"/>
          <a:stretch>
            <a:fillRect/>
          </a:stretch>
        </p:blipFill>
        <p:spPr>
          <a:xfrm>
            <a:off x="9475241" y="1771650"/>
            <a:ext cx="342900" cy="342900"/>
          </a:xfrm>
          <a:prstGeom prst="rect">
            <a:avLst/>
          </a:prstGeom>
        </p:spPr>
      </p:pic>
      <p:sp>
        <p:nvSpPr>
          <p:cNvPr id="21" name="a37-text-99"/>
          <p:cNvSpPr txBox="1"/>
          <p:nvPr/>
        </p:nvSpPr>
        <p:spPr>
          <a:xfrm>
            <a:off x="9303791" y="2423160"/>
            <a:ext cx="2110664" cy="685800"/>
          </a:xfrm>
          <a:prstGeom prst="rect">
            <a:avLst/>
          </a:prstGeom>
          <a:noFill/>
          <a:ln/>
        </p:spPr>
        <p:txBody>
          <a:bodyPr wrap="square" lIns="0" tIns="0" rIns="0" bIns="0" rtlCol="0" anchor="ctr"/>
          <a:lstStyle/>
          <a:p>
            <a:pPr indent="0" marL="0">
              <a:buNone/>
            </a:pPr>
            <a:r>
              <a:rPr lang="en-US" sz="1800" b="1" dirty="0">
                <a:solidFill>
                  <a:schemeClr val="tx1"/>
                </a:solidFill>
              </a:rPr>
              <a:t>UK: Davidson, Kumar &amp; Clark</a:t>
            </a:r>
            <a:endParaRPr lang="en-US" sz="1800" dirty="0"/>
          </a:p>
        </p:txBody>
      </p:sp>
      <p:sp>
        <p:nvSpPr>
          <p:cNvPr id="22" name="a37-text-100"/>
          <p:cNvSpPr txBox="1"/>
          <p:nvPr/>
        </p:nvSpPr>
        <p:spPr>
          <a:xfrm>
            <a:off x="9303791" y="3154680"/>
            <a:ext cx="2110664" cy="2697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NICE PH38 two-stage approach: validated risk score, then HbA1c or FPG</a:t>
            </a:r>
            <a:endParaRPr lang="en-US" sz="1400" dirty="0"/>
          </a:p>
          <a:p>
            <a:pPr marL="177800" indent="-177800">
              <a:spcAft>
                <a:spcPts val="800"/>
              </a:spcAft>
              <a:buSzPct val="100000"/>
              <a:buChar char="•"/>
            </a:pPr>
            <a:r>
              <a:rPr lang="en-US" sz="1400" dirty="0">
                <a:solidFill>
                  <a:schemeClr val="tx1"/>
                </a:solidFill>
              </a:rPr>
              <a:t>Adults ≥40; from age 25 in South Asian, Chinese and Black groups</a:t>
            </a:r>
            <a:endParaRPr lang="en-US" sz="1400" dirty="0"/>
          </a:p>
          <a:p>
            <a:pPr marL="177800" indent="-177800">
              <a:spcAft>
                <a:spcPts val="800"/>
              </a:spcAft>
              <a:buSzPct val="100000"/>
              <a:buChar char="•"/>
            </a:pPr>
            <a:r>
              <a:rPr lang="en-US" sz="1400" dirty="0">
                <a:solidFill>
                  <a:schemeClr val="tx1"/>
                </a:solidFill>
              </a:rPr>
              <a:t>High risk: re-test yearly</a:t>
            </a:r>
            <a:endParaRPr lang="en-US" sz="1400" dirty="0"/>
          </a:p>
        </p:txBody>
      </p:sp>
      <p:sp>
        <p:nvSpPr>
          <p:cNvPr id="23"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WHO HEARTS-D (2020); IDF consensus on prevention of T2D (2007) and 1-h PG statement (2024); ESC/EASD Guidelines 2019; NICE PH38; Davidson's 24e; Kumar &amp; Clark 10e.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cond evt="onBegin" delay="0">
                          <p:tn val="2"/>
                        </p:cond>
                      </p:stCondLst>
                      <p:childTnLst>
                        <p:par>
                          <p:cTn id="64"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4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43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71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71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71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99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99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99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99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Choosing the screening test</a:t>
            </a:r>
            <a:endParaRPr lang="en-US" sz="3400" dirty="0"/>
          </a:p>
        </p:txBody>
      </p:sp>
      <p:graphicFrame>
        <p:nvGraphicFramePr>
          <p:cNvPr id="10" name="a39-table-102"/>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1554480"/>
                <a:gridCol w="2651760"/>
                <a:gridCol w="3017520"/>
              </a:tblGrid>
              <a:tr h="457200">
                <a:tc>
                  <a:txBody>
                    <a:bodyPr/>
                    <a:lstStyle/>
                    <a:p>
                      <a:pPr indent="0" marL="0">
                        <a:buNone/>
                      </a:pPr>
                      <a:r>
                        <a:rPr lang="en-US" sz="1400" b="1" dirty="0">
                          <a:solidFill>
                            <a:schemeClr val="bg1"/>
                          </a:solidFill>
                        </a:rPr>
                        <a:t>Test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Strengths</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Limitations</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685800">
                <a:tc>
                  <a:txBody>
                    <a:bodyPr/>
                    <a:lstStyle/>
                    <a:p>
                      <a:pPr indent="0" marL="0">
                        <a:buNone/>
                      </a:pPr>
                      <a:r>
                        <a:rPr lang="en-US" sz="1400" b="1" dirty="0">
                          <a:solidFill>
                            <a:schemeClr val="tx1"/>
                          </a:solidFill>
                        </a:rPr>
                        <a:t>FPG</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Cheap, widely available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Needs 8 h fast; misses isolated IGT; day-to-day variability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777240">
                <a:tc>
                  <a:txBody>
                    <a:bodyPr/>
                    <a:lstStyle/>
                    <a:p>
                      <a:pPr indent="0" marL="0">
                        <a:buNone/>
                      </a:pPr>
                      <a:r>
                        <a:rPr lang="en-US" sz="1400" b="1" dirty="0">
                          <a:solidFill>
                            <a:schemeClr val="tx1"/>
                          </a:solidFill>
                        </a:rPr>
                        <a:t>HbA1c</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fasting; reflects 2–3 months; low variability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Costly; less sensitive; unreliable in some conditions (see right)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777240">
                <a:tc>
                  <a:txBody>
                    <a:bodyPr/>
                    <a:lstStyle/>
                    <a:p>
                      <a:pPr indent="0" marL="0">
                        <a:buNone/>
                      </a:pPr>
                      <a:r>
                        <a:rPr lang="en-US" sz="1400" b="1" dirty="0">
                          <a:solidFill>
                            <a:schemeClr val="tx1"/>
                          </a:solidFill>
                        </a:rPr>
                        <a:t>75 g OGTT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Most sensitive; detects IGT; standard in pregnancy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Time-consuming; poor reproducibility; patient burden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685800">
                <a:tc>
                  <a:txBody>
                    <a:bodyPr/>
                    <a:lstStyle/>
                    <a:p>
                      <a:pPr indent="0" marL="0">
                        <a:buNone/>
                      </a:pPr>
                      <a:r>
                        <a:rPr lang="en-US" sz="1400" b="1" dirty="0">
                          <a:solidFill>
                            <a:schemeClr val="tx1"/>
                          </a:solidFill>
                        </a:rPr>
                        <a:t>1-h PG (OGTT)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Detects risk earlier; shorter test (IDF 2024)</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Newer; limited adoption and outcome data</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a40-card-103"/>
          <p:cNvSpPr/>
          <p:nvPr/>
        </p:nvSpPr>
        <p:spPr>
          <a:xfrm>
            <a:off x="548640" y="4937760"/>
            <a:ext cx="7223760" cy="1005840"/>
          </a:xfrm>
          <a:prstGeom prst="roundRect">
            <a:avLst>
              <a:gd name="adj" fmla="val 10909"/>
            </a:avLst>
          </a:prstGeom>
          <a:solidFill>
            <a:schemeClr val="bg2"/>
          </a:solidFill>
          <a:ln/>
        </p:spPr>
      </p:sp>
      <p:sp>
        <p:nvSpPr>
          <p:cNvPr id="5" name="a40-text-104"/>
          <p:cNvSpPr txBox="1"/>
          <p:nvPr/>
        </p:nvSpPr>
        <p:spPr>
          <a:xfrm>
            <a:off x="822960" y="4983480"/>
            <a:ext cx="6675120" cy="914400"/>
          </a:xfrm>
          <a:prstGeom prst="rect">
            <a:avLst/>
          </a:prstGeom>
          <a:noFill/>
          <a:ln/>
        </p:spPr>
        <p:txBody>
          <a:bodyPr wrap="square" lIns="0" tIns="0" rIns="0" bIns="0" rtlCol="0" anchor="ctr"/>
          <a:lstStyle/>
          <a:p>
            <a:pPr indent="0" marL="0">
              <a:buNone/>
            </a:pPr>
            <a:r>
              <a:rPr lang="en-US" sz="1500" b="1" dirty="0">
                <a:solidFill>
                  <a:schemeClr val="tx1"/>
                </a:solidFill>
              </a:rPr>
              <a:t>Risk scores before blood tests: </a:t>
            </a:r>
            <a:pPr indent="0" marL="0">
              <a:buNone/>
            </a:pPr>
            <a:r>
              <a:rPr lang="en-US" sz="1500" dirty="0">
                <a:solidFill>
                  <a:schemeClr val="tx1"/>
                </a:solidFill>
              </a:rPr>
              <a:t>ADA Risk Test (≥5), FINDRISC (≥15), Indian Diabetes Risk Score (≥60), Leicester Risk Score (UK).</a:t>
            </a:r>
            <a:endParaRPr lang="en-US" sz="1500" dirty="0"/>
          </a:p>
        </p:txBody>
      </p:sp>
      <p:sp>
        <p:nvSpPr>
          <p:cNvPr id="6" name="a41-card-105"/>
          <p:cNvSpPr/>
          <p:nvPr/>
        </p:nvSpPr>
        <p:spPr>
          <a:xfrm>
            <a:off x="8046720" y="1371600"/>
            <a:ext cx="3596335" cy="4572000"/>
          </a:xfrm>
          <a:prstGeom prst="roundRect">
            <a:avLst>
              <a:gd name="adj" fmla="val 3051"/>
            </a:avLst>
          </a:prstGeom>
          <a:solidFill>
            <a:schemeClr val="tx1"/>
          </a:solidFill>
          <a:ln/>
        </p:spPr>
      </p:sp>
      <p:sp>
        <p:nvSpPr>
          <p:cNvPr id="7" name="a41-text-106"/>
          <p:cNvSpPr txBox="1"/>
          <p:nvPr/>
        </p:nvSpPr>
        <p:spPr>
          <a:xfrm>
            <a:off x="8321040" y="1600200"/>
            <a:ext cx="3063240" cy="420624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HbA1c can mislead in…</a:t>
            </a:r>
            <a:endParaRPr lang="en-US" sz="1400" dirty="0"/>
          </a:p>
          <a:p>
            <a:pPr marL="177800" indent="-177800">
              <a:spcAft>
                <a:spcPts val="600"/>
              </a:spcAft>
              <a:buSzPct val="100000"/>
              <a:buChar char="•"/>
            </a:pPr>
            <a:r>
              <a:rPr lang="en-US" sz="1400" dirty="0">
                <a:solidFill>
                  <a:schemeClr val="bg1"/>
                </a:solidFill>
              </a:rPr>
              <a:t>Haemoglobinopathies (HbS, HbC, thalassaemia)</a:t>
            </a:r>
            <a:endParaRPr lang="en-US" sz="1400" dirty="0"/>
          </a:p>
          <a:p>
            <a:pPr marL="177800" indent="-177800">
              <a:spcAft>
                <a:spcPts val="600"/>
              </a:spcAft>
              <a:buSzPct val="100000"/>
              <a:buChar char="•"/>
            </a:pPr>
            <a:r>
              <a:rPr lang="en-US" sz="1400" dirty="0">
                <a:solidFill>
                  <a:schemeClr val="bg1"/>
                </a:solidFill>
              </a:rPr>
              <a:t>Iron / B12 deficiency, haemolysis, recent bleeding or transfusion</a:t>
            </a:r>
            <a:endParaRPr lang="en-US" sz="1400" dirty="0"/>
          </a:p>
          <a:p>
            <a:pPr marL="177800" indent="-177800">
              <a:spcAft>
                <a:spcPts val="600"/>
              </a:spcAft>
              <a:buSzPct val="100000"/>
              <a:buChar char="•"/>
            </a:pPr>
            <a:r>
              <a:rPr lang="en-US" sz="1400" dirty="0">
                <a:solidFill>
                  <a:schemeClr val="bg1"/>
                </a:solidFill>
              </a:rPr>
              <a:t>Pregnancy and the postpartum period</a:t>
            </a:r>
            <a:endParaRPr lang="en-US" sz="1400" dirty="0"/>
          </a:p>
          <a:p>
            <a:pPr marL="177800" indent="-177800">
              <a:spcAft>
                <a:spcPts val="600"/>
              </a:spcAft>
              <a:buSzPct val="100000"/>
              <a:buChar char="•"/>
            </a:pPr>
            <a:r>
              <a:rPr lang="en-US" sz="1400" dirty="0">
                <a:solidFill>
                  <a:schemeClr val="bg1"/>
                </a:solidFill>
              </a:rPr>
              <a:t>Advanced CKD, erythropoietin therapy</a:t>
            </a:r>
            <a:endParaRPr lang="en-US" sz="1400" dirty="0"/>
          </a:p>
          <a:p>
            <a:pPr marL="177800" indent="-177800">
              <a:spcAft>
                <a:spcPts val="600"/>
              </a:spcAft>
              <a:buSzPct val="100000"/>
              <a:buChar char="•"/>
            </a:pPr>
            <a:r>
              <a:rPr lang="en-US" sz="1400" dirty="0">
                <a:solidFill>
                  <a:schemeClr val="bg1"/>
                </a:solidFill>
              </a:rPr>
              <a:t>HIV on some antiretrovirals</a:t>
            </a:r>
            <a:endParaRPr lang="en-US" sz="1400" dirty="0"/>
          </a:p>
          <a:p>
            <a:pPr marL="177800" indent="-177800">
              <a:spcAft>
                <a:spcPts val="600"/>
              </a:spcAft>
              <a:buSzPct val="100000"/>
              <a:buChar char="•"/>
            </a:pPr>
            <a:r>
              <a:rPr lang="en-US" sz="1400" dirty="0">
                <a:solidFill>
                  <a:schemeClr val="bg1"/>
                </a:solidFill>
              </a:rPr>
              <a:t>Rapid-onset (type 1) diabetes, children</a:t>
            </a:r>
            <a:endParaRPr lang="en-US" sz="1400" dirty="0"/>
          </a:p>
        </p:txBody>
      </p:sp>
      <p:sp>
        <p:nvSpPr>
          <p:cNvPr id="8"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 2; IDF 2024; Davidson's 24e (HbA1c limitations); Kumar &amp; Clark 10e.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childTnLst>
                                </p:cTn>
                              </p:par>
                              <p:par>
                                <p:cTn id="6" presetID="10" presetClass="entr" presetSubtype="0" fill="hold" grpId="0" nodeType="withEffect">
                                  <p:stCondLst>
                                    <p:cond delay="4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4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71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7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 practical screening pathway</a:t>
            </a:r>
            <a:endParaRPr lang="en-US" sz="3400" dirty="0"/>
          </a:p>
        </p:txBody>
      </p:sp>
      <p:sp>
        <p:nvSpPr>
          <p:cNvPr id="3" name="a43-card-108"/>
          <p:cNvSpPr/>
          <p:nvPr/>
        </p:nvSpPr>
        <p:spPr>
          <a:xfrm>
            <a:off x="548640" y="1828800"/>
            <a:ext cx="2926080" cy="3291840"/>
          </a:xfrm>
          <a:prstGeom prst="roundRect">
            <a:avLst>
              <a:gd name="adj" fmla="val 3750"/>
            </a:avLst>
          </a:prstGeom>
          <a:solidFill>
            <a:schemeClr val="accent1"/>
          </a:solidFill>
          <a:ln/>
        </p:spPr>
      </p:sp>
      <p:sp>
        <p:nvSpPr>
          <p:cNvPr id="4" name="a43-text-109"/>
          <p:cNvSpPr txBox="1"/>
          <p:nvPr/>
        </p:nvSpPr>
        <p:spPr>
          <a:xfrm>
            <a:off x="777240" y="2057400"/>
            <a:ext cx="2468880" cy="283464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1  IDENTIFY</a:t>
            </a:r>
            <a:endParaRPr lang="en-US" sz="1400" dirty="0"/>
          </a:p>
          <a:p>
            <a:pPr marL="177800" indent="-177800">
              <a:spcAft>
                <a:spcPts val="600"/>
              </a:spcAft>
              <a:buSzPct val="100000"/>
              <a:buChar char="•"/>
            </a:pPr>
            <a:r>
              <a:rPr lang="en-US" sz="1400" dirty="0">
                <a:solidFill>
                  <a:schemeClr val="bg1"/>
                </a:solidFill>
              </a:rPr>
              <a:t>Age ≥35 (ADA) or ≥40 (WHO, NICE)</a:t>
            </a:r>
            <a:endParaRPr lang="en-US" sz="1400" dirty="0"/>
          </a:p>
          <a:p>
            <a:pPr marL="177800" indent="-177800">
              <a:spcAft>
                <a:spcPts val="600"/>
              </a:spcAft>
              <a:buSzPct val="100000"/>
              <a:buChar char="•"/>
            </a:pPr>
            <a:r>
              <a:rPr lang="en-US" sz="1400" dirty="0">
                <a:solidFill>
                  <a:schemeClr val="bg1"/>
                </a:solidFill>
              </a:rPr>
              <a:t>Overweight + risk factor</a:t>
            </a:r>
            <a:endParaRPr lang="en-US" sz="1400" dirty="0"/>
          </a:p>
          <a:p>
            <a:pPr marL="177800" indent="-177800">
              <a:spcAft>
                <a:spcPts val="600"/>
              </a:spcAft>
              <a:buSzPct val="100000"/>
              <a:buChar char="•"/>
            </a:pPr>
            <a:r>
              <a:rPr lang="en-US" sz="1400" dirty="0">
                <a:solidFill>
                  <a:schemeClr val="bg1"/>
                </a:solidFill>
              </a:rPr>
              <a:t>Risk score above threshold</a:t>
            </a:r>
            <a:endParaRPr lang="en-US" sz="1400" dirty="0"/>
          </a:p>
          <a:p>
            <a:pPr marL="177800" indent="-177800">
              <a:spcAft>
                <a:spcPts val="600"/>
              </a:spcAft>
              <a:buSzPct val="100000"/>
              <a:buChar char="•"/>
            </a:pPr>
            <a:r>
              <a:rPr lang="en-US" sz="1400" dirty="0">
                <a:solidFill>
                  <a:schemeClr val="bg1"/>
                </a:solidFill>
              </a:rPr>
              <a:t>CVD, prior GDM, high-risk drugs</a:t>
            </a:r>
            <a:endParaRPr lang="en-US" sz="1400" dirty="0"/>
          </a:p>
        </p:txBody>
      </p:sp>
      <p:sp>
        <p:nvSpPr>
          <p:cNvPr id="5" name="a43-arrow-110"/>
          <p:cNvSpPr/>
          <p:nvPr/>
        </p:nvSpPr>
        <p:spPr>
          <a:xfrm>
            <a:off x="3566160" y="3246120"/>
            <a:ext cx="411480" cy="457200"/>
          </a:xfrm>
          <a:prstGeom prst="rightArrow">
            <a:avLst/>
          </a:prstGeom>
          <a:solidFill>
            <a:schemeClr val="accent5"/>
          </a:solidFill>
          <a:ln/>
        </p:spPr>
      </p:sp>
      <p:sp>
        <p:nvSpPr>
          <p:cNvPr id="6" name="a44-card-111"/>
          <p:cNvSpPr/>
          <p:nvPr/>
        </p:nvSpPr>
        <p:spPr>
          <a:xfrm>
            <a:off x="4069080" y="1828800"/>
            <a:ext cx="2926080" cy="3291840"/>
          </a:xfrm>
          <a:prstGeom prst="roundRect">
            <a:avLst>
              <a:gd name="adj" fmla="val 3750"/>
            </a:avLst>
          </a:prstGeom>
          <a:solidFill>
            <a:schemeClr val="tx1"/>
          </a:solidFill>
          <a:ln/>
        </p:spPr>
      </p:sp>
      <p:sp>
        <p:nvSpPr>
          <p:cNvPr id="7" name="a44-text-112"/>
          <p:cNvSpPr txBox="1"/>
          <p:nvPr/>
        </p:nvSpPr>
        <p:spPr>
          <a:xfrm>
            <a:off x="4297680" y="2057400"/>
            <a:ext cx="2468880" cy="2834640"/>
          </a:xfrm>
          <a:prstGeom prst="rect">
            <a:avLst/>
          </a:prstGeom>
          <a:noFill/>
          <a:ln/>
        </p:spPr>
        <p:txBody>
          <a:bodyPr wrap="square" lIns="0" tIns="0" rIns="0" bIns="0" rtlCol="0" anchor="t"/>
          <a:lstStyle/>
          <a:p>
            <a:pPr indent="0" marL="0">
              <a:spcAft>
                <a:spcPts val="800"/>
              </a:spcAft>
              <a:buNone/>
            </a:pPr>
            <a:r>
              <a:rPr lang="en-US" sz="1800" b="1" dirty="0">
                <a:solidFill>
                  <a:schemeClr val="bg1"/>
                </a:solidFill>
              </a:rPr>
              <a:t>2  TEST</a:t>
            </a:r>
            <a:endParaRPr lang="en-US" sz="1400" dirty="0"/>
          </a:p>
          <a:p>
            <a:pPr marL="177800" indent="-177800">
              <a:spcAft>
                <a:spcPts val="600"/>
              </a:spcAft>
              <a:buSzPct val="100000"/>
              <a:buChar char="•"/>
            </a:pPr>
            <a:r>
              <a:rPr lang="en-US" sz="1400" dirty="0">
                <a:solidFill>
                  <a:schemeClr val="bg1"/>
                </a:solidFill>
              </a:rPr>
              <a:t>HbA1c and/or FPG</a:t>
            </a:r>
            <a:endParaRPr lang="en-US" sz="1400" dirty="0"/>
          </a:p>
          <a:p>
            <a:pPr marL="177800" indent="-177800">
              <a:spcAft>
                <a:spcPts val="600"/>
              </a:spcAft>
              <a:buSzPct val="100000"/>
              <a:buChar char="•"/>
            </a:pPr>
            <a:r>
              <a:rPr lang="en-US" sz="1400" dirty="0">
                <a:solidFill>
                  <a:schemeClr val="bg1"/>
                </a:solidFill>
              </a:rPr>
              <a:t>OGTT if borderline, discordant, or HbA1c unreliable</a:t>
            </a:r>
            <a:endParaRPr lang="en-US" sz="1400" dirty="0"/>
          </a:p>
          <a:p>
            <a:pPr marL="177800" indent="-177800">
              <a:spcAft>
                <a:spcPts val="600"/>
              </a:spcAft>
              <a:buSzPct val="100000"/>
              <a:buChar char="•"/>
            </a:pPr>
            <a:r>
              <a:rPr lang="en-US" sz="1400" dirty="0">
                <a:solidFill>
                  <a:schemeClr val="bg1"/>
                </a:solidFill>
              </a:rPr>
              <a:t>Confirm diabetes-range results unless symptomatic</a:t>
            </a:r>
            <a:endParaRPr lang="en-US" sz="1400" dirty="0"/>
          </a:p>
        </p:txBody>
      </p:sp>
      <p:sp>
        <p:nvSpPr>
          <p:cNvPr id="8" name="a44-line-113"/>
          <p:cNvSpPr/>
          <p:nvPr/>
        </p:nvSpPr>
        <p:spPr>
          <a:xfrm>
            <a:off x="6995160" y="3474720"/>
            <a:ext cx="365760" cy="0"/>
          </a:xfrm>
          <a:prstGeom prst="line">
            <a:avLst/>
          </a:prstGeom>
          <a:noFill/>
          <a:ln w="25400">
            <a:solidFill>
              <a:schemeClr val="accent5"/>
            </a:solidFill>
            <a:prstDash val="solid"/>
          </a:ln>
        </p:spPr>
      </p:sp>
      <p:sp>
        <p:nvSpPr>
          <p:cNvPr id="9" name="a44-line-114"/>
          <p:cNvSpPr/>
          <p:nvPr/>
        </p:nvSpPr>
        <p:spPr>
          <a:xfrm>
            <a:off x="7360920" y="2034540"/>
            <a:ext cx="0" cy="3200400"/>
          </a:xfrm>
          <a:prstGeom prst="line">
            <a:avLst/>
          </a:prstGeom>
          <a:noFill/>
          <a:ln w="25400">
            <a:solidFill>
              <a:schemeClr val="accent5"/>
            </a:solidFill>
            <a:prstDash val="solid"/>
          </a:ln>
        </p:spPr>
      </p:sp>
      <p:sp>
        <p:nvSpPr>
          <p:cNvPr id="10" name="a44-line-115"/>
          <p:cNvSpPr/>
          <p:nvPr/>
        </p:nvSpPr>
        <p:spPr>
          <a:xfrm>
            <a:off x="7360920" y="2034540"/>
            <a:ext cx="384048" cy="0"/>
          </a:xfrm>
          <a:prstGeom prst="line">
            <a:avLst/>
          </a:prstGeom>
          <a:noFill/>
          <a:ln w="25400">
            <a:solidFill>
              <a:schemeClr val="accent5"/>
            </a:solidFill>
            <a:prstDash val="solid"/>
            <a:tailEnd type="triangle"/>
          </a:ln>
        </p:spPr>
      </p:sp>
      <p:sp>
        <p:nvSpPr>
          <p:cNvPr id="11" name="a45-card-116"/>
          <p:cNvSpPr/>
          <p:nvPr/>
        </p:nvSpPr>
        <p:spPr>
          <a:xfrm>
            <a:off x="7772400" y="1371600"/>
            <a:ext cx="3870655" cy="1325880"/>
          </a:xfrm>
          <a:prstGeom prst="roundRect">
            <a:avLst>
              <a:gd name="adj" fmla="val 8276"/>
            </a:avLst>
          </a:prstGeom>
          <a:solidFill>
            <a:schemeClr val="bg2"/>
          </a:solidFill>
          <a:ln/>
        </p:spPr>
      </p:sp>
      <p:sp>
        <p:nvSpPr>
          <p:cNvPr id="12" name="a45-dot-117"/>
          <p:cNvSpPr/>
          <p:nvPr/>
        </p:nvSpPr>
        <p:spPr>
          <a:xfrm>
            <a:off x="8001000" y="1600200"/>
            <a:ext cx="292608" cy="292608"/>
          </a:xfrm>
          <a:prstGeom prst="ellipse">
            <a:avLst/>
          </a:prstGeom>
          <a:solidFill>
            <a:schemeClr val="accent3"/>
          </a:solidFill>
          <a:ln/>
        </p:spPr>
      </p:sp>
      <p:sp>
        <p:nvSpPr>
          <p:cNvPr id="13" name="a45-text-118"/>
          <p:cNvSpPr txBox="1"/>
          <p:nvPr/>
        </p:nvSpPr>
        <p:spPr>
          <a:xfrm>
            <a:off x="8458200" y="1508760"/>
            <a:ext cx="3001975" cy="1051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Normal</a:t>
            </a:r>
            <a:endParaRPr lang="en-US" sz="1400" dirty="0"/>
          </a:p>
          <a:p>
            <a:pPr indent="0" marL="0">
              <a:buNone/>
            </a:pPr>
            <a:r>
              <a:rPr lang="en-US" sz="1400" dirty="0">
                <a:solidFill>
                  <a:schemeClr val="tx1"/>
                </a:solidFill>
              </a:rPr>
              <a:t>Lifestyle advice; re-screen in ≤3 years (yearly if risk factors rising)</a:t>
            </a:r>
            <a:endParaRPr lang="en-US" sz="1400" dirty="0"/>
          </a:p>
        </p:txBody>
      </p:sp>
      <p:sp>
        <p:nvSpPr>
          <p:cNvPr id="14" name="a45-line-119"/>
          <p:cNvSpPr/>
          <p:nvPr/>
        </p:nvSpPr>
        <p:spPr>
          <a:xfrm>
            <a:off x="7360920" y="3634740"/>
            <a:ext cx="384048" cy="0"/>
          </a:xfrm>
          <a:prstGeom prst="line">
            <a:avLst/>
          </a:prstGeom>
          <a:noFill/>
          <a:ln w="25400">
            <a:solidFill>
              <a:schemeClr val="accent5"/>
            </a:solidFill>
            <a:prstDash val="solid"/>
            <a:tailEnd type="triangle"/>
          </a:ln>
        </p:spPr>
      </p:sp>
      <p:sp>
        <p:nvSpPr>
          <p:cNvPr id="15" name="a46-card-120"/>
          <p:cNvSpPr/>
          <p:nvPr/>
        </p:nvSpPr>
        <p:spPr>
          <a:xfrm>
            <a:off x="7772400" y="2971800"/>
            <a:ext cx="3870655" cy="1325880"/>
          </a:xfrm>
          <a:prstGeom prst="roundRect">
            <a:avLst>
              <a:gd name="adj" fmla="val 8276"/>
            </a:avLst>
          </a:prstGeom>
          <a:solidFill>
            <a:schemeClr val="bg2"/>
          </a:solidFill>
          <a:ln/>
        </p:spPr>
      </p:sp>
      <p:sp>
        <p:nvSpPr>
          <p:cNvPr id="16" name="a46-dot-121"/>
          <p:cNvSpPr/>
          <p:nvPr/>
        </p:nvSpPr>
        <p:spPr>
          <a:xfrm>
            <a:off x="8001000" y="3200400"/>
            <a:ext cx="292608" cy="292608"/>
          </a:xfrm>
          <a:prstGeom prst="ellipse">
            <a:avLst/>
          </a:prstGeom>
          <a:solidFill>
            <a:schemeClr val="accent4"/>
          </a:solidFill>
          <a:ln/>
        </p:spPr>
      </p:sp>
      <p:sp>
        <p:nvSpPr>
          <p:cNvPr id="17" name="a46-text-122"/>
          <p:cNvSpPr txBox="1"/>
          <p:nvPr/>
        </p:nvSpPr>
        <p:spPr>
          <a:xfrm>
            <a:off x="8458200" y="3108960"/>
            <a:ext cx="3001975" cy="1051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Prediabetes</a:t>
            </a:r>
            <a:endParaRPr lang="en-US" sz="1400" dirty="0"/>
          </a:p>
          <a:p>
            <a:pPr indent="0" marL="0">
              <a:buNone/>
            </a:pPr>
            <a:r>
              <a:rPr lang="en-US" sz="1400" dirty="0">
                <a:solidFill>
                  <a:schemeClr val="tx1"/>
                </a:solidFill>
              </a:rPr>
              <a:t>Intensive lifestyle programme; consider metformin; re-test yearly; manage BP and lipids</a:t>
            </a:r>
            <a:endParaRPr lang="en-US" sz="1400" dirty="0"/>
          </a:p>
        </p:txBody>
      </p:sp>
      <p:sp>
        <p:nvSpPr>
          <p:cNvPr id="18" name="a46-line-123"/>
          <p:cNvSpPr/>
          <p:nvPr/>
        </p:nvSpPr>
        <p:spPr>
          <a:xfrm>
            <a:off x="7360920" y="5234940"/>
            <a:ext cx="384048" cy="0"/>
          </a:xfrm>
          <a:prstGeom prst="line">
            <a:avLst/>
          </a:prstGeom>
          <a:noFill/>
          <a:ln w="25400">
            <a:solidFill>
              <a:schemeClr val="accent5"/>
            </a:solidFill>
            <a:prstDash val="solid"/>
            <a:tailEnd type="triangle"/>
          </a:ln>
        </p:spPr>
      </p:sp>
      <p:sp>
        <p:nvSpPr>
          <p:cNvPr id="19" name="a47-card-124"/>
          <p:cNvSpPr/>
          <p:nvPr/>
        </p:nvSpPr>
        <p:spPr>
          <a:xfrm>
            <a:off x="7772400" y="4572000"/>
            <a:ext cx="3870655" cy="1325880"/>
          </a:xfrm>
          <a:prstGeom prst="roundRect">
            <a:avLst>
              <a:gd name="adj" fmla="val 8276"/>
            </a:avLst>
          </a:prstGeom>
          <a:solidFill>
            <a:schemeClr val="bg2"/>
          </a:solidFill>
          <a:ln/>
        </p:spPr>
      </p:sp>
      <p:sp>
        <p:nvSpPr>
          <p:cNvPr id="20" name="a47-dot-125"/>
          <p:cNvSpPr/>
          <p:nvPr/>
        </p:nvSpPr>
        <p:spPr>
          <a:xfrm>
            <a:off x="8001000" y="4800600"/>
            <a:ext cx="292608" cy="292608"/>
          </a:xfrm>
          <a:prstGeom prst="ellipse">
            <a:avLst/>
          </a:prstGeom>
          <a:solidFill>
            <a:schemeClr val="accent2"/>
          </a:solidFill>
          <a:ln/>
        </p:spPr>
      </p:sp>
      <p:sp>
        <p:nvSpPr>
          <p:cNvPr id="21" name="a47-text-126"/>
          <p:cNvSpPr txBox="1"/>
          <p:nvPr/>
        </p:nvSpPr>
        <p:spPr>
          <a:xfrm>
            <a:off x="8458200" y="4709160"/>
            <a:ext cx="3001975" cy="1051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Diabetes range</a:t>
            </a:r>
            <a:endParaRPr lang="en-US" sz="1400" dirty="0"/>
          </a:p>
          <a:p>
            <a:pPr indent="0" marL="0">
              <a:buNone/>
            </a:pPr>
            <a:r>
              <a:rPr lang="en-US" sz="1400" dirty="0">
                <a:solidFill>
                  <a:schemeClr val="tx1"/>
                </a:solidFill>
              </a:rPr>
              <a:t>Confirm; start treatment, education and complication screening</a:t>
            </a:r>
            <a:endParaRPr lang="en-US" sz="1400" dirty="0"/>
          </a:p>
        </p:txBody>
      </p:sp>
      <p:sp>
        <p:nvSpPr>
          <p:cNvPr id="22"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Synthesised from ADA Standards (Sections 2–3), IDF three-step model, NICE PH38 and WHO HEARTS-D.</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4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4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7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7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99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99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99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127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127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127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17"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Special populations</a:t>
            </a:r>
            <a:endParaRPr lang="en-US" sz="3400" dirty="0"/>
          </a:p>
        </p:txBody>
      </p:sp>
      <p:sp>
        <p:nvSpPr>
          <p:cNvPr id="3" name="a49-card-128"/>
          <p:cNvSpPr/>
          <p:nvPr/>
        </p:nvSpPr>
        <p:spPr>
          <a:xfrm>
            <a:off x="548640" y="1371600"/>
            <a:ext cx="5410048" cy="2194560"/>
          </a:xfrm>
          <a:prstGeom prst="roundRect">
            <a:avLst>
              <a:gd name="adj" fmla="val 5000"/>
            </a:avLst>
          </a:prstGeom>
          <a:solidFill>
            <a:schemeClr val="bg2"/>
          </a:solidFill>
          <a:ln/>
        </p:spPr>
      </p:sp>
      <p:sp>
        <p:nvSpPr>
          <p:cNvPr id="4" name="a49-icon-circle-129"/>
          <p:cNvSpPr/>
          <p:nvPr/>
        </p:nvSpPr>
        <p:spPr>
          <a:xfrm>
            <a:off x="822960" y="1645920"/>
            <a:ext cx="777240" cy="777240"/>
          </a:xfrm>
          <a:prstGeom prst="ellipse">
            <a:avLst/>
          </a:prstGeom>
          <a:solidFill>
            <a:schemeClr val="accent2"/>
          </a:solidFill>
          <a:ln/>
        </p:spPr>
      </p:sp>
      <p:pic>
        <p:nvPicPr>
          <p:cNvPr id="5" name="a49-icon-130" descr="preencoded.png">    </p:cNvPr>
          <p:cNvPicPr>
            <a:picLocks noChangeAspect="1"/>
          </p:cNvPicPr>
          <p:nvPr/>
        </p:nvPicPr>
        <p:blipFill>
          <a:blip r:embed="rId1"/>
          <a:stretch>
            <a:fillRect/>
          </a:stretch>
        </p:blipFill>
        <p:spPr>
          <a:xfrm>
            <a:off x="1017270" y="1840230"/>
            <a:ext cx="388620" cy="388620"/>
          </a:xfrm>
          <a:prstGeom prst="rect">
            <a:avLst/>
          </a:prstGeom>
        </p:spPr>
      </p:pic>
      <p:sp>
        <p:nvSpPr>
          <p:cNvPr id="6" name="a49-text-131"/>
          <p:cNvSpPr txBox="1"/>
          <p:nvPr/>
        </p:nvSpPr>
        <p:spPr>
          <a:xfrm>
            <a:off x="1828800"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Pregnancy</a:t>
            </a:r>
            <a:endParaRPr lang="en-US" sz="1400" dirty="0"/>
          </a:p>
          <a:p>
            <a:pPr indent="0" marL="0">
              <a:buNone/>
            </a:pPr>
            <a:r>
              <a:rPr lang="en-US" sz="1400" dirty="0">
                <a:solidFill>
                  <a:schemeClr val="tx1"/>
                </a:solidFill>
              </a:rPr>
              <a:t>Test early in pregnancy if at risk; 75 g OGTT at 24–28 weeks. WHO 2013 / IADPSG: FPG ≥5.1, 1-h ≥10.0, 2-h ≥8.5 mmol/L. OGTT 4–12 weeks postpartum, then lifelong screening.</a:t>
            </a:r>
            <a:endParaRPr lang="en-US" sz="1400" dirty="0"/>
          </a:p>
        </p:txBody>
      </p:sp>
      <p:sp>
        <p:nvSpPr>
          <p:cNvPr id="7" name="a50-card-132"/>
          <p:cNvSpPr/>
          <p:nvPr/>
        </p:nvSpPr>
        <p:spPr>
          <a:xfrm>
            <a:off x="6233008" y="1371600"/>
            <a:ext cx="5410048" cy="2194560"/>
          </a:xfrm>
          <a:prstGeom prst="roundRect">
            <a:avLst>
              <a:gd name="adj" fmla="val 5000"/>
            </a:avLst>
          </a:prstGeom>
          <a:solidFill>
            <a:schemeClr val="bg2"/>
          </a:solidFill>
          <a:ln/>
        </p:spPr>
      </p:sp>
      <p:sp>
        <p:nvSpPr>
          <p:cNvPr id="8" name="a50-icon-circle-133"/>
          <p:cNvSpPr/>
          <p:nvPr/>
        </p:nvSpPr>
        <p:spPr>
          <a:xfrm>
            <a:off x="6507328" y="1645920"/>
            <a:ext cx="777240" cy="777240"/>
          </a:xfrm>
          <a:prstGeom prst="ellipse">
            <a:avLst/>
          </a:prstGeom>
          <a:solidFill>
            <a:schemeClr val="accent6"/>
          </a:solidFill>
          <a:ln/>
        </p:spPr>
      </p:sp>
      <p:pic>
        <p:nvPicPr>
          <p:cNvPr id="9" name="a50-icon-134" descr="preencoded.png">    </p:cNvPr>
          <p:cNvPicPr>
            <a:picLocks noChangeAspect="1"/>
          </p:cNvPicPr>
          <p:nvPr/>
        </p:nvPicPr>
        <p:blipFill>
          <a:blip r:embed="rId2"/>
          <a:stretch>
            <a:fillRect/>
          </a:stretch>
        </p:blipFill>
        <p:spPr>
          <a:xfrm>
            <a:off x="6701638" y="1840230"/>
            <a:ext cx="388620" cy="388620"/>
          </a:xfrm>
          <a:prstGeom prst="rect">
            <a:avLst/>
          </a:prstGeom>
        </p:spPr>
      </p:pic>
      <p:sp>
        <p:nvSpPr>
          <p:cNvPr id="10" name="a50-text-135"/>
          <p:cNvSpPr txBox="1"/>
          <p:nvPr/>
        </p:nvSpPr>
        <p:spPr>
          <a:xfrm>
            <a:off x="7513168" y="164592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Type 1 diabetes</a:t>
            </a:r>
            <a:endParaRPr lang="en-US" sz="1400" dirty="0"/>
          </a:p>
          <a:p>
            <a:pPr indent="0" marL="0">
              <a:buNone/>
            </a:pPr>
            <a:r>
              <a:rPr lang="en-US" sz="1400" dirty="0">
                <a:solidFill>
                  <a:schemeClr val="tx1"/>
                </a:solidFill>
              </a:rPr>
              <a:t>Islet-autoantibody screening of relatives identifies stage 1 (≥2 antibodies, normoglycaemia) and stage 2 (dysglycaemia). Teplizumab delays stage 3 by ~2–3 years (age ≥8, stage 2).</a:t>
            </a:r>
            <a:endParaRPr lang="en-US" sz="1400" dirty="0"/>
          </a:p>
        </p:txBody>
      </p:sp>
      <p:sp>
        <p:nvSpPr>
          <p:cNvPr id="11" name="a51-card-136"/>
          <p:cNvSpPr/>
          <p:nvPr/>
        </p:nvSpPr>
        <p:spPr>
          <a:xfrm>
            <a:off x="548640" y="3840480"/>
            <a:ext cx="5410048" cy="2194560"/>
          </a:xfrm>
          <a:prstGeom prst="roundRect">
            <a:avLst>
              <a:gd name="adj" fmla="val 5000"/>
            </a:avLst>
          </a:prstGeom>
          <a:solidFill>
            <a:schemeClr val="bg2"/>
          </a:solidFill>
          <a:ln/>
        </p:spPr>
      </p:sp>
      <p:sp>
        <p:nvSpPr>
          <p:cNvPr id="12" name="a51-icon-circle-137"/>
          <p:cNvSpPr/>
          <p:nvPr/>
        </p:nvSpPr>
        <p:spPr>
          <a:xfrm>
            <a:off x="822960" y="4114800"/>
            <a:ext cx="777240" cy="777240"/>
          </a:xfrm>
          <a:prstGeom prst="ellipse">
            <a:avLst/>
          </a:prstGeom>
          <a:solidFill>
            <a:schemeClr val="accent1"/>
          </a:solidFill>
          <a:ln/>
        </p:spPr>
      </p:sp>
      <p:pic>
        <p:nvPicPr>
          <p:cNvPr id="13" name="a51-icon-138" descr="preencoded.png">    </p:cNvPr>
          <p:cNvPicPr>
            <a:picLocks noChangeAspect="1"/>
          </p:cNvPicPr>
          <p:nvPr/>
        </p:nvPicPr>
        <p:blipFill>
          <a:blip r:embed="rId3"/>
          <a:stretch>
            <a:fillRect/>
          </a:stretch>
        </p:blipFill>
        <p:spPr>
          <a:xfrm>
            <a:off x="1017270" y="4309110"/>
            <a:ext cx="388620" cy="388620"/>
          </a:xfrm>
          <a:prstGeom prst="rect">
            <a:avLst/>
          </a:prstGeom>
        </p:spPr>
      </p:pic>
      <p:sp>
        <p:nvSpPr>
          <p:cNvPr id="14" name="a51-text-139"/>
          <p:cNvSpPr txBox="1"/>
          <p:nvPr/>
        </p:nvSpPr>
        <p:spPr>
          <a:xfrm>
            <a:off x="1828800"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Children &amp; adolescents</a:t>
            </a:r>
            <a:endParaRPr lang="en-US" sz="1400" dirty="0"/>
          </a:p>
          <a:p>
            <a:pPr indent="0" marL="0">
              <a:buNone/>
            </a:pPr>
            <a:r>
              <a:rPr lang="en-US" sz="1400" dirty="0">
                <a:solidFill>
                  <a:schemeClr val="tx1"/>
                </a:solidFill>
              </a:rPr>
              <a:t>ADA: from age 10 or puberty if BMI ≥85th centile plus ≥1 risk factor (family history, ethnicity, maternal GDM, insulin resistance); repeat at least every 3 years.</a:t>
            </a:r>
            <a:endParaRPr lang="en-US" sz="1400" dirty="0"/>
          </a:p>
        </p:txBody>
      </p:sp>
      <p:sp>
        <p:nvSpPr>
          <p:cNvPr id="15" name="a52-card-140"/>
          <p:cNvSpPr/>
          <p:nvPr/>
        </p:nvSpPr>
        <p:spPr>
          <a:xfrm>
            <a:off x="6233008" y="3840480"/>
            <a:ext cx="5410048" cy="2194560"/>
          </a:xfrm>
          <a:prstGeom prst="roundRect">
            <a:avLst>
              <a:gd name="adj" fmla="val 5000"/>
            </a:avLst>
          </a:prstGeom>
          <a:solidFill>
            <a:schemeClr val="bg2"/>
          </a:solidFill>
          <a:ln/>
        </p:spPr>
      </p:sp>
      <p:sp>
        <p:nvSpPr>
          <p:cNvPr id="16" name="a52-icon-circle-141"/>
          <p:cNvSpPr/>
          <p:nvPr/>
        </p:nvSpPr>
        <p:spPr>
          <a:xfrm>
            <a:off x="6507328" y="4114800"/>
            <a:ext cx="777240" cy="777240"/>
          </a:xfrm>
          <a:prstGeom prst="ellipse">
            <a:avLst/>
          </a:prstGeom>
          <a:solidFill>
            <a:schemeClr val="accent3"/>
          </a:solidFill>
          <a:ln/>
        </p:spPr>
      </p:sp>
      <p:pic>
        <p:nvPicPr>
          <p:cNvPr id="17" name="a52-icon-142" descr="preencoded.png">    </p:cNvPr>
          <p:cNvPicPr>
            <a:picLocks noChangeAspect="1"/>
          </p:cNvPicPr>
          <p:nvPr/>
        </p:nvPicPr>
        <p:blipFill>
          <a:blip r:embed="rId4"/>
          <a:stretch>
            <a:fillRect/>
          </a:stretch>
        </p:blipFill>
        <p:spPr>
          <a:xfrm>
            <a:off x="6701638" y="4309110"/>
            <a:ext cx="388620" cy="388620"/>
          </a:xfrm>
          <a:prstGeom prst="rect">
            <a:avLst/>
          </a:prstGeom>
        </p:spPr>
      </p:pic>
      <p:sp>
        <p:nvSpPr>
          <p:cNvPr id="18" name="a52-text-143"/>
          <p:cNvSpPr txBox="1"/>
          <p:nvPr/>
        </p:nvSpPr>
        <p:spPr>
          <a:xfrm>
            <a:off x="7513168" y="4114800"/>
            <a:ext cx="3855568" cy="173736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South Asian &amp; other high-risk groups</a:t>
            </a:r>
            <a:endParaRPr lang="en-US" sz="1400" dirty="0"/>
          </a:p>
          <a:p>
            <a:pPr indent="0" marL="0">
              <a:buNone/>
            </a:pPr>
            <a:r>
              <a:rPr lang="en-US" sz="1400" dirty="0">
                <a:solidFill>
                  <a:schemeClr val="tx1"/>
                </a:solidFill>
              </a:rPr>
              <a:t>Diabetes develops ~10 years earlier at lower BMI. Action points: BMI ≥23 kg/m²; waist ≥90 cm (men) / ≥80 cm (women) (IDF). NICE: assess from age 25.</a:t>
            </a:r>
            <a:endParaRPr lang="en-US" sz="1400" dirty="0"/>
          </a:p>
        </p:txBody>
      </p:sp>
      <p:sp>
        <p:nvSpPr>
          <p:cNvPr id="19"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Sections 2, 14, 15; WHO 2013 hyperglycaemia in pregnancy; 2024 consensus on islet-autoantibody-positive individuals; IDF ethnic waist criteria; NICE PH38.</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4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7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7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99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99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99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PART 2</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Prevention</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Trial evidence, lifestyle, medicines and population policy</a:t>
            </a:r>
            <a:endParaRPr lang="en-US" sz="18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Prevention works: landmark trial evidence</a:t>
            </a:r>
            <a:endParaRPr lang="en-US" sz="3400" dirty="0"/>
          </a:p>
        </p:txBody>
      </p:sp>
      <p:graphicFrame>
        <p:nvGraphicFramePr>
          <p:cNvPr id="3" name="a54-chart-145" descr=""/>
          <p:cNvGraphicFramePr/>
          <p:nvPr/>
        </p:nvGraphicFramePr>
        <p:xfrm>
          <a:off x="548640" y="128016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4" name="a54-legend-146"/>
          <p:cNvSpPr/>
          <p:nvPr/>
        </p:nvSpPr>
        <p:spPr>
          <a:xfrm>
            <a:off x="8092440" y="1417320"/>
            <a:ext cx="201168" cy="201168"/>
          </a:xfrm>
          <a:prstGeom prst="rect">
            <a:avLst/>
          </a:prstGeom>
          <a:solidFill>
            <a:schemeClr val="accent3"/>
          </a:solidFill>
          <a:ln/>
        </p:spPr>
      </p:sp>
      <p:sp>
        <p:nvSpPr>
          <p:cNvPr id="5" name="a54-text-147"/>
          <p:cNvSpPr txBox="1"/>
          <p:nvPr/>
        </p:nvSpPr>
        <p:spPr>
          <a:xfrm>
            <a:off x="8366760" y="1371600"/>
            <a:ext cx="1188720" cy="292608"/>
          </a:xfrm>
          <a:prstGeom prst="rect">
            <a:avLst/>
          </a:prstGeom>
          <a:noFill/>
          <a:ln/>
        </p:spPr>
        <p:txBody>
          <a:bodyPr wrap="square" lIns="0" tIns="0" rIns="0" bIns="0" rtlCol="0" anchor="ctr"/>
          <a:lstStyle/>
          <a:p>
            <a:pPr indent="0" marL="0">
              <a:buNone/>
            </a:pPr>
            <a:r>
              <a:rPr lang="en-US" sz="1300" dirty="0">
                <a:solidFill>
                  <a:schemeClr val="tx1"/>
                </a:solidFill>
              </a:rPr>
              <a:t>Lifestyle</a:t>
            </a:r>
            <a:endParaRPr lang="en-US" sz="1300" dirty="0"/>
          </a:p>
        </p:txBody>
      </p:sp>
      <p:sp>
        <p:nvSpPr>
          <p:cNvPr id="6" name="a54-legend-148"/>
          <p:cNvSpPr/>
          <p:nvPr/>
        </p:nvSpPr>
        <p:spPr>
          <a:xfrm>
            <a:off x="9601200" y="1417320"/>
            <a:ext cx="201168" cy="201168"/>
          </a:xfrm>
          <a:prstGeom prst="rect">
            <a:avLst/>
          </a:prstGeom>
          <a:solidFill>
            <a:schemeClr val="accent1"/>
          </a:solidFill>
          <a:ln/>
        </p:spPr>
      </p:sp>
      <p:sp>
        <p:nvSpPr>
          <p:cNvPr id="7" name="a54-text-149"/>
          <p:cNvSpPr txBox="1"/>
          <p:nvPr/>
        </p:nvSpPr>
        <p:spPr>
          <a:xfrm>
            <a:off x="9875520" y="1371600"/>
            <a:ext cx="1737360" cy="292608"/>
          </a:xfrm>
          <a:prstGeom prst="rect">
            <a:avLst/>
          </a:prstGeom>
          <a:noFill/>
          <a:ln/>
        </p:spPr>
        <p:txBody>
          <a:bodyPr wrap="square" lIns="0" tIns="0" rIns="0" bIns="0" rtlCol="0" anchor="ctr"/>
          <a:lstStyle/>
          <a:p>
            <a:pPr indent="0" marL="0">
              <a:buNone/>
            </a:pPr>
            <a:r>
              <a:rPr lang="en-US" sz="1300" dirty="0">
                <a:solidFill>
                  <a:schemeClr val="tx1"/>
                </a:solidFill>
              </a:rPr>
              <a:t>Pharmacological</a:t>
            </a:r>
            <a:endParaRPr lang="en-US" sz="1300" dirty="0"/>
          </a:p>
        </p:txBody>
      </p:sp>
      <p:sp>
        <p:nvSpPr>
          <p:cNvPr id="8" name="a55-icon-circle-150"/>
          <p:cNvSpPr/>
          <p:nvPr/>
        </p:nvSpPr>
        <p:spPr>
          <a:xfrm>
            <a:off x="8092440" y="1874520"/>
            <a:ext cx="640080" cy="640080"/>
          </a:xfrm>
          <a:prstGeom prst="ellipse">
            <a:avLst/>
          </a:prstGeom>
          <a:solidFill>
            <a:schemeClr val="accent3"/>
          </a:solidFill>
          <a:ln/>
        </p:spPr>
      </p:sp>
      <p:pic>
        <p:nvPicPr>
          <p:cNvPr id="9" name="a55-icon-151" descr="preencoded.png">    </p:cNvPr>
          <p:cNvPicPr>
            <a:picLocks noChangeAspect="1"/>
          </p:cNvPicPr>
          <p:nvPr/>
        </p:nvPicPr>
        <p:blipFill>
          <a:blip r:embed="rId2"/>
          <a:stretch>
            <a:fillRect/>
          </a:stretch>
        </p:blipFill>
        <p:spPr>
          <a:xfrm>
            <a:off x="8252460" y="2034540"/>
            <a:ext cx="320040" cy="320040"/>
          </a:xfrm>
          <a:prstGeom prst="rect">
            <a:avLst/>
          </a:prstGeom>
        </p:spPr>
      </p:pic>
      <p:sp>
        <p:nvSpPr>
          <p:cNvPr id="10" name="a55-text-152"/>
          <p:cNvSpPr txBox="1"/>
          <p:nvPr/>
        </p:nvSpPr>
        <p:spPr>
          <a:xfrm>
            <a:off x="8915400" y="1828800"/>
            <a:ext cx="2697480" cy="123444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Lifestyle roughly halves risk</a:t>
            </a:r>
            <a:endParaRPr lang="en-US" sz="1400" dirty="0"/>
          </a:p>
          <a:p>
            <a:pPr indent="0" marL="0">
              <a:buNone/>
            </a:pPr>
            <a:r>
              <a:rPr lang="en-US" sz="1400" dirty="0">
                <a:solidFill>
                  <a:schemeClr val="tx1"/>
                </a:solidFill>
              </a:rPr>
              <a:t>Benefit tracks weight loss: each 1 kg lost ≈ 16% lower risk (DPP).</a:t>
            </a:r>
            <a:endParaRPr lang="en-US" sz="1400" dirty="0"/>
          </a:p>
        </p:txBody>
      </p:sp>
      <p:sp>
        <p:nvSpPr>
          <p:cNvPr id="11" name="a56-icon-circle-153"/>
          <p:cNvSpPr/>
          <p:nvPr/>
        </p:nvSpPr>
        <p:spPr>
          <a:xfrm>
            <a:off x="8092440" y="3246120"/>
            <a:ext cx="640080" cy="640080"/>
          </a:xfrm>
          <a:prstGeom prst="ellipse">
            <a:avLst/>
          </a:prstGeom>
          <a:solidFill>
            <a:schemeClr val="accent1"/>
          </a:solidFill>
          <a:ln/>
        </p:spPr>
      </p:sp>
      <p:pic>
        <p:nvPicPr>
          <p:cNvPr id="12" name="a56-icon-154" descr="preencoded.png">    </p:cNvPr>
          <p:cNvPicPr>
            <a:picLocks noChangeAspect="1"/>
          </p:cNvPicPr>
          <p:nvPr/>
        </p:nvPicPr>
        <p:blipFill>
          <a:blip r:embed="rId3"/>
          <a:stretch>
            <a:fillRect/>
          </a:stretch>
        </p:blipFill>
        <p:spPr>
          <a:xfrm>
            <a:off x="8252460" y="3406140"/>
            <a:ext cx="320040" cy="320040"/>
          </a:xfrm>
          <a:prstGeom prst="rect">
            <a:avLst/>
          </a:prstGeom>
        </p:spPr>
      </p:pic>
      <p:sp>
        <p:nvSpPr>
          <p:cNvPr id="13" name="a56-text-155"/>
          <p:cNvSpPr txBox="1"/>
          <p:nvPr/>
        </p:nvSpPr>
        <p:spPr>
          <a:xfrm>
            <a:off x="8915400" y="3200400"/>
            <a:ext cx="2697480" cy="123444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Metformin ≈ one-third</a:t>
            </a:r>
            <a:endParaRPr lang="en-US" sz="1400" dirty="0"/>
          </a:p>
          <a:p>
            <a:pPr indent="0" marL="0">
              <a:buNone/>
            </a:pPr>
            <a:r>
              <a:rPr lang="en-US" sz="1400" dirty="0">
                <a:solidFill>
                  <a:schemeClr val="tx1"/>
                </a:solidFill>
              </a:rPr>
              <a:t>Greatest effect with BMI ≥35, age &lt;60 and prior GDM.</a:t>
            </a:r>
            <a:endParaRPr lang="en-US" sz="1400" dirty="0"/>
          </a:p>
        </p:txBody>
      </p:sp>
      <p:sp>
        <p:nvSpPr>
          <p:cNvPr id="14" name="a57-icon-circle-156"/>
          <p:cNvSpPr/>
          <p:nvPr/>
        </p:nvSpPr>
        <p:spPr>
          <a:xfrm>
            <a:off x="8092440" y="4617720"/>
            <a:ext cx="640080" cy="640080"/>
          </a:xfrm>
          <a:prstGeom prst="ellipse">
            <a:avLst/>
          </a:prstGeom>
          <a:solidFill>
            <a:schemeClr val="accent2"/>
          </a:solidFill>
          <a:ln/>
        </p:spPr>
      </p:sp>
      <p:pic>
        <p:nvPicPr>
          <p:cNvPr id="15" name="a57-icon-157" descr="preencoded.png">    </p:cNvPr>
          <p:cNvPicPr>
            <a:picLocks noChangeAspect="1"/>
          </p:cNvPicPr>
          <p:nvPr/>
        </p:nvPicPr>
        <p:blipFill>
          <a:blip r:embed="rId4"/>
          <a:stretch>
            <a:fillRect/>
          </a:stretch>
        </p:blipFill>
        <p:spPr>
          <a:xfrm>
            <a:off x="8252460" y="4777740"/>
            <a:ext cx="320040" cy="320040"/>
          </a:xfrm>
          <a:prstGeom prst="rect">
            <a:avLst/>
          </a:prstGeom>
        </p:spPr>
      </p:pic>
      <p:sp>
        <p:nvSpPr>
          <p:cNvPr id="16" name="a57-text-158"/>
          <p:cNvSpPr txBox="1"/>
          <p:nvPr/>
        </p:nvSpPr>
        <p:spPr>
          <a:xfrm>
            <a:off x="8915400" y="4572000"/>
            <a:ext cx="2697480" cy="123444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Incretin drugs: largest effect</a:t>
            </a:r>
            <a:endParaRPr lang="en-US" sz="1400" dirty="0"/>
          </a:p>
          <a:p>
            <a:pPr indent="0" marL="0">
              <a:buNone/>
            </a:pPr>
            <a:r>
              <a:rPr lang="en-US" sz="1400" dirty="0">
                <a:solidFill>
                  <a:schemeClr val="tx1"/>
                </a:solidFill>
              </a:rPr>
              <a:t>Driven by weight loss; benefit wanes after stopping.</a:t>
            </a:r>
            <a:endParaRPr lang="en-US" sz="1400" dirty="0"/>
          </a:p>
        </p:txBody>
      </p:sp>
      <p:sp>
        <p:nvSpPr>
          <p:cNvPr id="17"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Trials differ in population, duration and design; not head-to-head. DPP NEJM 2002; DPS NEJM 2001; Da Qing Lancet 2008; IDPP Diabetologia 2006; SURMOUNT-1 NEJM 2025.</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cond evt="onBegin" delay="0">
                          <p:tn val="2"/>
                        </p:cond>
                      </p:stCondLst>
                      <p:childTnLst>
                        <p:par>
                          <p:cTn id="46" fill="hold">
                            <p:stCondLst>
                              <p:cond delay="0"/>
                            </p:stCondLst>
                            <p:childTnLst>
                              <p:par>
                                <p:cTn id="3" presetID="22" presetClass="entr" presetSubtype="8"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71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7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99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99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99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5" grpId="0" animBg="1"/>
      <p:bldP spid="7" grpId="0" animBg="1"/>
      <p:bldP spid="10" grpId="0" animBg="1"/>
      <p:bldP spid="13"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Benefits last for decades: the legacy effect</a:t>
            </a:r>
            <a:endParaRPr lang="en-US" sz="3400" dirty="0"/>
          </a:p>
        </p:txBody>
      </p:sp>
      <p:sp>
        <p:nvSpPr>
          <p:cNvPr id="3" name="a59-card-160"/>
          <p:cNvSpPr/>
          <p:nvPr/>
        </p:nvSpPr>
        <p:spPr>
          <a:xfrm>
            <a:off x="548640" y="1371600"/>
            <a:ext cx="3515258" cy="3794760"/>
          </a:xfrm>
          <a:prstGeom prst="roundRect">
            <a:avLst>
              <a:gd name="adj" fmla="val 3121"/>
            </a:avLst>
          </a:prstGeom>
          <a:solidFill>
            <a:schemeClr val="bg2"/>
          </a:solidFill>
          <a:ln/>
        </p:spPr>
      </p:sp>
      <p:sp>
        <p:nvSpPr>
          <p:cNvPr id="4" name="a59-text-161"/>
          <p:cNvSpPr txBox="1"/>
          <p:nvPr/>
        </p:nvSpPr>
        <p:spPr>
          <a:xfrm>
            <a:off x="822960" y="1554480"/>
            <a:ext cx="2966618" cy="685800"/>
          </a:xfrm>
          <a:prstGeom prst="rect">
            <a:avLst/>
          </a:prstGeom>
          <a:noFill/>
          <a:ln/>
        </p:spPr>
        <p:txBody>
          <a:bodyPr wrap="square" lIns="0" tIns="0" rIns="0" bIns="0" rtlCol="0" anchor="t"/>
          <a:lstStyle/>
          <a:p>
            <a:pPr indent="0" marL="0">
              <a:buNone/>
            </a:pPr>
            <a:r>
              <a:rPr lang="en-US" sz="1800" b="1" dirty="0">
                <a:solidFill>
                  <a:schemeClr val="tx1"/>
                </a:solidFill>
              </a:rPr>
              <a:t>Da Qing, China</a:t>
            </a:r>
            <a:endParaRPr lang="en-US" sz="1400" dirty="0"/>
          </a:p>
          <a:p>
            <a:pPr indent="0" marL="0">
              <a:buNone/>
            </a:pPr>
            <a:r>
              <a:rPr lang="en-US" sz="1400" dirty="0">
                <a:solidFill>
                  <a:schemeClr val="accent5"/>
                </a:solidFill>
              </a:rPr>
              <a:t>30-year follow-up</a:t>
            </a:r>
            <a:endParaRPr lang="en-US" sz="1400" dirty="0"/>
          </a:p>
        </p:txBody>
      </p:sp>
      <p:sp>
        <p:nvSpPr>
          <p:cNvPr id="5" name="a59-text-162"/>
          <p:cNvSpPr txBox="1"/>
          <p:nvPr/>
        </p:nvSpPr>
        <p:spPr>
          <a:xfrm>
            <a:off x="822960" y="2240280"/>
            <a:ext cx="2966618" cy="77724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39%</a:t>
            </a:r>
            <a:endParaRPr lang="en-US" sz="5400" dirty="0"/>
          </a:p>
        </p:txBody>
      </p:sp>
      <p:sp>
        <p:nvSpPr>
          <p:cNvPr id="6" name="a59-text-163"/>
          <p:cNvSpPr txBox="1"/>
          <p:nvPr/>
        </p:nvSpPr>
        <p:spPr>
          <a:xfrm>
            <a:off x="822960" y="3017520"/>
            <a:ext cx="2966618" cy="320040"/>
          </a:xfrm>
          <a:prstGeom prst="rect">
            <a:avLst/>
          </a:prstGeom>
          <a:noFill/>
          <a:ln/>
        </p:spPr>
        <p:txBody>
          <a:bodyPr wrap="square" lIns="0" tIns="0" rIns="0" bIns="0" rtlCol="0" anchor="t"/>
          <a:lstStyle/>
          <a:p>
            <a:pPr indent="0" marL="0">
              <a:buNone/>
            </a:pPr>
            <a:r>
              <a:rPr lang="en-US" sz="1500" b="1" dirty="0">
                <a:solidFill>
                  <a:schemeClr val="tx2"/>
                </a:solidFill>
              </a:rPr>
              <a:t>less diabetes</a:t>
            </a:r>
            <a:endParaRPr lang="en-US" sz="1500" dirty="0"/>
          </a:p>
        </p:txBody>
      </p:sp>
      <p:sp>
        <p:nvSpPr>
          <p:cNvPr id="7" name="a59-text-164"/>
          <p:cNvSpPr txBox="1"/>
          <p:nvPr/>
        </p:nvSpPr>
        <p:spPr>
          <a:xfrm>
            <a:off x="822960" y="3474720"/>
            <a:ext cx="2966618"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CVD events −26%</a:t>
            </a:r>
            <a:endParaRPr lang="en-US" sz="1400" dirty="0"/>
          </a:p>
          <a:p>
            <a:pPr marL="177800" indent="-177800">
              <a:spcAft>
                <a:spcPts val="500"/>
              </a:spcAft>
              <a:buSzPct val="100000"/>
              <a:buChar char="•"/>
            </a:pPr>
            <a:r>
              <a:rPr lang="en-US" sz="1400" dirty="0">
                <a:solidFill>
                  <a:schemeClr val="tx1"/>
                </a:solidFill>
              </a:rPr>
              <a:t>All-cause mortality −26%</a:t>
            </a:r>
            <a:endParaRPr lang="en-US" sz="1400" dirty="0"/>
          </a:p>
          <a:p>
            <a:pPr marL="177800" indent="-177800">
              <a:spcAft>
                <a:spcPts val="500"/>
              </a:spcAft>
              <a:buSzPct val="100000"/>
              <a:buChar char="•"/>
            </a:pPr>
            <a:r>
              <a:rPr lang="en-US" sz="1400" dirty="0">
                <a:solidFill>
                  <a:schemeClr val="tx1"/>
                </a:solidFill>
              </a:rPr>
              <a:t>Life expectancy +1.4 years</a:t>
            </a:r>
            <a:endParaRPr lang="en-US" sz="1400" dirty="0"/>
          </a:p>
          <a:p>
            <a:pPr marL="177800" indent="-177800">
              <a:spcAft>
                <a:spcPts val="500"/>
              </a:spcAft>
              <a:buSzPct val="100000"/>
              <a:buChar char="•"/>
            </a:pPr>
            <a:r>
              <a:rPr lang="en-US" sz="1400" dirty="0">
                <a:solidFill>
                  <a:schemeClr val="tx1"/>
                </a:solidFill>
              </a:rPr>
              <a:t>Diabetes onset delayed ~4 years</a:t>
            </a:r>
            <a:endParaRPr lang="en-US" sz="1400" dirty="0"/>
          </a:p>
        </p:txBody>
      </p:sp>
      <p:sp>
        <p:nvSpPr>
          <p:cNvPr id="8" name="a60-card-165"/>
          <p:cNvSpPr/>
          <p:nvPr/>
        </p:nvSpPr>
        <p:spPr>
          <a:xfrm>
            <a:off x="4338218" y="1371600"/>
            <a:ext cx="3515258" cy="3794760"/>
          </a:xfrm>
          <a:prstGeom prst="roundRect">
            <a:avLst>
              <a:gd name="adj" fmla="val 3121"/>
            </a:avLst>
          </a:prstGeom>
          <a:solidFill>
            <a:schemeClr val="bg2"/>
          </a:solidFill>
          <a:ln/>
        </p:spPr>
      </p:sp>
      <p:sp>
        <p:nvSpPr>
          <p:cNvPr id="9" name="a60-text-166"/>
          <p:cNvSpPr txBox="1"/>
          <p:nvPr/>
        </p:nvSpPr>
        <p:spPr>
          <a:xfrm>
            <a:off x="4612538" y="1554480"/>
            <a:ext cx="2966618" cy="685800"/>
          </a:xfrm>
          <a:prstGeom prst="rect">
            <a:avLst/>
          </a:prstGeom>
          <a:noFill/>
          <a:ln/>
        </p:spPr>
        <p:txBody>
          <a:bodyPr wrap="square" lIns="0" tIns="0" rIns="0" bIns="0" rtlCol="0" anchor="t"/>
          <a:lstStyle/>
          <a:p>
            <a:pPr indent="0" marL="0">
              <a:buNone/>
            </a:pPr>
            <a:r>
              <a:rPr lang="en-US" sz="1800" b="1" dirty="0">
                <a:solidFill>
                  <a:schemeClr val="tx1"/>
                </a:solidFill>
              </a:rPr>
              <a:t>DPPOS, USA</a:t>
            </a:r>
            <a:endParaRPr lang="en-US" sz="1400" dirty="0"/>
          </a:p>
          <a:p>
            <a:pPr indent="0" marL="0">
              <a:buNone/>
            </a:pPr>
            <a:r>
              <a:rPr lang="en-US" sz="1400" dirty="0">
                <a:solidFill>
                  <a:schemeClr val="accent5"/>
                </a:solidFill>
              </a:rPr>
              <a:t>15-year follow-up</a:t>
            </a:r>
            <a:endParaRPr lang="en-US" sz="1400" dirty="0"/>
          </a:p>
        </p:txBody>
      </p:sp>
      <p:sp>
        <p:nvSpPr>
          <p:cNvPr id="10" name="a60-text-167"/>
          <p:cNvSpPr txBox="1"/>
          <p:nvPr/>
        </p:nvSpPr>
        <p:spPr>
          <a:xfrm>
            <a:off x="4612538" y="2240280"/>
            <a:ext cx="2966618" cy="7772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27%</a:t>
            </a:r>
            <a:endParaRPr lang="en-US" sz="5400" dirty="0"/>
          </a:p>
        </p:txBody>
      </p:sp>
      <p:sp>
        <p:nvSpPr>
          <p:cNvPr id="11" name="a60-text-168"/>
          <p:cNvSpPr txBox="1"/>
          <p:nvPr/>
        </p:nvSpPr>
        <p:spPr>
          <a:xfrm>
            <a:off x="4612538" y="3017520"/>
            <a:ext cx="2966618" cy="320040"/>
          </a:xfrm>
          <a:prstGeom prst="rect">
            <a:avLst/>
          </a:prstGeom>
          <a:noFill/>
          <a:ln/>
        </p:spPr>
        <p:txBody>
          <a:bodyPr wrap="square" lIns="0" tIns="0" rIns="0" bIns="0" rtlCol="0" anchor="t"/>
          <a:lstStyle/>
          <a:p>
            <a:pPr indent="0" marL="0">
              <a:buNone/>
            </a:pPr>
            <a:r>
              <a:rPr lang="en-US" sz="1500" b="1" dirty="0">
                <a:solidFill>
                  <a:schemeClr val="tx2"/>
                </a:solidFill>
              </a:rPr>
              <a:t>less diabetes (lifestyle)</a:t>
            </a:r>
            <a:endParaRPr lang="en-US" sz="1500" dirty="0"/>
          </a:p>
        </p:txBody>
      </p:sp>
      <p:sp>
        <p:nvSpPr>
          <p:cNvPr id="12" name="a60-text-169"/>
          <p:cNvSpPr txBox="1"/>
          <p:nvPr/>
        </p:nvSpPr>
        <p:spPr>
          <a:xfrm>
            <a:off x="4612538" y="3474720"/>
            <a:ext cx="2966618"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Metformin: 18% reduction</a:t>
            </a:r>
            <a:endParaRPr lang="en-US" sz="1400" dirty="0"/>
          </a:p>
          <a:p>
            <a:pPr marL="177800" indent="-177800">
              <a:spcAft>
                <a:spcPts val="500"/>
              </a:spcAft>
              <a:buSzPct val="100000"/>
              <a:buChar char="•"/>
            </a:pPr>
            <a:r>
              <a:rPr lang="en-US" sz="1400" dirty="0">
                <a:solidFill>
                  <a:schemeClr val="tx1"/>
                </a:solidFill>
              </a:rPr>
              <a:t>Benefit persisted after intervention ended</a:t>
            </a:r>
            <a:endParaRPr lang="en-US" sz="1400" dirty="0"/>
          </a:p>
          <a:p>
            <a:pPr marL="177800" indent="-177800">
              <a:spcAft>
                <a:spcPts val="500"/>
              </a:spcAft>
              <a:buSzPct val="100000"/>
              <a:buChar char="•"/>
            </a:pPr>
            <a:r>
              <a:rPr lang="en-US" sz="1400" dirty="0">
                <a:solidFill>
                  <a:schemeClr val="tx1"/>
                </a:solidFill>
              </a:rPr>
              <a:t>Metformin cost-saving over time</a:t>
            </a:r>
            <a:endParaRPr lang="en-US" sz="1400" dirty="0"/>
          </a:p>
        </p:txBody>
      </p:sp>
      <p:sp>
        <p:nvSpPr>
          <p:cNvPr id="13" name="a61-card-170"/>
          <p:cNvSpPr/>
          <p:nvPr/>
        </p:nvSpPr>
        <p:spPr>
          <a:xfrm>
            <a:off x="8127797" y="1371600"/>
            <a:ext cx="3515258" cy="3794760"/>
          </a:xfrm>
          <a:prstGeom prst="roundRect">
            <a:avLst>
              <a:gd name="adj" fmla="val 3121"/>
            </a:avLst>
          </a:prstGeom>
          <a:solidFill>
            <a:schemeClr val="bg2"/>
          </a:solidFill>
          <a:ln/>
        </p:spPr>
      </p:sp>
      <p:sp>
        <p:nvSpPr>
          <p:cNvPr id="14" name="a61-text-171"/>
          <p:cNvSpPr txBox="1"/>
          <p:nvPr/>
        </p:nvSpPr>
        <p:spPr>
          <a:xfrm>
            <a:off x="8402117" y="1554480"/>
            <a:ext cx="2966618" cy="685800"/>
          </a:xfrm>
          <a:prstGeom prst="rect">
            <a:avLst/>
          </a:prstGeom>
          <a:noFill/>
          <a:ln/>
        </p:spPr>
        <p:txBody>
          <a:bodyPr wrap="square" lIns="0" tIns="0" rIns="0" bIns="0" rtlCol="0" anchor="t"/>
          <a:lstStyle/>
          <a:p>
            <a:pPr indent="0" marL="0">
              <a:buNone/>
            </a:pPr>
            <a:r>
              <a:rPr lang="en-US" sz="1800" b="1" dirty="0">
                <a:solidFill>
                  <a:schemeClr val="tx1"/>
                </a:solidFill>
              </a:rPr>
              <a:t>Finnish DPS</a:t>
            </a:r>
            <a:endParaRPr lang="en-US" sz="1400" dirty="0"/>
          </a:p>
          <a:p>
            <a:pPr indent="0" marL="0">
              <a:buNone/>
            </a:pPr>
            <a:r>
              <a:rPr lang="en-US" sz="1400" dirty="0">
                <a:solidFill>
                  <a:schemeClr val="accent5"/>
                </a:solidFill>
              </a:rPr>
              <a:t>7-year follow-up</a:t>
            </a:r>
            <a:endParaRPr lang="en-US" sz="1400" dirty="0"/>
          </a:p>
        </p:txBody>
      </p:sp>
      <p:sp>
        <p:nvSpPr>
          <p:cNvPr id="15" name="a61-text-172"/>
          <p:cNvSpPr txBox="1"/>
          <p:nvPr/>
        </p:nvSpPr>
        <p:spPr>
          <a:xfrm>
            <a:off x="8402117" y="2240280"/>
            <a:ext cx="2966618" cy="777240"/>
          </a:xfrm>
          <a:prstGeom prst="rect">
            <a:avLst/>
          </a:prstGeom>
          <a:noFill/>
          <a:ln/>
        </p:spPr>
        <p:txBody>
          <a:bodyPr wrap="square" lIns="0" tIns="0" rIns="0" bIns="0" rtlCol="0" anchor="ctr"/>
          <a:lstStyle/>
          <a:p>
            <a:pPr indent="0" marL="0">
              <a:buNone/>
            </a:pPr>
            <a:r>
              <a:rPr lang="en-US" sz="5400" b="1" dirty="0">
                <a:solidFill>
                  <a:schemeClr val="accent6"/>
                </a:solidFill>
                <a:latin typeface="Cambria" pitchFamily="34" charset="0"/>
                <a:ea typeface="Cambria" pitchFamily="34" charset="-122"/>
                <a:cs typeface="Cambria" pitchFamily="34" charset="-120"/>
              </a:rPr>
              <a:t>43%</a:t>
            </a:r>
            <a:endParaRPr lang="en-US" sz="5400" dirty="0"/>
          </a:p>
        </p:txBody>
      </p:sp>
      <p:sp>
        <p:nvSpPr>
          <p:cNvPr id="16" name="a61-text-173"/>
          <p:cNvSpPr txBox="1"/>
          <p:nvPr/>
        </p:nvSpPr>
        <p:spPr>
          <a:xfrm>
            <a:off x="8402117" y="3017520"/>
            <a:ext cx="2966618" cy="320040"/>
          </a:xfrm>
          <a:prstGeom prst="rect">
            <a:avLst/>
          </a:prstGeom>
          <a:noFill/>
          <a:ln/>
        </p:spPr>
        <p:txBody>
          <a:bodyPr wrap="square" lIns="0" tIns="0" rIns="0" bIns="0" rtlCol="0" anchor="t"/>
          <a:lstStyle/>
          <a:p>
            <a:pPr indent="0" marL="0">
              <a:buNone/>
            </a:pPr>
            <a:r>
              <a:rPr lang="en-US" sz="1500" b="1" dirty="0">
                <a:solidFill>
                  <a:schemeClr val="tx2"/>
                </a:solidFill>
              </a:rPr>
              <a:t>less diabetes</a:t>
            </a:r>
            <a:endParaRPr lang="en-US" sz="1500" dirty="0"/>
          </a:p>
        </p:txBody>
      </p:sp>
      <p:sp>
        <p:nvSpPr>
          <p:cNvPr id="17" name="a61-text-174"/>
          <p:cNvSpPr txBox="1"/>
          <p:nvPr/>
        </p:nvSpPr>
        <p:spPr>
          <a:xfrm>
            <a:off x="8402117" y="3474720"/>
            <a:ext cx="2966618"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Sustained after counselling stopped</a:t>
            </a:r>
            <a:endParaRPr lang="en-US" sz="1400" dirty="0"/>
          </a:p>
          <a:p>
            <a:pPr marL="177800" indent="-177800">
              <a:spcAft>
                <a:spcPts val="500"/>
              </a:spcAft>
              <a:buSzPct val="100000"/>
              <a:buChar char="•"/>
            </a:pPr>
            <a:r>
              <a:rPr lang="en-US" sz="1400" dirty="0">
                <a:solidFill>
                  <a:schemeClr val="tx1"/>
                </a:solidFill>
              </a:rPr>
              <a:t>Benefit proportional to goals achieved</a:t>
            </a:r>
            <a:endParaRPr lang="en-US" sz="1400" dirty="0"/>
          </a:p>
          <a:p>
            <a:pPr marL="177800" indent="-177800">
              <a:spcAft>
                <a:spcPts val="500"/>
              </a:spcAft>
              <a:buSzPct val="100000"/>
              <a:buChar char="•"/>
            </a:pPr>
            <a:r>
              <a:rPr lang="en-US" sz="1400" dirty="0">
                <a:solidFill>
                  <a:schemeClr val="tx1"/>
                </a:solidFill>
              </a:rPr>
              <a:t>Basis of the FINDRISC programme</a:t>
            </a:r>
            <a:endParaRPr lang="en-US" sz="1400" dirty="0"/>
          </a:p>
        </p:txBody>
      </p:sp>
      <p:sp>
        <p:nvSpPr>
          <p:cNvPr id="18" name="a62-card-175"/>
          <p:cNvSpPr/>
          <p:nvPr/>
        </p:nvSpPr>
        <p:spPr>
          <a:xfrm>
            <a:off x="548640" y="5394960"/>
            <a:ext cx="11094415" cy="594360"/>
          </a:xfrm>
          <a:prstGeom prst="roundRect">
            <a:avLst>
              <a:gd name="adj" fmla="val 18462"/>
            </a:avLst>
          </a:prstGeom>
          <a:solidFill>
            <a:schemeClr val="tx1"/>
          </a:solidFill>
          <a:ln/>
        </p:spPr>
      </p:sp>
      <p:sp>
        <p:nvSpPr>
          <p:cNvPr id="19" name="a62-text-176"/>
          <p:cNvSpPr txBox="1"/>
          <p:nvPr/>
        </p:nvSpPr>
        <p:spPr>
          <a:xfrm>
            <a:off x="822960" y="5394960"/>
            <a:ext cx="10545775" cy="594360"/>
          </a:xfrm>
          <a:prstGeom prst="rect">
            <a:avLst/>
          </a:prstGeom>
          <a:noFill/>
          <a:ln/>
        </p:spPr>
        <p:txBody>
          <a:bodyPr wrap="square" lIns="0" tIns="0" rIns="0" bIns="0" rtlCol="0" anchor="ctr"/>
          <a:lstStyle/>
          <a:p>
            <a:pPr indent="0" marL="0">
              <a:buNone/>
            </a:pPr>
            <a:r>
              <a:rPr lang="en-US" sz="1600" b="1" dirty="0">
                <a:solidFill>
                  <a:schemeClr val="bg1"/>
                </a:solidFill>
              </a:rPr>
              <a:t>Lifestyle intervention in prediabetes is one of the few interventions shown to reduce mortality (Da Qing).</a:t>
            </a:r>
            <a:endParaRPr lang="en-US" sz="1600" dirty="0"/>
          </a:p>
        </p:txBody>
      </p:sp>
      <p:sp>
        <p:nvSpPr>
          <p:cNvPr id="20"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Gong et al. Lancet Diabetes Endocrinol 2019; DPP Research Group Lancet Diabetes Endocrinol 2015; Lindström et al. Lancet 2006.</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55"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4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43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71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71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71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99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lifestyle prescription</a:t>
            </a:r>
            <a:endParaRPr lang="en-US" sz="3400" dirty="0"/>
          </a:p>
        </p:txBody>
      </p:sp>
      <p:sp>
        <p:nvSpPr>
          <p:cNvPr id="3" name="a64-card-178"/>
          <p:cNvSpPr/>
          <p:nvPr/>
        </p:nvSpPr>
        <p:spPr>
          <a:xfrm>
            <a:off x="548640" y="1371600"/>
            <a:ext cx="3515258" cy="2194560"/>
          </a:xfrm>
          <a:prstGeom prst="roundRect">
            <a:avLst>
              <a:gd name="adj" fmla="val 5000"/>
            </a:avLst>
          </a:prstGeom>
          <a:solidFill>
            <a:schemeClr val="bg2"/>
          </a:solidFill>
          <a:ln/>
        </p:spPr>
      </p:sp>
      <p:sp>
        <p:nvSpPr>
          <p:cNvPr id="4" name="a64-icon-circle-179"/>
          <p:cNvSpPr/>
          <p:nvPr/>
        </p:nvSpPr>
        <p:spPr>
          <a:xfrm>
            <a:off x="822960" y="1645920"/>
            <a:ext cx="640080" cy="640080"/>
          </a:xfrm>
          <a:prstGeom prst="ellipse">
            <a:avLst/>
          </a:prstGeom>
          <a:solidFill>
            <a:schemeClr val="accent3"/>
          </a:solidFill>
          <a:ln/>
        </p:spPr>
      </p:sp>
      <p:pic>
        <p:nvPicPr>
          <p:cNvPr id="5" name="a64-icon-18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a64-text-181"/>
          <p:cNvSpPr txBox="1"/>
          <p:nvPr/>
        </p:nvSpPr>
        <p:spPr>
          <a:xfrm>
            <a:off x="1600200" y="164592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Lose 5–7% body weight</a:t>
            </a:r>
            <a:endParaRPr lang="en-US" sz="1700" dirty="0"/>
          </a:p>
        </p:txBody>
      </p:sp>
      <p:sp>
        <p:nvSpPr>
          <p:cNvPr id="7" name="a64-text-182"/>
          <p:cNvSpPr txBox="1"/>
          <p:nvPr/>
        </p:nvSpPr>
        <p:spPr>
          <a:xfrm>
            <a:off x="822960" y="2423160"/>
            <a:ext cx="2966618" cy="1005840"/>
          </a:xfrm>
          <a:prstGeom prst="rect">
            <a:avLst/>
          </a:prstGeom>
          <a:noFill/>
          <a:ln/>
        </p:spPr>
        <p:txBody>
          <a:bodyPr wrap="square" lIns="0" tIns="0" rIns="0" bIns="0" rtlCol="0" anchor="t"/>
          <a:lstStyle/>
          <a:p>
            <a:pPr indent="0" marL="0">
              <a:buNone/>
            </a:pPr>
            <a:r>
              <a:rPr lang="en-US" sz="1400" dirty="0">
                <a:solidFill>
                  <a:schemeClr val="tx1"/>
                </a:solidFill>
              </a:rPr>
              <a:t>ADA: ≥7% initial loss; IDF: 5–10%. Maintain the loss long term.</a:t>
            </a:r>
            <a:endParaRPr lang="en-US" sz="1400" dirty="0"/>
          </a:p>
        </p:txBody>
      </p:sp>
      <p:sp>
        <p:nvSpPr>
          <p:cNvPr id="8" name="a65-card-183"/>
          <p:cNvSpPr/>
          <p:nvPr/>
        </p:nvSpPr>
        <p:spPr>
          <a:xfrm>
            <a:off x="4338218" y="1371600"/>
            <a:ext cx="3515258" cy="2194560"/>
          </a:xfrm>
          <a:prstGeom prst="roundRect">
            <a:avLst>
              <a:gd name="adj" fmla="val 5000"/>
            </a:avLst>
          </a:prstGeom>
          <a:solidFill>
            <a:schemeClr val="bg2"/>
          </a:solidFill>
          <a:ln/>
        </p:spPr>
      </p:sp>
      <p:sp>
        <p:nvSpPr>
          <p:cNvPr id="9" name="a65-icon-circle-184"/>
          <p:cNvSpPr/>
          <p:nvPr/>
        </p:nvSpPr>
        <p:spPr>
          <a:xfrm>
            <a:off x="4612538" y="1645920"/>
            <a:ext cx="640080" cy="640080"/>
          </a:xfrm>
          <a:prstGeom prst="ellipse">
            <a:avLst/>
          </a:prstGeom>
          <a:solidFill>
            <a:schemeClr val="accent1"/>
          </a:solidFill>
          <a:ln/>
        </p:spPr>
      </p:sp>
      <p:pic>
        <p:nvPicPr>
          <p:cNvPr id="10" name="a65-icon-185" descr="preencoded.png">    </p:cNvPr>
          <p:cNvPicPr>
            <a:picLocks noChangeAspect="1"/>
          </p:cNvPicPr>
          <p:nvPr/>
        </p:nvPicPr>
        <p:blipFill>
          <a:blip r:embed="rId2"/>
          <a:stretch>
            <a:fillRect/>
          </a:stretch>
        </p:blipFill>
        <p:spPr>
          <a:xfrm>
            <a:off x="4772558" y="1805940"/>
            <a:ext cx="320040" cy="320040"/>
          </a:xfrm>
          <a:prstGeom prst="rect">
            <a:avLst/>
          </a:prstGeom>
        </p:spPr>
      </p:pic>
      <p:sp>
        <p:nvSpPr>
          <p:cNvPr id="11" name="a65-text-186"/>
          <p:cNvSpPr txBox="1"/>
          <p:nvPr/>
        </p:nvSpPr>
        <p:spPr>
          <a:xfrm>
            <a:off x="5389778" y="164592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Move ≥150 min / week</a:t>
            </a:r>
            <a:endParaRPr lang="en-US" sz="1700" dirty="0"/>
          </a:p>
        </p:txBody>
      </p:sp>
      <p:sp>
        <p:nvSpPr>
          <p:cNvPr id="12" name="a65-text-187"/>
          <p:cNvSpPr txBox="1"/>
          <p:nvPr/>
        </p:nvSpPr>
        <p:spPr>
          <a:xfrm>
            <a:off x="4612538" y="2423160"/>
            <a:ext cx="2966618" cy="1005840"/>
          </a:xfrm>
          <a:prstGeom prst="rect">
            <a:avLst/>
          </a:prstGeom>
          <a:noFill/>
          <a:ln/>
        </p:spPr>
        <p:txBody>
          <a:bodyPr wrap="square" lIns="0" tIns="0" rIns="0" bIns="0" rtlCol="0" anchor="t"/>
          <a:lstStyle/>
          <a:p>
            <a:pPr indent="0" marL="0">
              <a:buNone/>
            </a:pPr>
            <a:r>
              <a:rPr lang="en-US" sz="1400" dirty="0">
                <a:solidFill>
                  <a:schemeClr val="tx1"/>
                </a:solidFill>
              </a:rPr>
              <a:t>Moderate aerobic activity plus resistance training 2–3×/week; break up sitting every 30 min.</a:t>
            </a:r>
            <a:endParaRPr lang="en-US" sz="1400" dirty="0"/>
          </a:p>
        </p:txBody>
      </p:sp>
      <p:sp>
        <p:nvSpPr>
          <p:cNvPr id="13" name="a66-card-188"/>
          <p:cNvSpPr/>
          <p:nvPr/>
        </p:nvSpPr>
        <p:spPr>
          <a:xfrm>
            <a:off x="8127797" y="1371600"/>
            <a:ext cx="3515258" cy="2194560"/>
          </a:xfrm>
          <a:prstGeom prst="roundRect">
            <a:avLst>
              <a:gd name="adj" fmla="val 5000"/>
            </a:avLst>
          </a:prstGeom>
          <a:solidFill>
            <a:schemeClr val="bg2"/>
          </a:solidFill>
          <a:ln/>
        </p:spPr>
      </p:sp>
      <p:sp>
        <p:nvSpPr>
          <p:cNvPr id="14" name="a66-icon-circle-189"/>
          <p:cNvSpPr/>
          <p:nvPr/>
        </p:nvSpPr>
        <p:spPr>
          <a:xfrm>
            <a:off x="8402117" y="1645920"/>
            <a:ext cx="640080" cy="640080"/>
          </a:xfrm>
          <a:prstGeom prst="ellipse">
            <a:avLst/>
          </a:prstGeom>
          <a:solidFill>
            <a:schemeClr val="accent3"/>
          </a:solidFill>
          <a:ln/>
        </p:spPr>
      </p:sp>
      <p:pic>
        <p:nvPicPr>
          <p:cNvPr id="15" name="a66-icon-190" descr="preencoded.png">    </p:cNvPr>
          <p:cNvPicPr>
            <a:picLocks noChangeAspect="1"/>
          </p:cNvPicPr>
          <p:nvPr/>
        </p:nvPicPr>
        <p:blipFill>
          <a:blip r:embed="rId3"/>
          <a:stretch>
            <a:fillRect/>
          </a:stretch>
        </p:blipFill>
        <p:spPr>
          <a:xfrm>
            <a:off x="8562137" y="1805940"/>
            <a:ext cx="320040" cy="320040"/>
          </a:xfrm>
          <a:prstGeom prst="rect">
            <a:avLst/>
          </a:prstGeom>
        </p:spPr>
      </p:pic>
      <p:sp>
        <p:nvSpPr>
          <p:cNvPr id="16" name="a66-text-191"/>
          <p:cNvSpPr txBox="1"/>
          <p:nvPr/>
        </p:nvSpPr>
        <p:spPr>
          <a:xfrm>
            <a:off x="9179357" y="164592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Healthy eating pattern</a:t>
            </a:r>
            <a:endParaRPr lang="en-US" sz="1700" dirty="0"/>
          </a:p>
        </p:txBody>
      </p:sp>
      <p:sp>
        <p:nvSpPr>
          <p:cNvPr id="17" name="a66-text-192"/>
          <p:cNvSpPr txBox="1"/>
          <p:nvPr/>
        </p:nvSpPr>
        <p:spPr>
          <a:xfrm>
            <a:off x="8402117" y="2423160"/>
            <a:ext cx="2966618" cy="1005840"/>
          </a:xfrm>
          <a:prstGeom prst="rect">
            <a:avLst/>
          </a:prstGeom>
          <a:noFill/>
          <a:ln/>
        </p:spPr>
        <p:txBody>
          <a:bodyPr wrap="square" lIns="0" tIns="0" rIns="0" bIns="0" rtlCol="0" anchor="t"/>
          <a:lstStyle/>
          <a:p>
            <a:pPr indent="0" marL="0">
              <a:buNone/>
            </a:pPr>
            <a:r>
              <a:rPr lang="en-US" sz="1400" dirty="0">
                <a:solidFill>
                  <a:schemeClr val="tx1"/>
                </a:solidFill>
              </a:rPr>
              <a:t>Mediterranean, DASH or plant-based; whole grains, legumes, nuts and fibre (EASD DNSG 2023, ADA).</a:t>
            </a:r>
            <a:endParaRPr lang="en-US" sz="1400" dirty="0"/>
          </a:p>
        </p:txBody>
      </p:sp>
      <p:sp>
        <p:nvSpPr>
          <p:cNvPr id="18" name="a67-card-193"/>
          <p:cNvSpPr/>
          <p:nvPr/>
        </p:nvSpPr>
        <p:spPr>
          <a:xfrm>
            <a:off x="548640" y="3840480"/>
            <a:ext cx="3515258" cy="2194560"/>
          </a:xfrm>
          <a:prstGeom prst="roundRect">
            <a:avLst>
              <a:gd name="adj" fmla="val 5000"/>
            </a:avLst>
          </a:prstGeom>
          <a:solidFill>
            <a:schemeClr val="bg2"/>
          </a:solidFill>
          <a:ln/>
        </p:spPr>
      </p:sp>
      <p:sp>
        <p:nvSpPr>
          <p:cNvPr id="19" name="a67-icon-circle-194"/>
          <p:cNvSpPr/>
          <p:nvPr/>
        </p:nvSpPr>
        <p:spPr>
          <a:xfrm>
            <a:off x="822960" y="4114800"/>
            <a:ext cx="640080" cy="640080"/>
          </a:xfrm>
          <a:prstGeom prst="ellipse">
            <a:avLst/>
          </a:prstGeom>
          <a:solidFill>
            <a:schemeClr val="accent2"/>
          </a:solidFill>
          <a:ln/>
        </p:spPr>
      </p:sp>
      <p:pic>
        <p:nvPicPr>
          <p:cNvPr id="20" name="a67-icon-195" descr="preencoded.png">    </p:cNvPr>
          <p:cNvPicPr>
            <a:picLocks noChangeAspect="1"/>
          </p:cNvPicPr>
          <p:nvPr/>
        </p:nvPicPr>
        <p:blipFill>
          <a:blip r:embed="rId4"/>
          <a:stretch>
            <a:fillRect/>
          </a:stretch>
        </p:blipFill>
        <p:spPr>
          <a:xfrm>
            <a:off x="982980" y="4274820"/>
            <a:ext cx="320040" cy="320040"/>
          </a:xfrm>
          <a:prstGeom prst="rect">
            <a:avLst/>
          </a:prstGeom>
        </p:spPr>
      </p:pic>
      <p:sp>
        <p:nvSpPr>
          <p:cNvPr id="21" name="a67-text-196"/>
          <p:cNvSpPr txBox="1"/>
          <p:nvPr/>
        </p:nvSpPr>
        <p:spPr>
          <a:xfrm>
            <a:off x="1600200" y="411480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Cut sugary drinks</a:t>
            </a:r>
            <a:endParaRPr lang="en-US" sz="1700" dirty="0"/>
          </a:p>
        </p:txBody>
      </p:sp>
      <p:sp>
        <p:nvSpPr>
          <p:cNvPr id="22" name="a67-text-197"/>
          <p:cNvSpPr txBox="1"/>
          <p:nvPr/>
        </p:nvSpPr>
        <p:spPr>
          <a:xfrm>
            <a:off x="822960" y="4892040"/>
            <a:ext cx="2966618" cy="1005840"/>
          </a:xfrm>
          <a:prstGeom prst="rect">
            <a:avLst/>
          </a:prstGeom>
          <a:noFill/>
          <a:ln/>
        </p:spPr>
        <p:txBody>
          <a:bodyPr wrap="square" lIns="0" tIns="0" rIns="0" bIns="0" rtlCol="0" anchor="t"/>
          <a:lstStyle/>
          <a:p>
            <a:pPr indent="0" marL="0">
              <a:buNone/>
            </a:pPr>
            <a:r>
              <a:rPr lang="en-US" sz="1400" dirty="0">
                <a:solidFill>
                  <a:schemeClr val="tx1"/>
                </a:solidFill>
              </a:rPr>
              <a:t>Limit sugar-sweetened beverages, refined carbohydrates and processed meat; moderate alcohol.</a:t>
            </a:r>
            <a:endParaRPr lang="en-US" sz="1400" dirty="0"/>
          </a:p>
        </p:txBody>
      </p:sp>
      <p:sp>
        <p:nvSpPr>
          <p:cNvPr id="23" name="a68-card-198"/>
          <p:cNvSpPr/>
          <p:nvPr/>
        </p:nvSpPr>
        <p:spPr>
          <a:xfrm>
            <a:off x="4338218" y="3840480"/>
            <a:ext cx="3515258" cy="2194560"/>
          </a:xfrm>
          <a:prstGeom prst="roundRect">
            <a:avLst>
              <a:gd name="adj" fmla="val 5000"/>
            </a:avLst>
          </a:prstGeom>
          <a:solidFill>
            <a:schemeClr val="bg2"/>
          </a:solidFill>
          <a:ln/>
        </p:spPr>
      </p:sp>
      <p:sp>
        <p:nvSpPr>
          <p:cNvPr id="24" name="a68-icon-circle-199"/>
          <p:cNvSpPr/>
          <p:nvPr/>
        </p:nvSpPr>
        <p:spPr>
          <a:xfrm>
            <a:off x="4612538" y="4114800"/>
            <a:ext cx="640080" cy="640080"/>
          </a:xfrm>
          <a:prstGeom prst="ellipse">
            <a:avLst/>
          </a:prstGeom>
          <a:solidFill>
            <a:schemeClr val="accent6"/>
          </a:solidFill>
          <a:ln/>
        </p:spPr>
      </p:sp>
      <p:pic>
        <p:nvPicPr>
          <p:cNvPr id="25" name="a68-icon-200" descr="preencoded.png">    </p:cNvPr>
          <p:cNvPicPr>
            <a:picLocks noChangeAspect="1"/>
          </p:cNvPicPr>
          <p:nvPr/>
        </p:nvPicPr>
        <p:blipFill>
          <a:blip r:embed="rId5"/>
          <a:stretch>
            <a:fillRect/>
          </a:stretch>
        </p:blipFill>
        <p:spPr>
          <a:xfrm>
            <a:off x="4772558" y="4274820"/>
            <a:ext cx="320040" cy="320040"/>
          </a:xfrm>
          <a:prstGeom prst="rect">
            <a:avLst/>
          </a:prstGeom>
        </p:spPr>
      </p:pic>
      <p:sp>
        <p:nvSpPr>
          <p:cNvPr id="26" name="a68-text-201"/>
          <p:cNvSpPr txBox="1"/>
          <p:nvPr/>
        </p:nvSpPr>
        <p:spPr>
          <a:xfrm>
            <a:off x="5389778" y="411480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Sleep and smoking</a:t>
            </a:r>
            <a:endParaRPr lang="en-US" sz="1700" dirty="0"/>
          </a:p>
        </p:txBody>
      </p:sp>
      <p:sp>
        <p:nvSpPr>
          <p:cNvPr id="27" name="a68-text-202"/>
          <p:cNvSpPr txBox="1"/>
          <p:nvPr/>
        </p:nvSpPr>
        <p:spPr>
          <a:xfrm>
            <a:off x="4612538" y="4892040"/>
            <a:ext cx="2966618" cy="1005840"/>
          </a:xfrm>
          <a:prstGeom prst="rect">
            <a:avLst/>
          </a:prstGeom>
          <a:noFill/>
          <a:ln/>
        </p:spPr>
        <p:txBody>
          <a:bodyPr wrap="square" lIns="0" tIns="0" rIns="0" bIns="0" rtlCol="0" anchor="t"/>
          <a:lstStyle/>
          <a:p>
            <a:pPr indent="0" marL="0">
              <a:buNone/>
            </a:pPr>
            <a:r>
              <a:rPr lang="en-US" sz="1400" dirty="0">
                <a:solidFill>
                  <a:schemeClr val="tx1"/>
                </a:solidFill>
              </a:rPr>
              <a:t>Aim for 7–8 h sleep; treat sleep apnoea; stop smoking (raises T2D risk ~35–40%).</a:t>
            </a:r>
            <a:endParaRPr lang="en-US" sz="1400" dirty="0"/>
          </a:p>
        </p:txBody>
      </p:sp>
      <p:sp>
        <p:nvSpPr>
          <p:cNvPr id="28" name="a69-card-203"/>
          <p:cNvSpPr/>
          <p:nvPr/>
        </p:nvSpPr>
        <p:spPr>
          <a:xfrm>
            <a:off x="8127797" y="3840480"/>
            <a:ext cx="3515258" cy="2194560"/>
          </a:xfrm>
          <a:prstGeom prst="roundRect">
            <a:avLst>
              <a:gd name="adj" fmla="val 5000"/>
            </a:avLst>
          </a:prstGeom>
          <a:solidFill>
            <a:schemeClr val="bg2"/>
          </a:solidFill>
          <a:ln/>
        </p:spPr>
      </p:sp>
      <p:sp>
        <p:nvSpPr>
          <p:cNvPr id="29" name="a69-icon-circle-204"/>
          <p:cNvSpPr/>
          <p:nvPr/>
        </p:nvSpPr>
        <p:spPr>
          <a:xfrm>
            <a:off x="8402117" y="4114800"/>
            <a:ext cx="640080" cy="640080"/>
          </a:xfrm>
          <a:prstGeom prst="ellipse">
            <a:avLst/>
          </a:prstGeom>
          <a:solidFill>
            <a:schemeClr val="accent1"/>
          </a:solidFill>
          <a:ln/>
        </p:spPr>
      </p:sp>
      <p:pic>
        <p:nvPicPr>
          <p:cNvPr id="30" name="a69-icon-205" descr="preencoded.png">    </p:cNvPr>
          <p:cNvPicPr>
            <a:picLocks noChangeAspect="1"/>
          </p:cNvPicPr>
          <p:nvPr/>
        </p:nvPicPr>
        <p:blipFill>
          <a:blip r:embed="rId6"/>
          <a:stretch>
            <a:fillRect/>
          </a:stretch>
        </p:blipFill>
        <p:spPr>
          <a:xfrm>
            <a:off x="8562137" y="4274820"/>
            <a:ext cx="320040" cy="320040"/>
          </a:xfrm>
          <a:prstGeom prst="rect">
            <a:avLst/>
          </a:prstGeom>
        </p:spPr>
      </p:pic>
      <p:sp>
        <p:nvSpPr>
          <p:cNvPr id="31" name="a69-text-206"/>
          <p:cNvSpPr txBox="1"/>
          <p:nvPr/>
        </p:nvSpPr>
        <p:spPr>
          <a:xfrm>
            <a:off x="9179357" y="411480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Structured programme</a:t>
            </a:r>
            <a:endParaRPr lang="en-US" sz="1700" dirty="0"/>
          </a:p>
        </p:txBody>
      </p:sp>
      <p:sp>
        <p:nvSpPr>
          <p:cNvPr id="32" name="a69-text-207"/>
          <p:cNvSpPr txBox="1"/>
          <p:nvPr/>
        </p:nvSpPr>
        <p:spPr>
          <a:xfrm>
            <a:off x="8402117" y="4892040"/>
            <a:ext cx="2966618" cy="1005840"/>
          </a:xfrm>
          <a:prstGeom prst="rect">
            <a:avLst/>
          </a:prstGeom>
          <a:noFill/>
          <a:ln/>
        </p:spPr>
        <p:txBody>
          <a:bodyPr wrap="square" lIns="0" tIns="0" rIns="0" bIns="0" rtlCol="0" anchor="t"/>
          <a:lstStyle/>
          <a:p>
            <a:pPr indent="0" marL="0">
              <a:buNone/>
            </a:pPr>
            <a:r>
              <a:rPr lang="en-US" sz="1400" dirty="0">
                <a:solidFill>
                  <a:schemeClr val="tx1"/>
                </a:solidFill>
              </a:rPr>
              <a:t>DPP model: ≥16 sessions in 6 months, then maintenance; group, digital or community delivery.</a:t>
            </a:r>
            <a:endParaRPr lang="en-US" sz="1400" dirty="0"/>
          </a:p>
        </p:txBody>
      </p:sp>
      <p:sp>
        <p:nvSpPr>
          <p:cNvPr id="33"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Sections 3 &amp; 5; IDF consensus 2007; EASD Diabetes &amp; Nutrition Study Group 2023; Willi et al. JAMA 2007 (smoking).</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cond evt="onBegin" delay="0">
                          <p:tn val="2"/>
                        </p:cond>
                      </p:stCondLst>
                      <p:childTnLst>
                        <p:par>
                          <p:cTn id="94"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1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4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4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43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4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43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71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71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71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71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71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99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99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99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99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99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127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127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127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127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127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155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155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155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155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155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21" grpId="0" animBg="1"/>
      <p:bldP spid="22" grpId="0" animBg="1"/>
      <p:bldP spid="26" grpId="0" animBg="1"/>
      <p:bldP spid="27" grpId="0" animBg="1"/>
      <p:bldP spid="31" grpId="0"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Pharmacological and surgical options</a:t>
            </a:r>
            <a:endParaRPr lang="en-US" sz="3400" dirty="0"/>
          </a:p>
        </p:txBody>
      </p:sp>
      <p:graphicFrame>
        <p:nvGraphicFramePr>
          <p:cNvPr id="17" name="a71-table-209"/>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86000"/>
                <a:gridCol w="3291840"/>
                <a:gridCol w="5516575"/>
              </a:tblGrid>
              <a:tr h="457200">
                <a:tc>
                  <a:txBody>
                    <a:bodyPr/>
                    <a:lstStyle/>
                    <a:p>
                      <a:pPr indent="0" marL="0">
                        <a:buNone/>
                      </a:pPr>
                      <a:r>
                        <a:rPr lang="en-US" sz="1400" b="1" dirty="0">
                          <a:solidFill>
                            <a:schemeClr val="bg1"/>
                          </a:solidFill>
                        </a:rPr>
                        <a:t>Option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Key evidence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Guideline position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868680">
                <a:tc>
                  <a:txBody>
                    <a:bodyPr/>
                    <a:lstStyle/>
                    <a:p>
                      <a:pPr indent="0" marL="0">
                        <a:buNone/>
                      </a:pPr>
                      <a:r>
                        <a:rPr lang="en-US" sz="1400" b="1" dirty="0">
                          <a:solidFill>
                            <a:schemeClr val="tx1"/>
                          </a:solidFill>
                        </a:rPr>
                        <a:t>Metformin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DPP: −31%; IDPP-1: −26%; durable in DPPOS</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ADA: consider in prediabetes, esp. age 25–59 with BMI ≥35, FPG ≥6.1, HbA1c ≥6.0%, or prior GDM. NICE: if glucose rises despite lifestyle. Check B12.</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777240">
                <a:tc>
                  <a:txBody>
                    <a:bodyPr/>
                    <a:lstStyle/>
                    <a:p>
                      <a:pPr indent="0" marL="0">
                        <a:buNone/>
                      </a:pPr>
                      <a:r>
                        <a:rPr lang="en-US" sz="1400" b="1" dirty="0">
                          <a:solidFill>
                            <a:schemeClr val="tx1"/>
                          </a:solidFill>
                        </a:rPr>
                        <a:t>GLP-1 RA / tirzepatide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SCALE: −79%; SURMOUNT-1: −94% (3 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ADA: obesity pharmacotherapy may be considered in high-risk people with obesity; indication is weight, not diabetes prevention.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94360">
                <a:tc>
                  <a:txBody>
                    <a:bodyPr/>
                    <a:lstStyle/>
                    <a:p>
                      <a:pPr indent="0" marL="0">
                        <a:buNone/>
                      </a:pPr>
                      <a:r>
                        <a:rPr lang="en-US" sz="1400" b="1" dirty="0">
                          <a:solidFill>
                            <a:schemeClr val="tx1"/>
                          </a:solidFill>
                        </a:rPr>
                        <a:t>Pioglitazone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ACT NOW: −72%; IRIS (post-stroke)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Not routine: weight gain, oedema, fractures, heart failure risk.</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48640">
                <a:tc>
                  <a:txBody>
                    <a:bodyPr/>
                    <a:lstStyle/>
                    <a:p>
                      <a:pPr indent="0" marL="0">
                        <a:buNone/>
                      </a:pPr>
                      <a:r>
                        <a:rPr lang="en-US" sz="1400" b="1" dirty="0">
                          <a:solidFill>
                            <a:schemeClr val="tx1"/>
                          </a:solidFill>
                        </a:rPr>
                        <a:t>Acarbose, orlistat</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STOP-NIDDM −25%; XENDOS −37%</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Rarely used: GI side effects and poor adherence.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548640">
                <a:tc>
                  <a:txBody>
                    <a:bodyPr/>
                    <a:lstStyle/>
                    <a:p>
                      <a:pPr indent="0" marL="0">
                        <a:buNone/>
                      </a:pPr>
                      <a:r>
                        <a:rPr lang="en-US" sz="1400" b="1" dirty="0">
                          <a:solidFill>
                            <a:schemeClr val="tx1"/>
                          </a:solidFill>
                        </a:rPr>
                        <a:t>Metabolic surgery</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SOS: ~80% lower incidence</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400" dirty="0">
                          <a:solidFill>
                            <a:schemeClr val="tx1"/>
                          </a:solidFill>
                        </a:rPr>
                        <a:t>For severe obesity; strongest effect on prevention and remission.</a:t>
                      </a:r>
                      <a:endParaRPr lang="en-US" sz="14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a72-card-210"/>
          <p:cNvSpPr/>
          <p:nvPr/>
        </p:nvSpPr>
        <p:spPr>
          <a:xfrm>
            <a:off x="548640" y="5349240"/>
            <a:ext cx="11094415" cy="640080"/>
          </a:xfrm>
          <a:prstGeom prst="roundRect">
            <a:avLst>
              <a:gd name="adj" fmla="val 17143"/>
            </a:avLst>
          </a:prstGeom>
          <a:solidFill>
            <a:schemeClr val="bg2"/>
          </a:solidFill>
          <a:ln/>
        </p:spPr>
      </p:sp>
      <p:sp>
        <p:nvSpPr>
          <p:cNvPr id="5" name="a72-text-211"/>
          <p:cNvSpPr txBox="1"/>
          <p:nvPr/>
        </p:nvSpPr>
        <p:spPr>
          <a:xfrm>
            <a:off x="822960" y="5349240"/>
            <a:ext cx="10545775" cy="640080"/>
          </a:xfrm>
          <a:prstGeom prst="rect">
            <a:avLst/>
          </a:prstGeom>
          <a:noFill/>
          <a:ln/>
        </p:spPr>
        <p:txBody>
          <a:bodyPr wrap="square" lIns="0" tIns="0" rIns="0" bIns="0" rtlCol="0" anchor="ctr"/>
          <a:lstStyle/>
          <a:p>
            <a:pPr indent="0" marL="0">
              <a:buNone/>
            </a:pPr>
            <a:r>
              <a:rPr lang="en-US" sz="1500" b="1" dirty="0">
                <a:solidFill>
                  <a:schemeClr val="accent2"/>
                </a:solidFill>
              </a:rPr>
              <a:t>Note: </a:t>
            </a:r>
            <a:pPr indent="0" marL="0">
              <a:buNone/>
            </a:pPr>
            <a:r>
              <a:rPr lang="en-US" sz="1500" dirty="0">
                <a:solidFill>
                  <a:schemeClr val="tx1"/>
                </a:solidFill>
              </a:rPr>
              <a:t>in most countries no drug is licensed specifically to prevent diabetes; metformin use is off-label. Lifestyle remains first line in every guideline.</a:t>
            </a:r>
            <a:endParaRPr lang="en-US" sz="1500" dirty="0"/>
          </a:p>
        </p:txBody>
      </p:sp>
      <p:sp>
        <p:nvSpPr>
          <p:cNvPr id="6"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ADA Standards, Section 3; NICE PH38; SCALE Lancet 2017; SURMOUNT-1 NEJM 2025; SOS NEJM 2012; Davidson's 24e; Kumar &amp; Clark 10e.</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13"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500"/>
                                        <p:tgtEl>
                                          <p:spTgt spid="17"/>
                                        </p:tgtEl>
                                      </p:cBhvr>
                                    </p:animEffect>
                                  </p:childTnLst>
                                </p:cTn>
                              </p:par>
                              <p:par>
                                <p:cTn id="6" presetID="10" presetClass="entr" presetSubtype="0" fill="hold" grpId="0" nodeType="withEffect">
                                  <p:stCondLst>
                                    <p:cond delay="4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4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AsOne/>
      </p:bldGraphic>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Beyond the clinic: population prevention</a:t>
            </a:r>
            <a:endParaRPr lang="en-US" sz="3400" dirty="0"/>
          </a:p>
        </p:txBody>
      </p:sp>
      <p:sp>
        <p:nvSpPr>
          <p:cNvPr id="3" name="a73-text-213"/>
          <p:cNvSpPr txBox="1"/>
          <p:nvPr/>
        </p:nvSpPr>
        <p:spPr>
          <a:xfrm>
            <a:off x="548640" y="1280160"/>
            <a:ext cx="11094415" cy="365760"/>
          </a:xfrm>
          <a:prstGeom prst="rect">
            <a:avLst/>
          </a:prstGeom>
          <a:noFill/>
          <a:ln/>
        </p:spPr>
        <p:txBody>
          <a:bodyPr wrap="square" lIns="0" tIns="0" rIns="0" bIns="0" rtlCol="0" anchor="t"/>
          <a:lstStyle/>
          <a:p>
            <a:pPr indent="0" marL="0">
              <a:buNone/>
            </a:pPr>
            <a:r>
              <a:rPr lang="en-US" sz="1700" b="1" dirty="0">
                <a:solidFill>
                  <a:schemeClr val="tx2"/>
                </a:solidFill>
              </a:rPr>
              <a:t>WHO Global Diabetes Compact: 2030 targets</a:t>
            </a:r>
            <a:endParaRPr lang="en-US" sz="1700" dirty="0"/>
          </a:p>
        </p:txBody>
      </p:sp>
      <p:sp>
        <p:nvSpPr>
          <p:cNvPr id="4" name="a74-ring-214"/>
          <p:cNvSpPr/>
          <p:nvPr/>
        </p:nvSpPr>
        <p:spPr>
          <a:xfrm>
            <a:off x="1063722" y="1737360"/>
            <a:ext cx="1005840" cy="1005840"/>
          </a:xfrm>
          <a:prstGeom prst="ellipse">
            <a:avLst/>
          </a:prstGeom>
          <a:ln w="63500">
            <a:solidFill>
              <a:schemeClr val="accent2"/>
            </a:solidFill>
            <a:prstDash val="solid"/>
          </a:ln>
        </p:spPr>
      </p:sp>
      <p:sp>
        <p:nvSpPr>
          <p:cNvPr id="5" name="a74-text-215"/>
          <p:cNvSpPr txBox="1"/>
          <p:nvPr/>
        </p:nvSpPr>
        <p:spPr>
          <a:xfrm>
            <a:off x="1063722" y="1737360"/>
            <a:ext cx="1005840" cy="1005840"/>
          </a:xfrm>
          <a:prstGeom prst="rect">
            <a:avLst/>
          </a:prstGeom>
          <a:noFill/>
          <a:ln/>
        </p:spPr>
        <p:txBody>
          <a:bodyPr wrap="square" lIns="0" tIns="0" rIns="0" bIns="0" rtlCol="0" anchor="ctr"/>
          <a:lstStyle/>
          <a:p>
            <a:pPr algn="ctr" indent="0" marL="0">
              <a:buNone/>
            </a:pPr>
            <a:r>
              <a:rPr lang="en-US" sz="2000" b="1" dirty="0">
                <a:solidFill>
                  <a:schemeClr val="tx1"/>
                </a:solidFill>
              </a:rPr>
              <a:t>80%</a:t>
            </a:r>
            <a:endParaRPr lang="en-US" sz="2000" dirty="0"/>
          </a:p>
        </p:txBody>
      </p:sp>
      <p:sp>
        <p:nvSpPr>
          <p:cNvPr id="6" name="a74-text-216"/>
          <p:cNvSpPr txBox="1"/>
          <p:nvPr/>
        </p:nvSpPr>
        <p:spPr>
          <a:xfrm>
            <a:off x="548640" y="2834640"/>
            <a:ext cx="2036003" cy="594360"/>
          </a:xfrm>
          <a:prstGeom prst="rect">
            <a:avLst/>
          </a:prstGeom>
          <a:noFill/>
          <a:ln/>
        </p:spPr>
        <p:txBody>
          <a:bodyPr wrap="square" lIns="0" tIns="0" rIns="0" bIns="0" rtlCol="0" anchor="t"/>
          <a:lstStyle/>
          <a:p>
            <a:pPr algn="ctr" indent="0" marL="0">
              <a:buNone/>
            </a:pPr>
            <a:r>
              <a:rPr lang="en-US" sz="1300" dirty="0">
                <a:solidFill>
                  <a:schemeClr val="tx1"/>
                </a:solidFill>
              </a:rPr>
              <a:t>of people with diabetes diagnosed</a:t>
            </a:r>
            <a:endParaRPr lang="en-US" sz="1300" dirty="0"/>
          </a:p>
        </p:txBody>
      </p:sp>
      <p:sp>
        <p:nvSpPr>
          <p:cNvPr id="7" name="a75-ring-217"/>
          <p:cNvSpPr/>
          <p:nvPr/>
        </p:nvSpPr>
        <p:spPr>
          <a:xfrm>
            <a:off x="3328325" y="1737360"/>
            <a:ext cx="1005840" cy="1005840"/>
          </a:xfrm>
          <a:prstGeom prst="ellipse">
            <a:avLst/>
          </a:prstGeom>
          <a:ln w="63500">
            <a:solidFill>
              <a:schemeClr val="accent1"/>
            </a:solidFill>
            <a:prstDash val="solid"/>
          </a:ln>
        </p:spPr>
      </p:sp>
      <p:sp>
        <p:nvSpPr>
          <p:cNvPr id="8" name="a75-text-218"/>
          <p:cNvSpPr txBox="1"/>
          <p:nvPr/>
        </p:nvSpPr>
        <p:spPr>
          <a:xfrm>
            <a:off x="3328325" y="1737360"/>
            <a:ext cx="1005840" cy="1005840"/>
          </a:xfrm>
          <a:prstGeom prst="rect">
            <a:avLst/>
          </a:prstGeom>
          <a:noFill/>
          <a:ln/>
        </p:spPr>
        <p:txBody>
          <a:bodyPr wrap="square" lIns="0" tIns="0" rIns="0" bIns="0" rtlCol="0" anchor="ctr"/>
          <a:lstStyle/>
          <a:p>
            <a:pPr algn="ctr" indent="0" marL="0">
              <a:buNone/>
            </a:pPr>
            <a:r>
              <a:rPr lang="en-US" sz="2000" b="1" dirty="0">
                <a:solidFill>
                  <a:schemeClr val="tx1"/>
                </a:solidFill>
              </a:rPr>
              <a:t>80%</a:t>
            </a:r>
            <a:endParaRPr lang="en-US" sz="2000" dirty="0"/>
          </a:p>
        </p:txBody>
      </p:sp>
      <p:sp>
        <p:nvSpPr>
          <p:cNvPr id="9" name="a75-text-219"/>
          <p:cNvSpPr txBox="1"/>
          <p:nvPr/>
        </p:nvSpPr>
        <p:spPr>
          <a:xfrm>
            <a:off x="2813243" y="2834640"/>
            <a:ext cx="2036003" cy="594360"/>
          </a:xfrm>
          <a:prstGeom prst="rect">
            <a:avLst/>
          </a:prstGeom>
          <a:noFill/>
          <a:ln/>
        </p:spPr>
        <p:txBody>
          <a:bodyPr wrap="square" lIns="0" tIns="0" rIns="0" bIns="0" rtlCol="0" anchor="t"/>
          <a:lstStyle/>
          <a:p>
            <a:pPr algn="ctr" indent="0" marL="0">
              <a:buNone/>
            </a:pPr>
            <a:r>
              <a:rPr lang="en-US" sz="1300" dirty="0">
                <a:solidFill>
                  <a:schemeClr val="tx1"/>
                </a:solidFill>
              </a:rPr>
              <a:t>of those diagnosed with good glycaemic control</a:t>
            </a:r>
            <a:endParaRPr lang="en-US" sz="1300" dirty="0"/>
          </a:p>
        </p:txBody>
      </p:sp>
      <p:sp>
        <p:nvSpPr>
          <p:cNvPr id="10" name="a76-ring-220"/>
          <p:cNvSpPr/>
          <p:nvPr/>
        </p:nvSpPr>
        <p:spPr>
          <a:xfrm>
            <a:off x="5592928" y="1737360"/>
            <a:ext cx="1005840" cy="1005840"/>
          </a:xfrm>
          <a:prstGeom prst="ellipse">
            <a:avLst/>
          </a:prstGeom>
          <a:ln w="63500">
            <a:solidFill>
              <a:schemeClr val="accent1"/>
            </a:solidFill>
            <a:prstDash val="solid"/>
          </a:ln>
        </p:spPr>
      </p:sp>
      <p:sp>
        <p:nvSpPr>
          <p:cNvPr id="11" name="a76-text-221"/>
          <p:cNvSpPr txBox="1"/>
          <p:nvPr/>
        </p:nvSpPr>
        <p:spPr>
          <a:xfrm>
            <a:off x="5592928" y="1737360"/>
            <a:ext cx="1005840" cy="1005840"/>
          </a:xfrm>
          <a:prstGeom prst="rect">
            <a:avLst/>
          </a:prstGeom>
          <a:noFill/>
          <a:ln/>
        </p:spPr>
        <p:txBody>
          <a:bodyPr wrap="square" lIns="0" tIns="0" rIns="0" bIns="0" rtlCol="0" anchor="ctr"/>
          <a:lstStyle/>
          <a:p>
            <a:pPr algn="ctr" indent="0" marL="0">
              <a:buNone/>
            </a:pPr>
            <a:r>
              <a:rPr lang="en-US" sz="2000" b="1" dirty="0">
                <a:solidFill>
                  <a:schemeClr val="tx1"/>
                </a:solidFill>
              </a:rPr>
              <a:t>80%</a:t>
            </a:r>
            <a:endParaRPr lang="en-US" sz="2000" dirty="0"/>
          </a:p>
        </p:txBody>
      </p:sp>
      <p:sp>
        <p:nvSpPr>
          <p:cNvPr id="12" name="a76-text-222"/>
          <p:cNvSpPr txBox="1"/>
          <p:nvPr/>
        </p:nvSpPr>
        <p:spPr>
          <a:xfrm>
            <a:off x="5077846" y="2834640"/>
            <a:ext cx="2036003" cy="594360"/>
          </a:xfrm>
          <a:prstGeom prst="rect">
            <a:avLst/>
          </a:prstGeom>
          <a:noFill/>
          <a:ln/>
        </p:spPr>
        <p:txBody>
          <a:bodyPr wrap="square" lIns="0" tIns="0" rIns="0" bIns="0" rtlCol="0" anchor="t"/>
          <a:lstStyle/>
          <a:p>
            <a:pPr algn="ctr" indent="0" marL="0">
              <a:buNone/>
            </a:pPr>
            <a:r>
              <a:rPr lang="en-US" sz="1300" dirty="0">
                <a:solidFill>
                  <a:schemeClr val="tx1"/>
                </a:solidFill>
              </a:rPr>
              <a:t>with good blood-pressure control</a:t>
            </a:r>
            <a:endParaRPr lang="en-US" sz="1300" dirty="0"/>
          </a:p>
        </p:txBody>
      </p:sp>
      <p:sp>
        <p:nvSpPr>
          <p:cNvPr id="13" name="a77-ring-223"/>
          <p:cNvSpPr/>
          <p:nvPr/>
        </p:nvSpPr>
        <p:spPr>
          <a:xfrm>
            <a:off x="7857531" y="1737360"/>
            <a:ext cx="1005840" cy="1005840"/>
          </a:xfrm>
          <a:prstGeom prst="ellipse">
            <a:avLst/>
          </a:prstGeom>
          <a:ln w="63500">
            <a:solidFill>
              <a:schemeClr val="accent1"/>
            </a:solidFill>
            <a:prstDash val="solid"/>
          </a:ln>
        </p:spPr>
      </p:sp>
      <p:sp>
        <p:nvSpPr>
          <p:cNvPr id="14" name="a77-text-224"/>
          <p:cNvSpPr txBox="1"/>
          <p:nvPr/>
        </p:nvSpPr>
        <p:spPr>
          <a:xfrm>
            <a:off x="7857531" y="1737360"/>
            <a:ext cx="1005840" cy="1005840"/>
          </a:xfrm>
          <a:prstGeom prst="rect">
            <a:avLst/>
          </a:prstGeom>
          <a:noFill/>
          <a:ln/>
        </p:spPr>
        <p:txBody>
          <a:bodyPr wrap="square" lIns="0" tIns="0" rIns="0" bIns="0" rtlCol="0" anchor="ctr"/>
          <a:lstStyle/>
          <a:p>
            <a:pPr algn="ctr" indent="0" marL="0">
              <a:buNone/>
            </a:pPr>
            <a:r>
              <a:rPr lang="en-US" sz="2000" b="1" dirty="0">
                <a:solidFill>
                  <a:schemeClr val="tx1"/>
                </a:solidFill>
              </a:rPr>
              <a:t>60%</a:t>
            </a:r>
            <a:endParaRPr lang="en-US" sz="2000" dirty="0"/>
          </a:p>
        </p:txBody>
      </p:sp>
      <p:sp>
        <p:nvSpPr>
          <p:cNvPr id="15" name="a77-text-225"/>
          <p:cNvSpPr txBox="1"/>
          <p:nvPr/>
        </p:nvSpPr>
        <p:spPr>
          <a:xfrm>
            <a:off x="7342449" y="2834640"/>
            <a:ext cx="2036003" cy="594360"/>
          </a:xfrm>
          <a:prstGeom prst="rect">
            <a:avLst/>
          </a:prstGeom>
          <a:noFill/>
          <a:ln/>
        </p:spPr>
        <p:txBody>
          <a:bodyPr wrap="square" lIns="0" tIns="0" rIns="0" bIns="0" rtlCol="0" anchor="t"/>
          <a:lstStyle/>
          <a:p>
            <a:pPr algn="ctr" indent="0" marL="0">
              <a:buNone/>
            </a:pPr>
            <a:r>
              <a:rPr lang="en-US" sz="1300" dirty="0">
                <a:solidFill>
                  <a:schemeClr val="tx1"/>
                </a:solidFill>
              </a:rPr>
              <a:t>aged ≥40 years on statins</a:t>
            </a:r>
            <a:endParaRPr lang="en-US" sz="1300" dirty="0"/>
          </a:p>
        </p:txBody>
      </p:sp>
      <p:sp>
        <p:nvSpPr>
          <p:cNvPr id="16" name="a78-ring-226"/>
          <p:cNvSpPr/>
          <p:nvPr/>
        </p:nvSpPr>
        <p:spPr>
          <a:xfrm>
            <a:off x="10122134" y="1737360"/>
            <a:ext cx="1005840" cy="1005840"/>
          </a:xfrm>
          <a:prstGeom prst="ellipse">
            <a:avLst/>
          </a:prstGeom>
          <a:ln w="63500">
            <a:solidFill>
              <a:schemeClr val="accent1"/>
            </a:solidFill>
            <a:prstDash val="solid"/>
          </a:ln>
        </p:spPr>
      </p:sp>
      <p:sp>
        <p:nvSpPr>
          <p:cNvPr id="17" name="a78-text-227"/>
          <p:cNvSpPr txBox="1"/>
          <p:nvPr/>
        </p:nvSpPr>
        <p:spPr>
          <a:xfrm>
            <a:off x="10122134" y="1737360"/>
            <a:ext cx="1005840" cy="1005840"/>
          </a:xfrm>
          <a:prstGeom prst="rect">
            <a:avLst/>
          </a:prstGeom>
          <a:noFill/>
          <a:ln/>
        </p:spPr>
        <p:txBody>
          <a:bodyPr wrap="square" lIns="0" tIns="0" rIns="0" bIns="0" rtlCol="0" anchor="ctr"/>
          <a:lstStyle/>
          <a:p>
            <a:pPr algn="ctr" indent="0" marL="0">
              <a:buNone/>
            </a:pPr>
            <a:r>
              <a:rPr lang="en-US" sz="2000" b="1" dirty="0">
                <a:solidFill>
                  <a:schemeClr val="tx1"/>
                </a:solidFill>
              </a:rPr>
              <a:t>100%</a:t>
            </a:r>
            <a:endParaRPr lang="en-US" sz="2000" dirty="0"/>
          </a:p>
        </p:txBody>
      </p:sp>
      <p:sp>
        <p:nvSpPr>
          <p:cNvPr id="18" name="a78-text-228"/>
          <p:cNvSpPr txBox="1"/>
          <p:nvPr/>
        </p:nvSpPr>
        <p:spPr>
          <a:xfrm>
            <a:off x="9607052" y="2834640"/>
            <a:ext cx="2036003" cy="594360"/>
          </a:xfrm>
          <a:prstGeom prst="rect">
            <a:avLst/>
          </a:prstGeom>
          <a:noFill/>
          <a:ln/>
        </p:spPr>
        <p:txBody>
          <a:bodyPr wrap="square" lIns="0" tIns="0" rIns="0" bIns="0" rtlCol="0" anchor="t"/>
          <a:lstStyle/>
          <a:p>
            <a:pPr algn="ctr" indent="0" marL="0">
              <a:buNone/>
            </a:pPr>
            <a:r>
              <a:rPr lang="en-US" sz="1300" dirty="0">
                <a:solidFill>
                  <a:schemeClr val="tx1"/>
                </a:solidFill>
              </a:rPr>
              <a:t>with T1D accessing insulin and glucose monitoring</a:t>
            </a:r>
            <a:endParaRPr lang="en-US" sz="1300" dirty="0"/>
          </a:p>
        </p:txBody>
      </p:sp>
      <p:sp>
        <p:nvSpPr>
          <p:cNvPr id="19" name="a79-card-229"/>
          <p:cNvSpPr/>
          <p:nvPr/>
        </p:nvSpPr>
        <p:spPr>
          <a:xfrm>
            <a:off x="548640" y="3611880"/>
            <a:ext cx="5410048" cy="2377440"/>
          </a:xfrm>
          <a:prstGeom prst="roundRect">
            <a:avLst>
              <a:gd name="adj" fmla="val 4615"/>
            </a:avLst>
          </a:prstGeom>
          <a:solidFill>
            <a:schemeClr val="bg2"/>
          </a:solidFill>
          <a:ln/>
        </p:spPr>
      </p:sp>
      <p:sp>
        <p:nvSpPr>
          <p:cNvPr id="20" name="a79-icon-circle-230"/>
          <p:cNvSpPr/>
          <p:nvPr/>
        </p:nvSpPr>
        <p:spPr>
          <a:xfrm>
            <a:off x="822960" y="3840480"/>
            <a:ext cx="594360" cy="594360"/>
          </a:xfrm>
          <a:prstGeom prst="ellipse">
            <a:avLst/>
          </a:prstGeom>
          <a:solidFill>
            <a:schemeClr val="accent1"/>
          </a:solidFill>
          <a:ln/>
        </p:spPr>
      </p:sp>
      <p:pic>
        <p:nvPicPr>
          <p:cNvPr id="21" name="a79-icon-231" descr="preencoded.png">    </p:cNvPr>
          <p:cNvPicPr>
            <a:picLocks noChangeAspect="1"/>
          </p:cNvPicPr>
          <p:nvPr/>
        </p:nvPicPr>
        <p:blipFill>
          <a:blip r:embed="rId1"/>
          <a:stretch>
            <a:fillRect/>
          </a:stretch>
        </p:blipFill>
        <p:spPr>
          <a:xfrm>
            <a:off x="971550" y="3989070"/>
            <a:ext cx="297180" cy="297180"/>
          </a:xfrm>
          <a:prstGeom prst="rect">
            <a:avLst/>
          </a:prstGeom>
        </p:spPr>
      </p:pic>
      <p:sp>
        <p:nvSpPr>
          <p:cNvPr id="22" name="a79-text-232"/>
          <p:cNvSpPr txBox="1"/>
          <p:nvPr/>
        </p:nvSpPr>
        <p:spPr>
          <a:xfrm>
            <a:off x="1554480" y="3840480"/>
            <a:ext cx="4221328" cy="594360"/>
          </a:xfrm>
          <a:prstGeom prst="rect">
            <a:avLst/>
          </a:prstGeom>
          <a:noFill/>
          <a:ln/>
        </p:spPr>
        <p:txBody>
          <a:bodyPr wrap="square" lIns="0" tIns="0" rIns="0" bIns="0" rtlCol="0" anchor="ctr"/>
          <a:lstStyle/>
          <a:p>
            <a:pPr indent="0" marL="0">
              <a:buNone/>
            </a:pPr>
            <a:r>
              <a:rPr lang="en-US" sz="1600" b="1" dirty="0">
                <a:solidFill>
                  <a:schemeClr val="tx1"/>
                </a:solidFill>
              </a:rPr>
              <a:t>Policy levers (WHO "best buys")</a:t>
            </a:r>
            <a:endParaRPr lang="en-US" sz="1600" dirty="0"/>
          </a:p>
        </p:txBody>
      </p:sp>
      <p:sp>
        <p:nvSpPr>
          <p:cNvPr id="23" name="a79-text-233"/>
          <p:cNvSpPr txBox="1"/>
          <p:nvPr/>
        </p:nvSpPr>
        <p:spPr>
          <a:xfrm>
            <a:off x="822960" y="4572000"/>
            <a:ext cx="4861408"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Taxes on sugar-sweetened beverages</a:t>
            </a:r>
            <a:endParaRPr lang="en-US" sz="1400" dirty="0"/>
          </a:p>
          <a:p>
            <a:pPr marL="177800" indent="-177800">
              <a:spcAft>
                <a:spcPts val="400"/>
              </a:spcAft>
              <a:buSzPct val="100000"/>
              <a:buChar char="•"/>
            </a:pPr>
            <a:r>
              <a:rPr lang="en-US" sz="1400" dirty="0">
                <a:solidFill>
                  <a:schemeClr val="tx1"/>
                </a:solidFill>
              </a:rPr>
              <a:t>Front-of-pack labelling; limits on marketing to children</a:t>
            </a:r>
            <a:endParaRPr lang="en-US" sz="1400" dirty="0"/>
          </a:p>
          <a:p>
            <a:pPr marL="177800" indent="-177800">
              <a:spcAft>
                <a:spcPts val="400"/>
              </a:spcAft>
              <a:buSzPct val="100000"/>
              <a:buChar char="•"/>
            </a:pPr>
            <a:r>
              <a:rPr lang="en-US" sz="1400" dirty="0">
                <a:solidFill>
                  <a:schemeClr val="tx1"/>
                </a:solidFill>
              </a:rPr>
              <a:t>Healthy school and workplace food; active travel and urban design</a:t>
            </a:r>
            <a:endParaRPr lang="en-US" sz="1400" dirty="0"/>
          </a:p>
        </p:txBody>
      </p:sp>
      <p:sp>
        <p:nvSpPr>
          <p:cNvPr id="24" name="a80-card-234"/>
          <p:cNvSpPr/>
          <p:nvPr/>
        </p:nvSpPr>
        <p:spPr>
          <a:xfrm>
            <a:off x="6233008" y="3611880"/>
            <a:ext cx="5410048" cy="2377440"/>
          </a:xfrm>
          <a:prstGeom prst="roundRect">
            <a:avLst>
              <a:gd name="adj" fmla="val 4615"/>
            </a:avLst>
          </a:prstGeom>
          <a:solidFill>
            <a:schemeClr val="bg2"/>
          </a:solidFill>
          <a:ln/>
        </p:spPr>
      </p:sp>
      <p:sp>
        <p:nvSpPr>
          <p:cNvPr id="25" name="a80-icon-circle-235"/>
          <p:cNvSpPr/>
          <p:nvPr/>
        </p:nvSpPr>
        <p:spPr>
          <a:xfrm>
            <a:off x="6507328" y="3840480"/>
            <a:ext cx="594360" cy="594360"/>
          </a:xfrm>
          <a:prstGeom prst="ellipse">
            <a:avLst/>
          </a:prstGeom>
          <a:solidFill>
            <a:schemeClr val="accent3"/>
          </a:solidFill>
          <a:ln/>
        </p:spPr>
      </p:sp>
      <p:pic>
        <p:nvPicPr>
          <p:cNvPr id="26" name="a80-icon-236" descr="preencoded.png">    </p:cNvPr>
          <p:cNvPicPr>
            <a:picLocks noChangeAspect="1"/>
          </p:cNvPicPr>
          <p:nvPr/>
        </p:nvPicPr>
        <p:blipFill>
          <a:blip r:embed="rId2"/>
          <a:stretch>
            <a:fillRect/>
          </a:stretch>
        </p:blipFill>
        <p:spPr>
          <a:xfrm>
            <a:off x="6655918" y="3989070"/>
            <a:ext cx="297180" cy="297180"/>
          </a:xfrm>
          <a:prstGeom prst="rect">
            <a:avLst/>
          </a:prstGeom>
        </p:spPr>
      </p:pic>
      <p:sp>
        <p:nvSpPr>
          <p:cNvPr id="27" name="a80-text-237"/>
          <p:cNvSpPr txBox="1"/>
          <p:nvPr/>
        </p:nvSpPr>
        <p:spPr>
          <a:xfrm>
            <a:off x="7238848" y="3840480"/>
            <a:ext cx="4221328" cy="594360"/>
          </a:xfrm>
          <a:prstGeom prst="rect">
            <a:avLst/>
          </a:prstGeom>
          <a:noFill/>
          <a:ln/>
        </p:spPr>
        <p:txBody>
          <a:bodyPr wrap="square" lIns="0" tIns="0" rIns="0" bIns="0" rtlCol="0" anchor="ctr"/>
          <a:lstStyle/>
          <a:p>
            <a:pPr indent="0" marL="0">
              <a:buNone/>
            </a:pPr>
            <a:r>
              <a:rPr lang="en-US" sz="1600" b="1" dirty="0">
                <a:solidFill>
                  <a:schemeClr val="tx1"/>
                </a:solidFill>
              </a:rPr>
              <a:t>Health-system programmes</a:t>
            </a:r>
            <a:endParaRPr lang="en-US" sz="1600" dirty="0"/>
          </a:p>
        </p:txBody>
      </p:sp>
      <p:sp>
        <p:nvSpPr>
          <p:cNvPr id="28" name="a80-text-238"/>
          <p:cNvSpPr txBox="1"/>
          <p:nvPr/>
        </p:nvSpPr>
        <p:spPr>
          <a:xfrm>
            <a:off x="6507328" y="4572000"/>
            <a:ext cx="4861408" cy="13258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NHS Diabetes Prevention Programme (England); CDC National DPP (USA)</a:t>
            </a:r>
            <a:endParaRPr lang="en-US" sz="1400" dirty="0"/>
          </a:p>
          <a:p>
            <a:pPr marL="177800" indent="-177800">
              <a:spcAft>
                <a:spcPts val="400"/>
              </a:spcAft>
              <a:buSzPct val="100000"/>
              <a:buChar char="•"/>
            </a:pPr>
            <a:r>
              <a:rPr lang="en-US" sz="1400" dirty="0">
                <a:solidFill>
                  <a:schemeClr val="tx1"/>
                </a:solidFill>
              </a:rPr>
              <a:t>Kerala DPP: peer-led community model in India</a:t>
            </a:r>
            <a:endParaRPr lang="en-US" sz="1400" dirty="0"/>
          </a:p>
          <a:p>
            <a:pPr marL="177800" indent="-177800">
              <a:spcAft>
                <a:spcPts val="400"/>
              </a:spcAft>
              <a:buSzPct val="100000"/>
              <a:buChar char="•"/>
            </a:pPr>
            <a:r>
              <a:rPr lang="en-US" sz="1400" dirty="0">
                <a:solidFill>
                  <a:schemeClr val="tx1"/>
                </a:solidFill>
              </a:rPr>
              <a:t>mHealth: SMS coaching cut T2D incidence by 36% in Indian men</a:t>
            </a:r>
            <a:endParaRPr lang="en-US" sz="1400" dirty="0"/>
          </a:p>
        </p:txBody>
      </p:sp>
      <p:sp>
        <p:nvSpPr>
          <p:cNvPr id="29"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WHO Global Diabetes Compact (2021) and WHA75 targets (2022); WHO NCD 'best buys' (2023 update); Ramachandran et al. Lancet Diabetes Endocrinol 2013.</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1" fill="hold">
                      <p:stCondLst>
                        <p:cond delay="indefinite"/>
                        <p:cond evt="onBegin" delay="0">
                          <p:tn val="2"/>
                        </p:cond>
                      </p:stCondLst>
                      <p:childTnLst>
                        <p:par>
                          <p:cTn id="82"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4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4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4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7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71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71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9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99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99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127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127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127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15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15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15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183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183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183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183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183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211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211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211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211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211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2" grpId="0" animBg="1"/>
      <p:bldP spid="23" grpId="0" animBg="1"/>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Guidelines at a glance</a:t>
            </a:r>
            <a:endParaRPr lang="en-US" sz="3400" dirty="0"/>
          </a:p>
        </p:txBody>
      </p:sp>
      <p:graphicFrame>
        <p:nvGraphicFramePr>
          <p:cNvPr id="19" name="a82-table-24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00200"/>
                <a:gridCol w="1965960"/>
                <a:gridCol w="1874520"/>
                <a:gridCol w="1783080"/>
                <a:gridCol w="1783080"/>
                <a:gridCol w="2087575"/>
              </a:tblGrid>
              <a:tr h="594360">
                <a:tc>
                  <a:txBody>
                    <a:bodyPr/>
                    <a:lstStyle/>
                    <a:p>
                      <a:pPr algn="ctr" indent="0" marL="0">
                        <a:buNone/>
                      </a:pP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ADA</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EASD / ESC</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IDF</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WHO</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Davidson · Kumar &amp; Clark (UK)</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tx1"/>
                    </a:solidFill>
                  </a:tcPr>
                </a:tc>
              </a:tr>
              <a:tr h="1188720">
                <a:tc>
                  <a:txBody>
                    <a:bodyPr/>
                    <a:lstStyle/>
                    <a:p>
                      <a:pPr indent="0" marL="0">
                        <a:buNone/>
                      </a:pPr>
                      <a:r>
                        <a:rPr lang="en-US" sz="1300" b="1" dirty="0">
                          <a:solidFill>
                            <a:schemeClr val="tx1"/>
                          </a:solidFill>
                        </a:rPr>
                        <a:t>Who to screen</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All ≥35 y; any age if BMI ≥25 (≥23 Asian) + risk factor</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All with CVD; risk score (FINDRISC) in general population</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Risk questionnaire first, then test high-risk</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Targeted, opportunistic in primary care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≥40 y; ≥25 y in high-risk ethnic groups; risk score first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868680">
                <a:tc>
                  <a:txBody>
                    <a:bodyPr/>
                    <a:lstStyle/>
                    <a:p>
                      <a:pPr indent="0" marL="0">
                        <a:buNone/>
                      </a:pPr>
                      <a:r>
                        <a:rPr lang="en-US" sz="1300" b="1" dirty="0">
                          <a:solidFill>
                            <a:schemeClr val="tx1"/>
                          </a:solidFill>
                        </a:rPr>
                        <a:t>Preferred test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FPG, HbA1c or OGTT</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HbA1c + FPG; OGTT if inconclusive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FPG / OGTT; 1-h PG (2024)</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FPG / OGTT; HbA1c ≥6.5% acceptable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HbA1c (or FPG)</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868680">
                <a:tc>
                  <a:txBody>
                    <a:bodyPr/>
                    <a:lstStyle/>
                    <a:p>
                      <a:pPr indent="0" marL="0">
                        <a:buNone/>
                      </a:pPr>
                      <a:r>
                        <a:rPr lang="en-US" sz="1300" b="1" dirty="0">
                          <a:solidFill>
                            <a:schemeClr val="tx1"/>
                          </a:solidFill>
                        </a:rPr>
                        <a:t>Intermediate range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FPG 5.6–6.9; HbA1c 5.7–6.4%</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IFG / IGT (WHO thresholds)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IFG / IGT; 1-h PG ≥8.6</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IFG 6.1–6.9; IGT 7.8–11.0</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HbA1c 42–47; FPG 5.5–6.9</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r h="1188720">
                <a:tc>
                  <a:txBody>
                    <a:bodyPr/>
                    <a:lstStyle/>
                    <a:p>
                      <a:pPr indent="0" marL="0">
                        <a:buNone/>
                      </a:pPr>
                      <a:r>
                        <a:rPr lang="en-US" sz="1300" b="1" dirty="0">
                          <a:solidFill>
                            <a:schemeClr val="tx1"/>
                          </a:solidFill>
                        </a:rPr>
                        <a:t>Prevention</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ILI ≥7% weight loss, 150 min/wk; metformin in selected people</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Lifestyle first-line; manage CV risk</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Population + high-risk strategy; 5–10% weight loss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Lifestyle plus population policy</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c>
                  <a:txBody>
                    <a:bodyPr/>
                    <a:lstStyle/>
                    <a:p>
                      <a:pPr indent="0" marL="0">
                        <a:buNone/>
                      </a:pPr>
                      <a:r>
                        <a:rPr lang="en-US" sz="1300" dirty="0">
                          <a:solidFill>
                            <a:schemeClr val="tx1"/>
                          </a:solidFill>
                        </a:rPr>
                        <a:t>Intensive lifestyle; metformin if glucose rises</a:t>
                      </a:r>
                      <a:endParaRPr lang="en-US" sz="1300" dirty="0"/>
                    </a:p>
                  </a:txBody>
                  <a:tcPr marL="73152" marR="73152" marT="73152" marB="7315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tcPr>
                </a:tc>
              </a:tr>
            </a:tbl>
          </a:graphicData>
        </a:graphic>
      </p:graphicFrame>
      <p:sp>
        <p:nvSpPr>
          <p:cNvPr id="4" name="static-sourc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chemeClr val="accent5"/>
                </a:solidFill>
              </a:rPr>
              <a:t>Glucose values in mmol/L. ILI = intensive lifestyle intervention. Sources as on preceding slides.</a:t>
            </a:r>
            <a:endParaRPr lang="en-US" sz="10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9"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Take-home messages</a:t>
            </a:r>
            <a:endParaRPr lang="en-US" sz="3400" dirty="0"/>
          </a:p>
        </p:txBody>
      </p:sp>
      <p:sp>
        <p:nvSpPr>
          <p:cNvPr id="3" name="a84c-num-ring-242"/>
          <p:cNvSpPr/>
          <p:nvPr/>
        </p:nvSpPr>
        <p:spPr>
          <a:xfrm>
            <a:off x="548640" y="1325880"/>
            <a:ext cx="685800" cy="685800"/>
          </a:xfrm>
          <a:prstGeom prst="ellipse">
            <a:avLst/>
          </a:prstGeom>
          <a:ln w="50800">
            <a:solidFill>
              <a:schemeClr val="accent1"/>
            </a:solidFill>
            <a:prstDash val="solid"/>
          </a:ln>
        </p:spPr>
      </p:sp>
      <p:sp>
        <p:nvSpPr>
          <p:cNvPr id="4" name="a84c-text-243"/>
          <p:cNvSpPr txBox="1"/>
          <p:nvPr/>
        </p:nvSpPr>
        <p:spPr>
          <a:xfrm>
            <a:off x="548640" y="132588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1</a:t>
            </a:r>
            <a:endParaRPr lang="en-US" sz="2200" dirty="0"/>
          </a:p>
        </p:txBody>
      </p:sp>
      <p:sp>
        <p:nvSpPr>
          <p:cNvPr id="5" name="a84c-text-244"/>
          <p:cNvSpPr txBox="1"/>
          <p:nvPr/>
        </p:nvSpPr>
        <p:spPr>
          <a:xfrm>
            <a:off x="1508760" y="1325880"/>
            <a:ext cx="10134295" cy="685800"/>
          </a:xfrm>
          <a:prstGeom prst="rect">
            <a:avLst/>
          </a:prstGeom>
          <a:noFill/>
          <a:ln/>
        </p:spPr>
        <p:txBody>
          <a:bodyPr wrap="square" lIns="0" tIns="0" rIns="0" bIns="0" rtlCol="0" anchor="ctr"/>
          <a:lstStyle/>
          <a:p>
            <a:pPr indent="0" marL="0">
              <a:buNone/>
            </a:pPr>
            <a:r>
              <a:rPr lang="en-US" sz="1700" dirty="0">
                <a:solidFill>
                  <a:schemeClr val="tx1"/>
                </a:solidFill>
              </a:rPr>
              <a:t>Nearly half of people with diabetes are undiagnosed; targeted, risk-based screening is endorsed by all major guidelines.</a:t>
            </a:r>
            <a:endParaRPr lang="en-US" sz="1700" dirty="0"/>
          </a:p>
        </p:txBody>
      </p:sp>
      <p:sp>
        <p:nvSpPr>
          <p:cNvPr id="6" name="a85c-num-ring-245"/>
          <p:cNvSpPr/>
          <p:nvPr/>
        </p:nvSpPr>
        <p:spPr>
          <a:xfrm>
            <a:off x="548640" y="2267712"/>
            <a:ext cx="685800" cy="685800"/>
          </a:xfrm>
          <a:prstGeom prst="ellipse">
            <a:avLst/>
          </a:prstGeom>
          <a:ln w="50800">
            <a:solidFill>
              <a:schemeClr val="accent3"/>
            </a:solidFill>
            <a:prstDash val="solid"/>
          </a:ln>
        </p:spPr>
      </p:sp>
      <p:sp>
        <p:nvSpPr>
          <p:cNvPr id="7" name="a85c-text-246"/>
          <p:cNvSpPr txBox="1"/>
          <p:nvPr/>
        </p:nvSpPr>
        <p:spPr>
          <a:xfrm>
            <a:off x="548640" y="2267712"/>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2</a:t>
            </a:r>
            <a:endParaRPr lang="en-US" sz="2200" dirty="0"/>
          </a:p>
        </p:txBody>
      </p:sp>
      <p:sp>
        <p:nvSpPr>
          <p:cNvPr id="8" name="a85c-text-247"/>
          <p:cNvSpPr txBox="1"/>
          <p:nvPr/>
        </p:nvSpPr>
        <p:spPr>
          <a:xfrm>
            <a:off x="1508760" y="2267712"/>
            <a:ext cx="10134295" cy="685800"/>
          </a:xfrm>
          <a:prstGeom prst="rect">
            <a:avLst/>
          </a:prstGeom>
          <a:noFill/>
          <a:ln/>
        </p:spPr>
        <p:txBody>
          <a:bodyPr wrap="square" lIns="0" tIns="0" rIns="0" bIns="0" rtlCol="0" anchor="ctr"/>
          <a:lstStyle/>
          <a:p>
            <a:pPr indent="0" marL="0">
              <a:buNone/>
            </a:pPr>
            <a:r>
              <a:rPr lang="en-US" sz="1700" dirty="0">
                <a:solidFill>
                  <a:schemeClr val="tx1"/>
                </a:solidFill>
              </a:rPr>
              <a:t>Use a two-step approach: risk score or risk factors, then HbA1c / FPG, with OGTT where HbA1c is unreliable.</a:t>
            </a:r>
            <a:endParaRPr lang="en-US" sz="1700" dirty="0"/>
          </a:p>
        </p:txBody>
      </p:sp>
      <p:sp>
        <p:nvSpPr>
          <p:cNvPr id="9" name="a86c-num-ring-248"/>
          <p:cNvSpPr/>
          <p:nvPr/>
        </p:nvSpPr>
        <p:spPr>
          <a:xfrm>
            <a:off x="548640" y="3209544"/>
            <a:ext cx="685800" cy="685800"/>
          </a:xfrm>
          <a:prstGeom prst="ellipse">
            <a:avLst/>
          </a:prstGeom>
          <a:ln w="50800">
            <a:solidFill>
              <a:schemeClr val="accent1"/>
            </a:solidFill>
            <a:prstDash val="solid"/>
          </a:ln>
        </p:spPr>
      </p:sp>
      <p:sp>
        <p:nvSpPr>
          <p:cNvPr id="10" name="a86c-text-249"/>
          <p:cNvSpPr txBox="1"/>
          <p:nvPr/>
        </p:nvSpPr>
        <p:spPr>
          <a:xfrm>
            <a:off x="548640" y="3209544"/>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1" name="a86c-text-250"/>
          <p:cNvSpPr txBox="1"/>
          <p:nvPr/>
        </p:nvSpPr>
        <p:spPr>
          <a:xfrm>
            <a:off x="1508760" y="3209544"/>
            <a:ext cx="10134295" cy="685800"/>
          </a:xfrm>
          <a:prstGeom prst="rect">
            <a:avLst/>
          </a:prstGeom>
          <a:noFill/>
          <a:ln/>
        </p:spPr>
        <p:txBody>
          <a:bodyPr wrap="square" lIns="0" tIns="0" rIns="0" bIns="0" rtlCol="0" anchor="ctr"/>
          <a:lstStyle/>
          <a:p>
            <a:pPr indent="0" marL="0">
              <a:buNone/>
            </a:pPr>
            <a:r>
              <a:rPr lang="en-US" sz="1700" dirty="0">
                <a:solidFill>
                  <a:schemeClr val="tx1"/>
                </a:solidFill>
              </a:rPr>
              <a:t>Know the thresholds: diabetes ≥7.0 / ≥11.1 mmol/L / ≥48 mmol/mol; intermediate ranges differ (ADA vs WHO vs NICE).</a:t>
            </a:r>
            <a:endParaRPr lang="en-US" sz="1700" dirty="0"/>
          </a:p>
        </p:txBody>
      </p:sp>
      <p:sp>
        <p:nvSpPr>
          <p:cNvPr id="12" name="a87c-num-ring-251"/>
          <p:cNvSpPr/>
          <p:nvPr/>
        </p:nvSpPr>
        <p:spPr>
          <a:xfrm>
            <a:off x="548640" y="4151376"/>
            <a:ext cx="685800" cy="685800"/>
          </a:xfrm>
          <a:prstGeom prst="ellipse">
            <a:avLst/>
          </a:prstGeom>
          <a:ln w="50800">
            <a:solidFill>
              <a:schemeClr val="accent3"/>
            </a:solidFill>
            <a:prstDash val="solid"/>
          </a:ln>
        </p:spPr>
      </p:sp>
      <p:sp>
        <p:nvSpPr>
          <p:cNvPr id="13" name="a87c-text-252"/>
          <p:cNvSpPr txBox="1"/>
          <p:nvPr/>
        </p:nvSpPr>
        <p:spPr>
          <a:xfrm>
            <a:off x="548640" y="4151376"/>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4</a:t>
            </a:r>
            <a:endParaRPr lang="en-US" sz="2200" dirty="0"/>
          </a:p>
        </p:txBody>
      </p:sp>
      <p:sp>
        <p:nvSpPr>
          <p:cNvPr id="14" name="a87c-text-253"/>
          <p:cNvSpPr txBox="1"/>
          <p:nvPr/>
        </p:nvSpPr>
        <p:spPr>
          <a:xfrm>
            <a:off x="1508760" y="4151376"/>
            <a:ext cx="10134295" cy="685800"/>
          </a:xfrm>
          <a:prstGeom prst="rect">
            <a:avLst/>
          </a:prstGeom>
          <a:noFill/>
          <a:ln/>
        </p:spPr>
        <p:txBody>
          <a:bodyPr wrap="square" lIns="0" tIns="0" rIns="0" bIns="0" rtlCol="0" anchor="ctr"/>
          <a:lstStyle/>
          <a:p>
            <a:pPr indent="0" marL="0">
              <a:buNone/>
            </a:pPr>
            <a:r>
              <a:rPr lang="en-US" sz="1700" dirty="0">
                <a:solidFill>
                  <a:schemeClr val="tx1"/>
                </a:solidFill>
              </a:rPr>
              <a:t>Intensive lifestyle change with 5–7% weight loss cuts incident T2D by ~50–60%, with a legacy effect on CVD and mortality.</a:t>
            </a:r>
            <a:endParaRPr lang="en-US" sz="1700" dirty="0"/>
          </a:p>
        </p:txBody>
      </p:sp>
      <p:sp>
        <p:nvSpPr>
          <p:cNvPr id="15" name="a88c-num-ring-254"/>
          <p:cNvSpPr/>
          <p:nvPr/>
        </p:nvSpPr>
        <p:spPr>
          <a:xfrm>
            <a:off x="548640" y="5093208"/>
            <a:ext cx="685800" cy="685800"/>
          </a:xfrm>
          <a:prstGeom prst="ellipse">
            <a:avLst/>
          </a:prstGeom>
          <a:ln w="50800">
            <a:solidFill>
              <a:schemeClr val="accent1"/>
            </a:solidFill>
            <a:prstDash val="solid"/>
          </a:ln>
        </p:spPr>
      </p:sp>
      <p:sp>
        <p:nvSpPr>
          <p:cNvPr id="16" name="a88c-text-255"/>
          <p:cNvSpPr txBox="1"/>
          <p:nvPr/>
        </p:nvSpPr>
        <p:spPr>
          <a:xfrm>
            <a:off x="548640" y="5093208"/>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5</a:t>
            </a:r>
            <a:endParaRPr lang="en-US" sz="2200" dirty="0"/>
          </a:p>
        </p:txBody>
      </p:sp>
      <p:sp>
        <p:nvSpPr>
          <p:cNvPr id="17" name="a88c-text-256"/>
          <p:cNvSpPr txBox="1"/>
          <p:nvPr/>
        </p:nvSpPr>
        <p:spPr>
          <a:xfrm>
            <a:off x="1508760" y="5093208"/>
            <a:ext cx="10134295" cy="685800"/>
          </a:xfrm>
          <a:prstGeom prst="rect">
            <a:avLst/>
          </a:prstGeom>
          <a:noFill/>
          <a:ln/>
        </p:spPr>
        <p:txBody>
          <a:bodyPr wrap="square" lIns="0" tIns="0" rIns="0" bIns="0" rtlCol="0" anchor="ctr"/>
          <a:lstStyle/>
          <a:p>
            <a:pPr indent="0" marL="0">
              <a:buNone/>
            </a:pPr>
            <a:r>
              <a:rPr lang="en-US" sz="1700" dirty="0">
                <a:solidFill>
                  <a:schemeClr val="tx1"/>
                </a:solidFill>
              </a:rPr>
              <a:t>Add metformin or obesity pharmacotherapy in selected high-risk people, and pair clinic care with population policy.</a:t>
            </a:r>
            <a:endParaRPr lang="en-US" sz="17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Key references</a:t>
            </a:r>
            <a:endParaRPr lang="en-US" sz="3400" dirty="0"/>
          </a:p>
        </p:txBody>
      </p:sp>
      <p:sp>
        <p:nvSpPr>
          <p:cNvPr id="3" name="a89-text-257"/>
          <p:cNvSpPr txBox="1"/>
          <p:nvPr/>
        </p:nvSpPr>
        <p:spPr>
          <a:xfrm>
            <a:off x="548640" y="1325880"/>
            <a:ext cx="5364328" cy="466344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American Diabetes Association. Standards of Care in Diabetes (2025 and 2026). Section 2: Diagnosis and Classification; Section 3: Prevention or Delay of Diabetes. Diabetes Care.</a:t>
            </a:r>
            <a:endParaRPr lang="en-US" sz="1400" dirty="0"/>
          </a:p>
          <a:p>
            <a:pPr indent="0" marL="0">
              <a:spcAft>
                <a:spcPts val="600"/>
              </a:spcAft>
              <a:buNone/>
            </a:pPr>
            <a:r>
              <a:rPr lang="en-US" sz="1200" dirty="0">
                <a:solidFill>
                  <a:schemeClr val="tx1"/>
                </a:solidFill>
              </a:rPr>
              <a:t>Cosentino F, et al. 2019 ESC Guidelines on diabetes, pre-diabetes and cardiovascular diseases, developed in collaboration with the EASD. Eur Heart J 2020;41:255–323.</a:t>
            </a:r>
            <a:endParaRPr lang="en-US" sz="1400" dirty="0"/>
          </a:p>
          <a:p>
            <a:pPr indent="0" marL="0">
              <a:spcAft>
                <a:spcPts val="600"/>
              </a:spcAft>
              <a:buNone/>
            </a:pPr>
            <a:r>
              <a:rPr lang="en-US" sz="1200" dirty="0">
                <a:solidFill>
                  <a:schemeClr val="tx1"/>
                </a:solidFill>
              </a:rPr>
              <a:t>EASD Diabetes and Nutrition Study Group. Evidence-based European recommendations for the dietary management of diabetes. Diabetologia 2023.</a:t>
            </a:r>
            <a:endParaRPr lang="en-US" sz="1400" dirty="0"/>
          </a:p>
          <a:p>
            <a:pPr indent="0" marL="0">
              <a:spcAft>
                <a:spcPts val="600"/>
              </a:spcAft>
              <a:buNone/>
            </a:pPr>
            <a:r>
              <a:rPr lang="en-US" sz="1200" dirty="0">
                <a:solidFill>
                  <a:schemeClr val="tx1"/>
                </a:solidFill>
              </a:rPr>
              <a:t>International Diabetes Federation. IDF Diabetes Atlas, 11th ed. Brussels: IDF, 2025.</a:t>
            </a:r>
            <a:endParaRPr lang="en-US" sz="1400" dirty="0"/>
          </a:p>
          <a:p>
            <a:pPr indent="0" marL="0">
              <a:spcAft>
                <a:spcPts val="600"/>
              </a:spcAft>
              <a:buNone/>
            </a:pPr>
            <a:r>
              <a:rPr lang="en-US" sz="1200" dirty="0">
                <a:solidFill>
                  <a:schemeClr val="tx1"/>
                </a:solidFill>
              </a:rPr>
              <a:t>Alberti KGMM, Zimmet P, Shaw J. IDF consensus on the prevention of type 2 diabetes. Diabet Med 2007;24:451–63.</a:t>
            </a:r>
            <a:endParaRPr lang="en-US" sz="1400" dirty="0"/>
          </a:p>
          <a:p>
            <a:pPr indent="0" marL="0">
              <a:spcAft>
                <a:spcPts val="600"/>
              </a:spcAft>
              <a:buNone/>
            </a:pPr>
            <a:r>
              <a:rPr lang="en-US" sz="1200" dirty="0">
                <a:solidFill>
                  <a:schemeClr val="tx1"/>
                </a:solidFill>
              </a:rPr>
              <a:t>Bergman M, et al. IDF position statement on the 1-hour post-load plasma glucose. Diabetes Res Clin Pract 2024.</a:t>
            </a:r>
            <a:endParaRPr lang="en-US" sz="1400" dirty="0"/>
          </a:p>
          <a:p>
            <a:pPr indent="0" marL="0">
              <a:spcAft>
                <a:spcPts val="600"/>
              </a:spcAft>
              <a:buNone/>
            </a:pPr>
            <a:r>
              <a:rPr lang="en-US" sz="1200" dirty="0">
                <a:solidFill>
                  <a:schemeClr val="tx1"/>
                </a:solidFill>
              </a:rPr>
              <a:t>WHO/IDF. Definition and diagnosis of diabetes mellitus and intermediate hyperglycaemia, 2006; Use of HbA1c in the diagnosis of diabetes, 2011.</a:t>
            </a:r>
            <a:endParaRPr lang="en-US" sz="1400" dirty="0"/>
          </a:p>
        </p:txBody>
      </p:sp>
      <p:sp>
        <p:nvSpPr>
          <p:cNvPr id="4" name="a89-text-258"/>
          <p:cNvSpPr txBox="1"/>
          <p:nvPr/>
        </p:nvSpPr>
        <p:spPr>
          <a:xfrm>
            <a:off x="6278728" y="1325880"/>
            <a:ext cx="5364328" cy="4663440"/>
          </a:xfrm>
          <a:prstGeom prst="rect">
            <a:avLst/>
          </a:prstGeom>
          <a:noFill/>
          <a:ln/>
        </p:spPr>
        <p:txBody>
          <a:bodyPr wrap="square" lIns="0" tIns="0" rIns="0" bIns="0" rtlCol="0" anchor="t"/>
          <a:lstStyle/>
          <a:p>
            <a:pPr indent="0" marL="0">
              <a:spcAft>
                <a:spcPts val="600"/>
              </a:spcAft>
              <a:buNone/>
            </a:pPr>
            <a:r>
              <a:rPr lang="en-US" sz="1200" dirty="0">
                <a:solidFill>
                  <a:schemeClr val="tx1"/>
                </a:solidFill>
              </a:rPr>
              <a:t>WHO. HEARTS-D: diagnosis and management of type 2 diabetes, 2020; Global Diabetes Compact, 2021.</a:t>
            </a:r>
            <a:endParaRPr lang="en-US" sz="1400" dirty="0"/>
          </a:p>
          <a:p>
            <a:pPr indent="0" marL="0">
              <a:spcAft>
                <a:spcPts val="600"/>
              </a:spcAft>
              <a:buNone/>
            </a:pPr>
            <a:r>
              <a:rPr lang="en-US" sz="1200" dirty="0">
                <a:solidFill>
                  <a:schemeClr val="tx1"/>
                </a:solidFill>
              </a:rPr>
              <a:t>Penman ID, Ralston SH, Strachan MWJ, Hobson RP (eds). Davidson's Principles and Practice of Medicine, 24th ed. Elsevier, 2022: Diabetes mellitus.</a:t>
            </a:r>
            <a:endParaRPr lang="en-US" sz="1400" dirty="0"/>
          </a:p>
          <a:p>
            <a:pPr indent="0" marL="0">
              <a:spcAft>
                <a:spcPts val="600"/>
              </a:spcAft>
              <a:buNone/>
            </a:pPr>
            <a:r>
              <a:rPr lang="en-US" sz="1200" dirty="0">
                <a:solidFill>
                  <a:schemeClr val="tx1"/>
                </a:solidFill>
              </a:rPr>
              <a:t>Feather A, Randall D, Waterhouse M (eds). Kumar &amp; Clark's Clinical Medicine, 10th ed. Elsevier, 2020: Diabetes mellitus.</a:t>
            </a:r>
            <a:endParaRPr lang="en-US" sz="1400" dirty="0"/>
          </a:p>
          <a:p>
            <a:pPr indent="0" marL="0">
              <a:spcAft>
                <a:spcPts val="600"/>
              </a:spcAft>
              <a:buNone/>
            </a:pPr>
            <a:r>
              <a:rPr lang="en-US" sz="1200" dirty="0">
                <a:solidFill>
                  <a:schemeClr val="tx1"/>
                </a:solidFill>
              </a:rPr>
              <a:t>NICE PH38. Type 2 diabetes: prevention in people at high risk (updated 2017).</a:t>
            </a:r>
            <a:endParaRPr lang="en-US" sz="1400" dirty="0"/>
          </a:p>
          <a:p>
            <a:pPr indent="0" marL="0">
              <a:spcAft>
                <a:spcPts val="600"/>
              </a:spcAft>
              <a:buNone/>
            </a:pPr>
            <a:r>
              <a:rPr lang="en-US" sz="1200" dirty="0">
                <a:solidFill>
                  <a:schemeClr val="tx1"/>
                </a:solidFill>
              </a:rPr>
              <a:t>Knowler WC, et al. DPP. NEJM 2002;346:393–403. Tuomilehto J, et al. DPS. NEJM 2001;344:1343–50.</a:t>
            </a:r>
            <a:endParaRPr lang="en-US" sz="1400" dirty="0"/>
          </a:p>
          <a:p>
            <a:pPr indent="0" marL="0">
              <a:spcAft>
                <a:spcPts val="600"/>
              </a:spcAft>
              <a:buNone/>
            </a:pPr>
            <a:r>
              <a:rPr lang="en-US" sz="1200" dirty="0">
                <a:solidFill>
                  <a:schemeClr val="tx1"/>
                </a:solidFill>
              </a:rPr>
              <a:t>Gong Q, et al. Da Qing 30-year follow-up. Lancet Diabetes Endocrinol 2019;7:452–61. Ramachandran A, et al. IDPP-1. Diabetologia 2006;49:289–97.</a:t>
            </a:r>
            <a:endParaRPr lang="en-US" sz="1400" dirty="0"/>
          </a:p>
          <a:p>
            <a:pPr indent="0" marL="0">
              <a:spcAft>
                <a:spcPts val="600"/>
              </a:spcAft>
              <a:buNone/>
            </a:pPr>
            <a:r>
              <a:rPr lang="en-US" sz="1200" dirty="0">
                <a:solidFill>
                  <a:schemeClr val="tx1"/>
                </a:solidFill>
              </a:rPr>
              <a:t>Simmons RK, et al. ADDITION-Cambridge. Lancet 2012;380:1741–8. Jastreboff AM, et al. SURMOUNT-1 3-year. NEJM 2025.</a:t>
            </a:r>
            <a:endParaRPr lang="en-US" sz="1400" dirty="0"/>
          </a:p>
        </p:txBody>
      </p:sp>
      <p:sp>
        <p:nvSpPr>
          <p:cNvPr id="25" name="Slide Number Placeholder 0"/>
          <p:cNvSpPr>
            <a:spLocks noGrp="1"/>
          </p:cNvSpPr>
          <p:nvPr>
            <p:ph type="sldNum" sz="quarter" idx="4294967295"/>
          </p:nvPr>
        </p:nvSpPr>
        <p:spPr>
          <a:xfrm>
            <a:off x="11155680" y="6391656"/>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C7A89"/>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3" presetID="10" presetClass="entr" presetSubtype="0" fill="hold" grpId="0" nodeType="withEffect">
                                  <p:stCondLst>
                                    <p:cond delay="15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500"/>
                                        <p:tgtEl>
                                          <p:spTgt spid="3"/>
                                        </p:tgtEl>
                                      </p:cBhvr>
                                    </p:animEffect>
                                  </p:childTnLst>
                                </p:cTn>
                              </p:par>
                              <p:par>
                                <p:cTn id="6" presetID="10" presetClass="entr" presetSubtype="0" fill="hold" grpId="0" nodeType="withEffect">
                                  <p:stCondLst>
                                    <p:cond delay="15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6858000" cy="548640"/>
          </a:xfrm>
          <a:prstGeom prst="rect">
            <a:avLst/>
          </a:prstGeom>
          <a:noFill/>
          <a:ln/>
        </p:spPr>
        <p:txBody>
          <a:bodyPr wrap="square" rtlCol="0" anchor="b"/>
          <a:lstStyle/>
          <a:p>
            <a:pPr algn="l" indent="0" marL="0">
              <a:buNone/>
            </a:pPr>
            <a:r>
              <a:rPr lang="en-US" sz="1800" b="1" dirty="0">
                <a:solidFill>
                  <a:schemeClr val="accent3"/>
                </a:solidFill>
              </a:rPr>
              <a:t>DISCUSSION</a:t>
            </a:r>
            <a:endParaRPr lang="en-US" sz="1800" dirty="0"/>
          </a:p>
        </p:txBody>
      </p:sp>
      <p:sp>
        <p:nvSpPr>
          <p:cNvPr id="3" name="Text 0"/>
          <p:cNvSpPr/>
          <p:nvPr>
            <p:ph idx="102" type="title" hasCustomPrompt="1"/>
          </p:nvPr>
        </p:nvSpPr>
        <p:spPr>
          <a:xfrm>
            <a:off x="731520" y="2606040"/>
            <a:ext cx="7315200" cy="1280160"/>
          </a:xfrm>
          <a:prstGeom prst="rect">
            <a:avLst/>
          </a:prstGeom>
          <a:noFill/>
          <a:ln/>
        </p:spPr>
        <p:txBody>
          <a:bodyPr wrap="square" rtlCol="0" anchor="t"/>
          <a:lstStyle/>
          <a:p>
            <a:pPr algn="l" indent="0" marL="0">
              <a:buNone/>
            </a:pPr>
            <a:r>
              <a:rPr lang="en-US" sz="4400" b="1" dirty="0">
                <a:solidFill>
                  <a:schemeClr val="bg1"/>
                </a:solidFill>
              </a:rPr>
              <a:t>Thank you</a:t>
            </a:r>
            <a:endParaRPr lang="en-US" sz="4400" dirty="0"/>
          </a:p>
        </p:txBody>
      </p:sp>
      <p:sp>
        <p:nvSpPr>
          <p:cNvPr id="4" name="Text 0"/>
          <p:cNvSpPr/>
          <p:nvPr>
            <p:ph idx="103" type="body" hasCustomPrompt="1"/>
          </p:nvPr>
        </p:nvSpPr>
        <p:spPr>
          <a:xfrm>
            <a:off x="731520" y="3977640"/>
            <a:ext cx="6858000" cy="1097280"/>
          </a:xfrm>
          <a:prstGeom prst="rect">
            <a:avLst/>
          </a:prstGeom>
          <a:noFill/>
          <a:ln/>
        </p:spPr>
        <p:txBody>
          <a:bodyPr wrap="square" rtlCol="0" anchor="t"/>
          <a:lstStyle/>
          <a:p>
            <a:pPr algn="l" indent="0" marL="0">
              <a:buNone/>
            </a:pPr>
            <a:r>
              <a:rPr lang="en-US" sz="1800" dirty="0">
                <a:solidFill>
                  <a:schemeClr val="bg2"/>
                </a:solidFill>
              </a:rPr>
              <a:t>Questions and discussion</a:t>
            </a:r>
            <a:endParaRPr lang="en-US" sz="1800" dirty="0"/>
          </a:p>
        </p:txBody>
      </p:sp>
    </p:spTree>
  </p:cSld>
  <p:clrMapOvr>
    <a:masterClrMapping/>
  </p:clrMapOvr>
  <p:transition spd="slow">
    <p:push dir="u"/>
  </p:transition>
</p:sld>
</file>

<file path=ppt/theme/theme1.xml><?xml version="1.0" encoding="utf-8"?>
<a:theme xmlns:a="http://schemas.openxmlformats.org/drawingml/2006/main" name="Blue Circle Clinical">
  <a:themeElements>
    <a:clrScheme name="Blue Circle Clinical">
      <a:dk1>
        <a:srgbClr val="1B2A41"/>
      </a:dk1>
      <a:lt1>
        <a:srgbClr val="FFFFFF"/>
      </a:lt1>
      <a:dk2>
        <a:srgbClr val="0F4C5C"/>
      </a:dk2>
      <a:lt2>
        <a:srgbClr val="EEF3F7"/>
      </a:lt2>
      <a:accent1>
        <a:srgbClr val="1F78B4"/>
      </a:accent1>
      <a:accent2>
        <a:srgbClr val="E4572E"/>
      </a:accent2>
      <a:accent3>
        <a:srgbClr val="17A398"/>
      </a:accent3>
      <a:accent4>
        <a:srgbClr val="F2A541"/>
      </a:accent4>
      <a:accent5>
        <a:srgbClr val="6C7A89"/>
      </a:accent5>
      <a:accent6>
        <a:srgbClr val="5B6C8F"/>
      </a:accent6>
      <a:hlink>
        <a:srgbClr val="1F78B4"/>
      </a:hlink>
      <a:folHlink>
        <a:srgbClr val="5B6C8F"/>
      </a:folHlink>
    </a:clrScheme>
    <a:fontScheme name="Blue Circle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Screening and Prevention of Diabetes</dc:title>
  <dc:subject>Symposium talk: ADA, EASD, IDF, WHO guidelines and Davidson / Kumar &amp; Clark</dc:subject>
  <dc:creator>PptxGenJS</dc:creator>
  <cp:lastModifiedBy>PptxGenJS</cp:lastModifiedBy>
  <cp:revision>1</cp:revision>
  <dcterms:created xsi:type="dcterms:W3CDTF">2026-10-03T03:47:20Z</dcterms:created>
  <dcterms:modified xsi:type="dcterms:W3CDTF">2026-10-03T03:47:20Z</dcterms:modified>
</cp:coreProperties>
</file>